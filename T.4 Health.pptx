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Lst>
  <p:sldSz cy="5143500" cx="9144000"/>
  <p:notesSz cx="6858000" cy="9144000"/>
  <p:embeddedFontLst>
    <p:embeddedFont>
      <p:font typeface="Inclusive Sans"/>
      <p:regular r:id="rId72"/>
      <p:bold r:id="rId73"/>
      <p:italic r:id="rId74"/>
      <p:boldItalic r:id="rId75"/>
    </p:embeddedFont>
    <p:embeddedFont>
      <p:font typeface="Jost"/>
      <p:regular r:id="rId76"/>
      <p:bold r:id="rId77"/>
      <p:italic r:id="rId78"/>
      <p:boldItalic r:id="rId79"/>
    </p:embeddedFont>
    <p:embeddedFont>
      <p:font typeface="Acme"/>
      <p:regular r:id="rId80"/>
    </p:embeddedFont>
    <p:embeddedFont>
      <p:font typeface="ABeeZee"/>
      <p:regular r:id="rId81"/>
      <p:italic r:id="rId82"/>
    </p:embeddedFont>
    <p:embeddedFont>
      <p:font typeface="Luckiest Guy"/>
      <p:regular r:id="rId83"/>
    </p:embeddedFont>
    <p:embeddedFont>
      <p:font typeface="Inclusive Sans Medium"/>
      <p:regular r:id="rId84"/>
      <p:bold r:id="rId85"/>
      <p:italic r:id="rId86"/>
      <p:boldItalic r:id="rId8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84" Type="http://schemas.openxmlformats.org/officeDocument/2006/relationships/font" Target="fonts/InclusiveSansMedium-regular.fntdata"/><Relationship Id="rId83" Type="http://schemas.openxmlformats.org/officeDocument/2006/relationships/font" Target="fonts/LuckiestGuy-regular.fntdata"/><Relationship Id="rId42" Type="http://schemas.openxmlformats.org/officeDocument/2006/relationships/slide" Target="slides/slide36.xml"/><Relationship Id="rId86" Type="http://schemas.openxmlformats.org/officeDocument/2006/relationships/font" Target="fonts/InclusiveSansMedium-italic.fntdata"/><Relationship Id="rId41" Type="http://schemas.openxmlformats.org/officeDocument/2006/relationships/slide" Target="slides/slide35.xml"/><Relationship Id="rId85" Type="http://schemas.openxmlformats.org/officeDocument/2006/relationships/font" Target="fonts/InclusiveSansMedium-bold.fntdata"/><Relationship Id="rId44" Type="http://schemas.openxmlformats.org/officeDocument/2006/relationships/slide" Target="slides/slide38.xml"/><Relationship Id="rId43" Type="http://schemas.openxmlformats.org/officeDocument/2006/relationships/slide" Target="slides/slide37.xml"/><Relationship Id="rId87" Type="http://schemas.openxmlformats.org/officeDocument/2006/relationships/font" Target="fonts/InclusiveSansMedium-boldItalic.fntdata"/><Relationship Id="rId46" Type="http://schemas.openxmlformats.org/officeDocument/2006/relationships/slide" Target="slides/slide40.xml"/><Relationship Id="rId45" Type="http://schemas.openxmlformats.org/officeDocument/2006/relationships/slide" Target="slides/slide39.xml"/><Relationship Id="rId80" Type="http://schemas.openxmlformats.org/officeDocument/2006/relationships/font" Target="fonts/Acme-regular.fntdata"/><Relationship Id="rId82" Type="http://schemas.openxmlformats.org/officeDocument/2006/relationships/font" Target="fonts/ABeeZee-italic.fntdata"/><Relationship Id="rId81" Type="http://schemas.openxmlformats.org/officeDocument/2006/relationships/font" Target="fonts/ABeeZee-regular.fntdata"/><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font" Target="fonts/InclusiveSans-bold.fntdata"/><Relationship Id="rId72" Type="http://schemas.openxmlformats.org/officeDocument/2006/relationships/font" Target="fonts/InclusiveSans-regular.fntdata"/><Relationship Id="rId31" Type="http://schemas.openxmlformats.org/officeDocument/2006/relationships/slide" Target="slides/slide25.xml"/><Relationship Id="rId75" Type="http://schemas.openxmlformats.org/officeDocument/2006/relationships/font" Target="fonts/InclusiveSans-boldItalic.fntdata"/><Relationship Id="rId30" Type="http://schemas.openxmlformats.org/officeDocument/2006/relationships/slide" Target="slides/slide24.xml"/><Relationship Id="rId74" Type="http://schemas.openxmlformats.org/officeDocument/2006/relationships/font" Target="fonts/InclusiveSans-italic.fntdata"/><Relationship Id="rId33" Type="http://schemas.openxmlformats.org/officeDocument/2006/relationships/slide" Target="slides/slide27.xml"/><Relationship Id="rId77" Type="http://schemas.openxmlformats.org/officeDocument/2006/relationships/font" Target="fonts/Jost-bold.fntdata"/><Relationship Id="rId32" Type="http://schemas.openxmlformats.org/officeDocument/2006/relationships/slide" Target="slides/slide26.xml"/><Relationship Id="rId76" Type="http://schemas.openxmlformats.org/officeDocument/2006/relationships/font" Target="fonts/Jost-regular.fntdata"/><Relationship Id="rId35" Type="http://schemas.openxmlformats.org/officeDocument/2006/relationships/slide" Target="slides/slide29.xml"/><Relationship Id="rId79" Type="http://schemas.openxmlformats.org/officeDocument/2006/relationships/font" Target="fonts/Jost-boldItalic.fntdata"/><Relationship Id="rId34" Type="http://schemas.openxmlformats.org/officeDocument/2006/relationships/slide" Target="slides/slide28.xml"/><Relationship Id="rId78" Type="http://schemas.openxmlformats.org/officeDocument/2006/relationships/font" Target="fonts/Jost-italic.fntdata"/><Relationship Id="rId71" Type="http://schemas.openxmlformats.org/officeDocument/2006/relationships/slide" Target="slides/slide65.xml"/><Relationship Id="rId70" Type="http://schemas.openxmlformats.org/officeDocument/2006/relationships/slide" Target="slides/slide64.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62" Type="http://schemas.openxmlformats.org/officeDocument/2006/relationships/slide" Target="slides/slide56.xml"/><Relationship Id="rId61" Type="http://schemas.openxmlformats.org/officeDocument/2006/relationships/slide" Target="slides/slide55.xml"/><Relationship Id="rId20" Type="http://schemas.openxmlformats.org/officeDocument/2006/relationships/slide" Target="slides/slide14.xml"/><Relationship Id="rId64" Type="http://schemas.openxmlformats.org/officeDocument/2006/relationships/slide" Target="slides/slide58.xml"/><Relationship Id="rId63" Type="http://schemas.openxmlformats.org/officeDocument/2006/relationships/slide" Target="slides/slide57.xml"/><Relationship Id="rId22" Type="http://schemas.openxmlformats.org/officeDocument/2006/relationships/slide" Target="slides/slide16.xml"/><Relationship Id="rId66" Type="http://schemas.openxmlformats.org/officeDocument/2006/relationships/slide" Target="slides/slide60.xml"/><Relationship Id="rId21" Type="http://schemas.openxmlformats.org/officeDocument/2006/relationships/slide" Target="slides/slide15.xml"/><Relationship Id="rId65" Type="http://schemas.openxmlformats.org/officeDocument/2006/relationships/slide" Target="slides/slide59.xml"/><Relationship Id="rId24" Type="http://schemas.openxmlformats.org/officeDocument/2006/relationships/slide" Target="slides/slide18.xml"/><Relationship Id="rId68" Type="http://schemas.openxmlformats.org/officeDocument/2006/relationships/slide" Target="slides/slide62.xml"/><Relationship Id="rId23" Type="http://schemas.openxmlformats.org/officeDocument/2006/relationships/slide" Target="slides/slide17.xml"/><Relationship Id="rId67" Type="http://schemas.openxmlformats.org/officeDocument/2006/relationships/slide" Target="slides/slide61.xml"/><Relationship Id="rId60" Type="http://schemas.openxmlformats.org/officeDocument/2006/relationships/slide" Target="slides/slide54.xml"/><Relationship Id="rId26" Type="http://schemas.openxmlformats.org/officeDocument/2006/relationships/slide" Target="slides/slide20.xml"/><Relationship Id="rId25" Type="http://schemas.openxmlformats.org/officeDocument/2006/relationships/slide" Target="slides/slide19.xml"/><Relationship Id="rId69" Type="http://schemas.openxmlformats.org/officeDocument/2006/relationships/slide" Target="slides/slide63.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11" Type="http://schemas.openxmlformats.org/officeDocument/2006/relationships/slide" Target="slides/slide5.xml"/><Relationship Id="rId55" Type="http://schemas.openxmlformats.org/officeDocument/2006/relationships/slide" Target="slides/slide49.xml"/><Relationship Id="rId10" Type="http://schemas.openxmlformats.org/officeDocument/2006/relationships/slide" Target="slides/slide4.xml"/><Relationship Id="rId54" Type="http://schemas.openxmlformats.org/officeDocument/2006/relationships/slide" Target="slides/slide48.xml"/><Relationship Id="rId13" Type="http://schemas.openxmlformats.org/officeDocument/2006/relationships/slide" Target="slides/slide7.xml"/><Relationship Id="rId57" Type="http://schemas.openxmlformats.org/officeDocument/2006/relationships/slide" Target="slides/slide51.xml"/><Relationship Id="rId12" Type="http://schemas.openxmlformats.org/officeDocument/2006/relationships/slide" Target="slides/slide6.xml"/><Relationship Id="rId56" Type="http://schemas.openxmlformats.org/officeDocument/2006/relationships/slide" Target="slides/slide50.xml"/><Relationship Id="rId15" Type="http://schemas.openxmlformats.org/officeDocument/2006/relationships/slide" Target="slides/slide9.xml"/><Relationship Id="rId59" Type="http://schemas.openxmlformats.org/officeDocument/2006/relationships/slide" Target="slides/slide53.xml"/><Relationship Id="rId14" Type="http://schemas.openxmlformats.org/officeDocument/2006/relationships/slide" Target="slides/slide8.xml"/><Relationship Id="rId58" Type="http://schemas.openxmlformats.org/officeDocument/2006/relationships/slide" Target="slides/slide52.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g36e9252417c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g36e9252417c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g36e9252417c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7" name="Google Shape;107;g36e9252417c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6e9252417c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6e9252417c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 name="Shape 126"/>
        <p:cNvGrpSpPr/>
        <p:nvPr/>
      </p:nvGrpSpPr>
      <p:grpSpPr>
        <a:xfrm>
          <a:off x="0" y="0"/>
          <a:ext cx="0" cy="0"/>
          <a:chOff x="0" y="0"/>
          <a:chExt cx="0" cy="0"/>
        </a:xfrm>
      </p:grpSpPr>
      <p:sp>
        <p:nvSpPr>
          <p:cNvPr id="127" name="Google Shape;127;g36dc654048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8" name="Google Shape;128;g36dc654048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ecf1d8b18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ecf1d8b1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6" name="Shape 146"/>
        <p:cNvGrpSpPr/>
        <p:nvPr/>
      </p:nvGrpSpPr>
      <p:grpSpPr>
        <a:xfrm>
          <a:off x="0" y="0"/>
          <a:ext cx="0" cy="0"/>
          <a:chOff x="0" y="0"/>
          <a:chExt cx="0" cy="0"/>
        </a:xfrm>
      </p:grpSpPr>
      <p:sp>
        <p:nvSpPr>
          <p:cNvPr id="147" name="Google Shape;147;g38ecf1d8b18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8" name="Google Shape;148;g38ecf1d8b18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6" name="Shape 156"/>
        <p:cNvGrpSpPr/>
        <p:nvPr/>
      </p:nvGrpSpPr>
      <p:grpSpPr>
        <a:xfrm>
          <a:off x="0" y="0"/>
          <a:ext cx="0" cy="0"/>
          <a:chOff x="0" y="0"/>
          <a:chExt cx="0" cy="0"/>
        </a:xfrm>
      </p:grpSpPr>
      <p:sp>
        <p:nvSpPr>
          <p:cNvPr id="157" name="Google Shape;157;g385ecf2bfd5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8" name="Google Shape;158;g385ecf2bfd5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6" name="Shape 166"/>
        <p:cNvGrpSpPr/>
        <p:nvPr/>
      </p:nvGrpSpPr>
      <p:grpSpPr>
        <a:xfrm>
          <a:off x="0" y="0"/>
          <a:ext cx="0" cy="0"/>
          <a:chOff x="0" y="0"/>
          <a:chExt cx="0" cy="0"/>
        </a:xfrm>
      </p:grpSpPr>
      <p:sp>
        <p:nvSpPr>
          <p:cNvPr id="167" name="Google Shape;167;g38ecf1d8b18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8" name="Google Shape;168;g38ecf1d8b18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38ecf1d8b18_0_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38ecf1d8b18_0_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6dc654048d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7" name="Google Shape;187;g36dc654048d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g38ecf1d8b18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7" name="Google Shape;197;g38ecf1d8b18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8ecf1d8b18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8" name="Google Shape;208;g38ecf1d8b18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38ecf1d8b18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38ecf1d8b18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38ecf1d8b18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38ecf1d8b18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8" name="Shape 238"/>
        <p:cNvGrpSpPr/>
        <p:nvPr/>
      </p:nvGrpSpPr>
      <p:grpSpPr>
        <a:xfrm>
          <a:off x="0" y="0"/>
          <a:ext cx="0" cy="0"/>
          <a:chOff x="0" y="0"/>
          <a:chExt cx="0" cy="0"/>
        </a:xfrm>
      </p:grpSpPr>
      <p:sp>
        <p:nvSpPr>
          <p:cNvPr id="239" name="Google Shape;239;g38ecf1d8b18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0" name="Google Shape;240;g38ecf1d8b18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8" name="Shape 248"/>
        <p:cNvGrpSpPr/>
        <p:nvPr/>
      </p:nvGrpSpPr>
      <p:grpSpPr>
        <a:xfrm>
          <a:off x="0" y="0"/>
          <a:ext cx="0" cy="0"/>
          <a:chOff x="0" y="0"/>
          <a:chExt cx="0" cy="0"/>
        </a:xfrm>
      </p:grpSpPr>
      <p:sp>
        <p:nvSpPr>
          <p:cNvPr id="249" name="Google Shape;249;g38ecf1d8b18_0_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0" name="Google Shape;250;g38ecf1d8b18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g385ecf2bfd5_0_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0" name="Google Shape;260;g385ecf2bfd5_0_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85ecf2bfd5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0" name="Google Shape;270;g385ecf2bfd5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385ecf2bfd5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385ecf2bfd5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0" name="Shape 290"/>
        <p:cNvGrpSpPr/>
        <p:nvPr/>
      </p:nvGrpSpPr>
      <p:grpSpPr>
        <a:xfrm>
          <a:off x="0" y="0"/>
          <a:ext cx="0" cy="0"/>
          <a:chOff x="0" y="0"/>
          <a:chExt cx="0" cy="0"/>
        </a:xfrm>
      </p:grpSpPr>
      <p:sp>
        <p:nvSpPr>
          <p:cNvPr id="291" name="Google Shape;291;g385ecf2bfd5_0_1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2" name="Google Shape;292;g385ecf2bfd5_0_1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1" name="Shape 301"/>
        <p:cNvGrpSpPr/>
        <p:nvPr/>
      </p:nvGrpSpPr>
      <p:grpSpPr>
        <a:xfrm>
          <a:off x="0" y="0"/>
          <a:ext cx="0" cy="0"/>
          <a:chOff x="0" y="0"/>
          <a:chExt cx="0" cy="0"/>
        </a:xfrm>
      </p:grpSpPr>
      <p:sp>
        <p:nvSpPr>
          <p:cNvPr id="302" name="Google Shape;302;g385ecf2bfd5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3" name="Google Shape;303;g385ecf2bfd5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3" name="Shape 313"/>
        <p:cNvGrpSpPr/>
        <p:nvPr/>
      </p:nvGrpSpPr>
      <p:grpSpPr>
        <a:xfrm>
          <a:off x="0" y="0"/>
          <a:ext cx="0" cy="0"/>
          <a:chOff x="0" y="0"/>
          <a:chExt cx="0" cy="0"/>
        </a:xfrm>
      </p:grpSpPr>
      <p:sp>
        <p:nvSpPr>
          <p:cNvPr id="314" name="Google Shape;314;g385ecf2bfd5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5" name="Google Shape;315;g385ecf2bfd5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3" name="Shape 323"/>
        <p:cNvGrpSpPr/>
        <p:nvPr/>
      </p:nvGrpSpPr>
      <p:grpSpPr>
        <a:xfrm>
          <a:off x="0" y="0"/>
          <a:ext cx="0" cy="0"/>
          <a:chOff x="0" y="0"/>
          <a:chExt cx="0" cy="0"/>
        </a:xfrm>
      </p:grpSpPr>
      <p:sp>
        <p:nvSpPr>
          <p:cNvPr id="324" name="Google Shape;324;g385ecf2bfd5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5" name="Google Shape;325;g385ecf2bfd5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3" name="Shape 333"/>
        <p:cNvGrpSpPr/>
        <p:nvPr/>
      </p:nvGrpSpPr>
      <p:grpSpPr>
        <a:xfrm>
          <a:off x="0" y="0"/>
          <a:ext cx="0" cy="0"/>
          <a:chOff x="0" y="0"/>
          <a:chExt cx="0" cy="0"/>
        </a:xfrm>
      </p:grpSpPr>
      <p:sp>
        <p:nvSpPr>
          <p:cNvPr id="334" name="Google Shape;334;g385ecf2bfd5_0_1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5" name="Google Shape;335;g385ecf2bfd5_0_1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3" name="Shape 343"/>
        <p:cNvGrpSpPr/>
        <p:nvPr/>
      </p:nvGrpSpPr>
      <p:grpSpPr>
        <a:xfrm>
          <a:off x="0" y="0"/>
          <a:ext cx="0" cy="0"/>
          <a:chOff x="0" y="0"/>
          <a:chExt cx="0" cy="0"/>
        </a:xfrm>
      </p:grpSpPr>
      <p:sp>
        <p:nvSpPr>
          <p:cNvPr id="344" name="Google Shape;344;g385ecf2bfd5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5" name="Google Shape;345;g385ecf2bfd5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g385ecf2bfd5_0_15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g385ecf2bfd5_0_15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5" name="Shape 365"/>
        <p:cNvGrpSpPr/>
        <p:nvPr/>
      </p:nvGrpSpPr>
      <p:grpSpPr>
        <a:xfrm>
          <a:off x="0" y="0"/>
          <a:ext cx="0" cy="0"/>
          <a:chOff x="0" y="0"/>
          <a:chExt cx="0" cy="0"/>
        </a:xfrm>
      </p:grpSpPr>
      <p:sp>
        <p:nvSpPr>
          <p:cNvPr id="366" name="Google Shape;366;g385ecf2bfd5_0_1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67" name="Google Shape;367;g385ecf2bfd5_0_1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385ecf2bfd5_0_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7" name="Google Shape;377;g385ecf2bfd5_0_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5" name="Shape 385"/>
        <p:cNvGrpSpPr/>
        <p:nvPr/>
      </p:nvGrpSpPr>
      <p:grpSpPr>
        <a:xfrm>
          <a:off x="0" y="0"/>
          <a:ext cx="0" cy="0"/>
          <a:chOff x="0" y="0"/>
          <a:chExt cx="0" cy="0"/>
        </a:xfrm>
      </p:grpSpPr>
      <p:sp>
        <p:nvSpPr>
          <p:cNvPr id="386" name="Google Shape;386;g385ecf2bfd5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7" name="Google Shape;387;g385ecf2bfd5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5" name="Shape 395"/>
        <p:cNvGrpSpPr/>
        <p:nvPr/>
      </p:nvGrpSpPr>
      <p:grpSpPr>
        <a:xfrm>
          <a:off x="0" y="0"/>
          <a:ext cx="0" cy="0"/>
          <a:chOff x="0" y="0"/>
          <a:chExt cx="0" cy="0"/>
        </a:xfrm>
      </p:grpSpPr>
      <p:sp>
        <p:nvSpPr>
          <p:cNvPr id="396" name="Google Shape;396;g38bf67eaad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7" name="Google Shape;397;g38bf67eaad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5" name="Shape 405"/>
        <p:cNvGrpSpPr/>
        <p:nvPr/>
      </p:nvGrpSpPr>
      <p:grpSpPr>
        <a:xfrm>
          <a:off x="0" y="0"/>
          <a:ext cx="0" cy="0"/>
          <a:chOff x="0" y="0"/>
          <a:chExt cx="0" cy="0"/>
        </a:xfrm>
      </p:grpSpPr>
      <p:sp>
        <p:nvSpPr>
          <p:cNvPr id="406" name="Google Shape;406;g38bf67eaad6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7" name="Google Shape;407;g38bf67eaad6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8bf67eaad6_0_3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8bf67eaad6_0_3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5" name="Shape 425"/>
        <p:cNvGrpSpPr/>
        <p:nvPr/>
      </p:nvGrpSpPr>
      <p:grpSpPr>
        <a:xfrm>
          <a:off x="0" y="0"/>
          <a:ext cx="0" cy="0"/>
          <a:chOff x="0" y="0"/>
          <a:chExt cx="0" cy="0"/>
        </a:xfrm>
      </p:grpSpPr>
      <p:sp>
        <p:nvSpPr>
          <p:cNvPr id="426" name="Google Shape;426;g38bf67eaad6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7" name="Google Shape;427;g38bf67eaad6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8bf67eaad6_0_7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8bf67eaad6_0_7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8bf67eaad6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8bf67eaad6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8" name="Shape 458"/>
        <p:cNvGrpSpPr/>
        <p:nvPr/>
      </p:nvGrpSpPr>
      <p:grpSpPr>
        <a:xfrm>
          <a:off x="0" y="0"/>
          <a:ext cx="0" cy="0"/>
          <a:chOff x="0" y="0"/>
          <a:chExt cx="0" cy="0"/>
        </a:xfrm>
      </p:grpSpPr>
      <p:sp>
        <p:nvSpPr>
          <p:cNvPr id="459" name="Google Shape;459;g38bf67eaad6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0" name="Google Shape;460;g38bf67eaad6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8" name="Shape 468"/>
        <p:cNvGrpSpPr/>
        <p:nvPr/>
      </p:nvGrpSpPr>
      <p:grpSpPr>
        <a:xfrm>
          <a:off x="0" y="0"/>
          <a:ext cx="0" cy="0"/>
          <a:chOff x="0" y="0"/>
          <a:chExt cx="0" cy="0"/>
        </a:xfrm>
      </p:grpSpPr>
      <p:sp>
        <p:nvSpPr>
          <p:cNvPr id="469" name="Google Shape;469;g38bf67eaad6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0" name="Google Shape;470;g38bf67eaad6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8" name="Shape 478"/>
        <p:cNvGrpSpPr/>
        <p:nvPr/>
      </p:nvGrpSpPr>
      <p:grpSpPr>
        <a:xfrm>
          <a:off x="0" y="0"/>
          <a:ext cx="0" cy="0"/>
          <a:chOff x="0" y="0"/>
          <a:chExt cx="0" cy="0"/>
        </a:xfrm>
      </p:grpSpPr>
      <p:sp>
        <p:nvSpPr>
          <p:cNvPr id="479" name="Google Shape;479;g38bf67eaad6_0_1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0" name="Google Shape;480;g38bf67eaad6_0_1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8" name="Shape 488"/>
        <p:cNvGrpSpPr/>
        <p:nvPr/>
      </p:nvGrpSpPr>
      <p:grpSpPr>
        <a:xfrm>
          <a:off x="0" y="0"/>
          <a:ext cx="0" cy="0"/>
          <a:chOff x="0" y="0"/>
          <a:chExt cx="0" cy="0"/>
        </a:xfrm>
      </p:grpSpPr>
      <p:sp>
        <p:nvSpPr>
          <p:cNvPr id="489" name="Google Shape;489;g38bf67eaad6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0" name="Google Shape;490;g38bf67eaad6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8" name="Shape 498"/>
        <p:cNvGrpSpPr/>
        <p:nvPr/>
      </p:nvGrpSpPr>
      <p:grpSpPr>
        <a:xfrm>
          <a:off x="0" y="0"/>
          <a:ext cx="0" cy="0"/>
          <a:chOff x="0" y="0"/>
          <a:chExt cx="0" cy="0"/>
        </a:xfrm>
      </p:grpSpPr>
      <p:sp>
        <p:nvSpPr>
          <p:cNvPr id="499" name="Google Shape;499;g38bf67eaad6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0" name="Google Shape;500;g38bf67eaad6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8" name="Shape 508"/>
        <p:cNvGrpSpPr/>
        <p:nvPr/>
      </p:nvGrpSpPr>
      <p:grpSpPr>
        <a:xfrm>
          <a:off x="0" y="0"/>
          <a:ext cx="0" cy="0"/>
          <a:chOff x="0" y="0"/>
          <a:chExt cx="0" cy="0"/>
        </a:xfrm>
      </p:grpSpPr>
      <p:sp>
        <p:nvSpPr>
          <p:cNvPr id="509" name="Google Shape;509;g385ecf2bfd5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0" name="Google Shape;510;g385ecf2bfd5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8" name="Shape 518"/>
        <p:cNvGrpSpPr/>
        <p:nvPr/>
      </p:nvGrpSpPr>
      <p:grpSpPr>
        <a:xfrm>
          <a:off x="0" y="0"/>
          <a:ext cx="0" cy="0"/>
          <a:chOff x="0" y="0"/>
          <a:chExt cx="0" cy="0"/>
        </a:xfrm>
      </p:grpSpPr>
      <p:sp>
        <p:nvSpPr>
          <p:cNvPr id="519" name="Google Shape;519;g385ecf2bfd5_0_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0" name="Google Shape;520;g385ecf2bfd5_0_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g39af66a5c73_0_1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0" name="Google Shape;530;g39af66a5c73_0_1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8" name="Shape 538"/>
        <p:cNvGrpSpPr/>
        <p:nvPr/>
      </p:nvGrpSpPr>
      <p:grpSpPr>
        <a:xfrm>
          <a:off x="0" y="0"/>
          <a:ext cx="0" cy="0"/>
          <a:chOff x="0" y="0"/>
          <a:chExt cx="0" cy="0"/>
        </a:xfrm>
      </p:grpSpPr>
      <p:sp>
        <p:nvSpPr>
          <p:cNvPr id="539" name="Google Shape;539;g39af66a5c73_0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0" name="Google Shape;540;g39af66a5c73_0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8" name="Shape 548"/>
        <p:cNvGrpSpPr/>
        <p:nvPr/>
      </p:nvGrpSpPr>
      <p:grpSpPr>
        <a:xfrm>
          <a:off x="0" y="0"/>
          <a:ext cx="0" cy="0"/>
          <a:chOff x="0" y="0"/>
          <a:chExt cx="0" cy="0"/>
        </a:xfrm>
      </p:grpSpPr>
      <p:sp>
        <p:nvSpPr>
          <p:cNvPr id="549" name="Google Shape;549;g39af66a5c73_0_8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0" name="Google Shape;550;g39af66a5c73_0_8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7" name="Shape 557"/>
        <p:cNvGrpSpPr/>
        <p:nvPr/>
      </p:nvGrpSpPr>
      <p:grpSpPr>
        <a:xfrm>
          <a:off x="0" y="0"/>
          <a:ext cx="0" cy="0"/>
          <a:chOff x="0" y="0"/>
          <a:chExt cx="0" cy="0"/>
        </a:xfrm>
      </p:grpSpPr>
      <p:sp>
        <p:nvSpPr>
          <p:cNvPr id="558" name="Google Shape;558;g39af66a5c73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9" name="Google Shape;559;g39af66a5c73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7" name="Shape 567"/>
        <p:cNvGrpSpPr/>
        <p:nvPr/>
      </p:nvGrpSpPr>
      <p:grpSpPr>
        <a:xfrm>
          <a:off x="0" y="0"/>
          <a:ext cx="0" cy="0"/>
          <a:chOff x="0" y="0"/>
          <a:chExt cx="0" cy="0"/>
        </a:xfrm>
      </p:grpSpPr>
      <p:sp>
        <p:nvSpPr>
          <p:cNvPr id="568" name="Google Shape;568;g39af66a5c73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9" name="Google Shape;569;g39af66a5c73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9af66a5c73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9af66a5c73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6" name="Shape 586"/>
        <p:cNvGrpSpPr/>
        <p:nvPr/>
      </p:nvGrpSpPr>
      <p:grpSpPr>
        <a:xfrm>
          <a:off x="0" y="0"/>
          <a:ext cx="0" cy="0"/>
          <a:chOff x="0" y="0"/>
          <a:chExt cx="0" cy="0"/>
        </a:xfrm>
      </p:grpSpPr>
      <p:sp>
        <p:nvSpPr>
          <p:cNvPr id="587" name="Google Shape;587;g39af66a5c73_0_12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8" name="Google Shape;588;g39af66a5c73_0_1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4" name="Shape 594"/>
        <p:cNvGrpSpPr/>
        <p:nvPr/>
      </p:nvGrpSpPr>
      <p:grpSpPr>
        <a:xfrm>
          <a:off x="0" y="0"/>
          <a:ext cx="0" cy="0"/>
          <a:chOff x="0" y="0"/>
          <a:chExt cx="0" cy="0"/>
        </a:xfrm>
      </p:grpSpPr>
      <p:sp>
        <p:nvSpPr>
          <p:cNvPr id="595" name="Google Shape;595;g39af66a5c73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6" name="Google Shape;596;g39af66a5c73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3" name="Shape 603"/>
        <p:cNvGrpSpPr/>
        <p:nvPr/>
      </p:nvGrpSpPr>
      <p:grpSpPr>
        <a:xfrm>
          <a:off x="0" y="0"/>
          <a:ext cx="0" cy="0"/>
          <a:chOff x="0" y="0"/>
          <a:chExt cx="0" cy="0"/>
        </a:xfrm>
      </p:grpSpPr>
      <p:sp>
        <p:nvSpPr>
          <p:cNvPr id="604" name="Google Shape;604;g385ecf2bfd5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5" name="Google Shape;605;g385ecf2bfd5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385ecf2bfd5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385ecf2bfd5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3" name="Shape 623"/>
        <p:cNvGrpSpPr/>
        <p:nvPr/>
      </p:nvGrpSpPr>
      <p:grpSpPr>
        <a:xfrm>
          <a:off x="0" y="0"/>
          <a:ext cx="0" cy="0"/>
          <a:chOff x="0" y="0"/>
          <a:chExt cx="0" cy="0"/>
        </a:xfrm>
      </p:grpSpPr>
      <p:sp>
        <p:nvSpPr>
          <p:cNvPr id="624" name="Google Shape;624;g39b86f997b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5" name="Google Shape;625;g39b86f997b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39b86f997b4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39b86f997b4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3" name="Shape 643"/>
        <p:cNvGrpSpPr/>
        <p:nvPr/>
      </p:nvGrpSpPr>
      <p:grpSpPr>
        <a:xfrm>
          <a:off x="0" y="0"/>
          <a:ext cx="0" cy="0"/>
          <a:chOff x="0" y="0"/>
          <a:chExt cx="0" cy="0"/>
        </a:xfrm>
      </p:grpSpPr>
      <p:sp>
        <p:nvSpPr>
          <p:cNvPr id="644" name="Google Shape;644;g39b86f997b4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5" name="Google Shape;645;g39b86f997b4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3" name="Shape 653"/>
        <p:cNvGrpSpPr/>
        <p:nvPr/>
      </p:nvGrpSpPr>
      <p:grpSpPr>
        <a:xfrm>
          <a:off x="0" y="0"/>
          <a:ext cx="0" cy="0"/>
          <a:chOff x="0" y="0"/>
          <a:chExt cx="0" cy="0"/>
        </a:xfrm>
      </p:grpSpPr>
      <p:sp>
        <p:nvSpPr>
          <p:cNvPr id="654" name="Google Shape;654;g3a1ceb23e7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5" name="Google Shape;655;g3a1ceb23e7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3" name="Shape 663"/>
        <p:cNvGrpSpPr/>
        <p:nvPr/>
      </p:nvGrpSpPr>
      <p:grpSpPr>
        <a:xfrm>
          <a:off x="0" y="0"/>
          <a:ext cx="0" cy="0"/>
          <a:chOff x="0" y="0"/>
          <a:chExt cx="0" cy="0"/>
        </a:xfrm>
      </p:grpSpPr>
      <p:sp>
        <p:nvSpPr>
          <p:cNvPr id="664" name="Google Shape;664;g3a1ceb23e7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5" name="Google Shape;665;g3a1ceb23e7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3" name="Shape 673"/>
        <p:cNvGrpSpPr/>
        <p:nvPr/>
      </p:nvGrpSpPr>
      <p:grpSpPr>
        <a:xfrm>
          <a:off x="0" y="0"/>
          <a:ext cx="0" cy="0"/>
          <a:chOff x="0" y="0"/>
          <a:chExt cx="0" cy="0"/>
        </a:xfrm>
      </p:grpSpPr>
      <p:sp>
        <p:nvSpPr>
          <p:cNvPr id="674" name="Google Shape;674;g3a1ceb23e7d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5" name="Google Shape;675;g3a1ceb23e7d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3" name="Shape 683"/>
        <p:cNvGrpSpPr/>
        <p:nvPr/>
      </p:nvGrpSpPr>
      <p:grpSpPr>
        <a:xfrm>
          <a:off x="0" y="0"/>
          <a:ext cx="0" cy="0"/>
          <a:chOff x="0" y="0"/>
          <a:chExt cx="0" cy="0"/>
        </a:xfrm>
      </p:grpSpPr>
      <p:sp>
        <p:nvSpPr>
          <p:cNvPr id="684" name="Google Shape;684;g3a1ceb23e7d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5" name="Google Shape;685;g3a1ceb23e7d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3" name="Shape 693"/>
        <p:cNvGrpSpPr/>
        <p:nvPr/>
      </p:nvGrpSpPr>
      <p:grpSpPr>
        <a:xfrm>
          <a:off x="0" y="0"/>
          <a:ext cx="0" cy="0"/>
          <a:chOff x="0" y="0"/>
          <a:chExt cx="0" cy="0"/>
        </a:xfrm>
      </p:grpSpPr>
      <p:sp>
        <p:nvSpPr>
          <p:cNvPr id="694" name="Google Shape;694;g3a1ceb23e7d_0_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5" name="Google Shape;695;g3a1ceb23e7d_0_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3" name="Shape 703"/>
        <p:cNvGrpSpPr/>
        <p:nvPr/>
      </p:nvGrpSpPr>
      <p:grpSpPr>
        <a:xfrm>
          <a:off x="0" y="0"/>
          <a:ext cx="0" cy="0"/>
          <a:chOff x="0" y="0"/>
          <a:chExt cx="0" cy="0"/>
        </a:xfrm>
      </p:grpSpPr>
      <p:sp>
        <p:nvSpPr>
          <p:cNvPr id="704" name="Google Shape;704;g3a1ceb23e7d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5" name="Google Shape;705;g3a1ceb23e7d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3" name="Shape 713"/>
        <p:cNvGrpSpPr/>
        <p:nvPr/>
      </p:nvGrpSpPr>
      <p:grpSpPr>
        <a:xfrm>
          <a:off x="0" y="0"/>
          <a:ext cx="0" cy="0"/>
          <a:chOff x="0" y="0"/>
          <a:chExt cx="0" cy="0"/>
        </a:xfrm>
      </p:grpSpPr>
      <p:sp>
        <p:nvSpPr>
          <p:cNvPr id="714" name="Google Shape;714;g3a9755ad29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5" name="Google Shape;715;g3a9755ad29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3" name="Shape 723"/>
        <p:cNvGrpSpPr/>
        <p:nvPr/>
      </p:nvGrpSpPr>
      <p:grpSpPr>
        <a:xfrm>
          <a:off x="0" y="0"/>
          <a:ext cx="0" cy="0"/>
          <a:chOff x="0" y="0"/>
          <a:chExt cx="0" cy="0"/>
        </a:xfrm>
      </p:grpSpPr>
      <p:sp>
        <p:nvSpPr>
          <p:cNvPr id="724" name="Google Shape;724;g3a9755ad29a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5" name="Google Shape;725;g3a9755ad29a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3" name="Shape 733"/>
        <p:cNvGrpSpPr/>
        <p:nvPr/>
      </p:nvGrpSpPr>
      <p:grpSpPr>
        <a:xfrm>
          <a:off x="0" y="0"/>
          <a:ext cx="0" cy="0"/>
          <a:chOff x="0" y="0"/>
          <a:chExt cx="0" cy="0"/>
        </a:xfrm>
      </p:grpSpPr>
      <p:sp>
        <p:nvSpPr>
          <p:cNvPr id="734" name="Google Shape;734;g3a9755ad29a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5" name="Google Shape;735;g3a9755ad29a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3" name="Shape 743"/>
        <p:cNvGrpSpPr/>
        <p:nvPr/>
      </p:nvGrpSpPr>
      <p:grpSpPr>
        <a:xfrm>
          <a:off x="0" y="0"/>
          <a:ext cx="0" cy="0"/>
          <a:chOff x="0" y="0"/>
          <a:chExt cx="0" cy="0"/>
        </a:xfrm>
      </p:grpSpPr>
      <p:sp>
        <p:nvSpPr>
          <p:cNvPr id="744" name="Google Shape;744;g3a9755ad29a_0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5" name="Google Shape;745;g3a9755ad29a_0_2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560"/>
              </a:spcBef>
              <a:spcAft>
                <a:spcPts val="0"/>
              </a:spcAft>
              <a:buNone/>
            </a:pPr>
            <a:r>
              <a:t/>
            </a:r>
            <a:endParaRPr sz="1000"/>
          </a:p>
          <a:p>
            <a:pPr indent="0" lvl="0" marL="0" rtl="0" algn="l">
              <a:spcBef>
                <a:spcPts val="560"/>
              </a:spcBef>
              <a:spcAft>
                <a:spcPts val="0"/>
              </a:spcAft>
              <a:buNone/>
            </a:pPr>
            <a:r>
              <a:t/>
            </a:r>
            <a:endParaRPr sz="100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56" name="Google Shape;56;p1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7" name="Google Shape;57;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8" name="Shape 58"/>
        <p:cNvGrpSpPr/>
        <p:nvPr/>
      </p:nvGrpSpPr>
      <p:grpSpPr>
        <a:xfrm>
          <a:off x="0" y="0"/>
          <a:ext cx="0" cy="0"/>
          <a:chOff x="0" y="0"/>
          <a:chExt cx="0" cy="0"/>
        </a:xfrm>
      </p:grpSpPr>
      <p:sp>
        <p:nvSpPr>
          <p:cNvPr id="59" name="Google Shape;59;p1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60" name="Google Shape;60;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1" name="Shape 61"/>
        <p:cNvGrpSpPr/>
        <p:nvPr/>
      </p:nvGrpSpPr>
      <p:grpSpPr>
        <a:xfrm>
          <a:off x="0" y="0"/>
          <a:ext cx="0" cy="0"/>
          <a:chOff x="0" y="0"/>
          <a:chExt cx="0" cy="0"/>
        </a:xfrm>
      </p:grpSpPr>
      <p:sp>
        <p:nvSpPr>
          <p:cNvPr id="62" name="Google Shape;62;p1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3" name="Google Shape;6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64" name="Google Shape;64;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5" name="Shape 65"/>
        <p:cNvGrpSpPr/>
        <p:nvPr/>
      </p:nvGrpSpPr>
      <p:grpSpPr>
        <a:xfrm>
          <a:off x="0" y="0"/>
          <a:ext cx="0" cy="0"/>
          <a:chOff x="0" y="0"/>
          <a:chExt cx="0" cy="0"/>
        </a:xfrm>
      </p:grpSpPr>
      <p:sp>
        <p:nvSpPr>
          <p:cNvPr id="66" name="Google Shape;66;p1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7" name="Google Shape;67;p1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8" name="Google Shape;68;p1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69" name="Google Shape;69;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0" name="Shape 70"/>
        <p:cNvGrpSpPr/>
        <p:nvPr/>
      </p:nvGrpSpPr>
      <p:grpSpPr>
        <a:xfrm>
          <a:off x="0" y="0"/>
          <a:ext cx="0" cy="0"/>
          <a:chOff x="0" y="0"/>
          <a:chExt cx="0" cy="0"/>
        </a:xfrm>
      </p:grpSpPr>
      <p:sp>
        <p:nvSpPr>
          <p:cNvPr id="71" name="Google Shape;71;p1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2" name="Google Shape;72;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3" name="Shape 73"/>
        <p:cNvGrpSpPr/>
        <p:nvPr/>
      </p:nvGrpSpPr>
      <p:grpSpPr>
        <a:xfrm>
          <a:off x="0" y="0"/>
          <a:ext cx="0" cy="0"/>
          <a:chOff x="0" y="0"/>
          <a:chExt cx="0" cy="0"/>
        </a:xfrm>
      </p:grpSpPr>
      <p:sp>
        <p:nvSpPr>
          <p:cNvPr id="74" name="Google Shape;74;p1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75" name="Google Shape;75;p1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76" name="Google Shape;76;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7" name="Shape 77"/>
        <p:cNvGrpSpPr/>
        <p:nvPr/>
      </p:nvGrpSpPr>
      <p:grpSpPr>
        <a:xfrm>
          <a:off x="0" y="0"/>
          <a:ext cx="0" cy="0"/>
          <a:chOff x="0" y="0"/>
          <a:chExt cx="0" cy="0"/>
        </a:xfrm>
      </p:grpSpPr>
      <p:sp>
        <p:nvSpPr>
          <p:cNvPr id="78" name="Google Shape;78;p2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79" name="Google Shape;79;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0" name="Shape 80"/>
        <p:cNvGrpSpPr/>
        <p:nvPr/>
      </p:nvGrpSpPr>
      <p:grpSpPr>
        <a:xfrm>
          <a:off x="0" y="0"/>
          <a:ext cx="0" cy="0"/>
          <a:chOff x="0" y="0"/>
          <a:chExt cx="0" cy="0"/>
        </a:xfrm>
      </p:grpSpPr>
      <p:sp>
        <p:nvSpPr>
          <p:cNvPr id="81" name="Google Shape;81;p2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2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3" name="Google Shape;83;p2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4" name="Google Shape;84;p2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85" name="Google Shape;85;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6" name="Shape 86"/>
        <p:cNvGrpSpPr/>
        <p:nvPr/>
      </p:nvGrpSpPr>
      <p:grpSpPr>
        <a:xfrm>
          <a:off x="0" y="0"/>
          <a:ext cx="0" cy="0"/>
          <a:chOff x="0" y="0"/>
          <a:chExt cx="0" cy="0"/>
        </a:xfrm>
      </p:grpSpPr>
      <p:sp>
        <p:nvSpPr>
          <p:cNvPr id="87" name="Google Shape;87;p2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88" name="Google Shape;88;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89" name="Shape 89"/>
        <p:cNvGrpSpPr/>
        <p:nvPr/>
      </p:nvGrpSpPr>
      <p:grpSpPr>
        <a:xfrm>
          <a:off x="0" y="0"/>
          <a:ext cx="0" cy="0"/>
          <a:chOff x="0" y="0"/>
          <a:chExt cx="0" cy="0"/>
        </a:xfrm>
      </p:grpSpPr>
      <p:sp>
        <p:nvSpPr>
          <p:cNvPr id="90" name="Google Shape;90;p2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91" name="Google Shape;91;p2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92" name="Google Shape;9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93" name="Shape 93"/>
        <p:cNvGrpSpPr/>
        <p:nvPr/>
      </p:nvGrpSpPr>
      <p:grpSpPr>
        <a:xfrm>
          <a:off x="0" y="0"/>
          <a:ext cx="0" cy="0"/>
          <a:chOff x="0" y="0"/>
          <a:chExt cx="0" cy="0"/>
        </a:xfrm>
      </p:grpSpPr>
      <p:sp>
        <p:nvSpPr>
          <p:cNvPr id="94" name="Google Shape;9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1.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FCE5CD"/>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6.jpg"/><Relationship Id="rId4" Type="http://schemas.openxmlformats.org/officeDocument/2006/relationships/hyperlink" Target="http://www.youtube.com/watch?v=Pm2BvdiZUXA" TargetMode="External"/><Relationship Id="rId5" Type="http://schemas.openxmlformats.org/officeDocument/2006/relationships/image" Target="../media/image2.jpg"/><Relationship Id="rId6" Type="http://schemas.openxmlformats.org/officeDocument/2006/relationships/hyperlink" Target="http://www.youtube.com/watch?v=u_BcMXgws6Y" TargetMode="External"/><Relationship Id="rId7" Type="http://schemas.openxmlformats.org/officeDocument/2006/relationships/image" Target="../media/image1.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5.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6.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5.jpg"/><Relationship Id="rId4" Type="http://schemas.openxmlformats.org/officeDocument/2006/relationships/hyperlink" Target="http://www.youtube.com/watch?v=Pm2BvdiZUXA" TargetMode="External"/><Relationship Id="rId5" Type="http://schemas.openxmlformats.org/officeDocument/2006/relationships/image" Target="../media/image3.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5.jpg"/><Relationship Id="rId4" Type="http://schemas.openxmlformats.org/officeDocument/2006/relationships/hyperlink" Target="http://www.youtube.com/watch?v=Pm2BvdiZUXA" TargetMode="External"/><Relationship Id="rId5" Type="http://schemas.openxmlformats.org/officeDocument/2006/relationships/image" Target="../media/image3.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5.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5.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 Id="rId3" Type="http://schemas.openxmlformats.org/officeDocument/2006/relationships/image" Target="../media/image5.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 Id="rId3" Type="http://schemas.openxmlformats.org/officeDocument/2006/relationships/image" Target="../media/image5.jpg"/><Relationship Id="rId4" Type="http://schemas.openxmlformats.org/officeDocument/2006/relationships/hyperlink" Target="http://www.youtube.com/watch?v=4ASKMcdCc3g" TargetMode="External"/><Relationship Id="rId5" Type="http://schemas.openxmlformats.org/officeDocument/2006/relationships/image" Target="../media/image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 Id="rId3" Type="http://schemas.openxmlformats.org/officeDocument/2006/relationships/image" Target="../media/image5.jpg"/><Relationship Id="rId4" Type="http://schemas.openxmlformats.org/officeDocument/2006/relationships/hyperlink" Target="https://www.nzherald.co.nz/lifestyle/young-people-are-losing-sleep-over-energy-drinks-but-a-ban-wont-be-enough-to-protect-them/BF3VKCX3F5FWRBRALAMUUMBXN4/"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 Id="rId3" Type="http://schemas.openxmlformats.org/officeDocument/2006/relationships/image" Target="../media/image5.jpg"/><Relationship Id="rId4" Type="http://schemas.openxmlformats.org/officeDocument/2006/relationships/hyperlink" Target="http://www.youtube.com/watch?v=4ASKMcdCc3g" TargetMode="External"/><Relationship Id="rId5" Type="http://schemas.openxmlformats.org/officeDocument/2006/relationships/image" Target="../media/image9.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5.jpg"/><Relationship Id="rId4" Type="http://schemas.openxmlformats.org/officeDocument/2006/relationships/hyperlink" Target="https://www.youtube.com/watch?v=vTRO_CPuX5Y" TargetMode="External"/><Relationship Id="rId5" Type="http://schemas.openxmlformats.org/officeDocument/2006/relationships/hyperlink" Target="https://www.youtube.com/watch?v=vTRO_CPuX5Y" TargetMode="External"/><Relationship Id="rId6" Type="http://schemas.openxmlformats.org/officeDocument/2006/relationships/image" Target="../media/image10.png"/><Relationship Id="rId7" Type="http://schemas.openxmlformats.org/officeDocument/2006/relationships/image" Target="../media/image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 Id="rId3" Type="http://schemas.openxmlformats.org/officeDocument/2006/relationships/image" Target="../media/image5.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3.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 Id="rId3" Type="http://schemas.openxmlformats.org/officeDocument/2006/relationships/image" Target="../media/image5.jp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 Id="rId3" Type="http://schemas.openxmlformats.org/officeDocument/2006/relationships/image" Target="../media/image5.jpg"/><Relationship Id="rId4" Type="http://schemas.openxmlformats.org/officeDocument/2006/relationships/hyperlink" Target="https://www.youtube.com/watch?v=vTRO_CPuX5Y" TargetMode="External"/><Relationship Id="rId5" Type="http://schemas.openxmlformats.org/officeDocument/2006/relationships/hyperlink" Target="https://www.youtube.com/watch?v=vTRO_CPuX5Y" TargetMode="External"/><Relationship Id="rId6" Type="http://schemas.openxmlformats.org/officeDocument/2006/relationships/image" Target="../media/image10.png"/><Relationship Id="rId7" Type="http://schemas.openxmlformats.org/officeDocument/2006/relationships/image" Target="../media/image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7.xml"/><Relationship Id="rId3" Type="http://schemas.openxmlformats.org/officeDocument/2006/relationships/image" Target="../media/image5.jp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8.xml"/><Relationship Id="rId3" Type="http://schemas.openxmlformats.org/officeDocument/2006/relationships/image" Target="../media/image5.jp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9.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1.xml"/><Relationship Id="rId3" Type="http://schemas.openxmlformats.org/officeDocument/2006/relationships/image" Target="../media/image5.jp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2.xml"/><Relationship Id="rId3" Type="http://schemas.openxmlformats.org/officeDocument/2006/relationships/image" Target="../media/image5.jp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3.xml"/><Relationship Id="rId3" Type="http://schemas.openxmlformats.org/officeDocument/2006/relationships/image" Target="../media/image5.jpg"/><Relationship Id="rId4" Type="http://schemas.openxmlformats.org/officeDocument/2006/relationships/image" Target="../media/image1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4.xml"/><Relationship Id="rId3" Type="http://schemas.openxmlformats.org/officeDocument/2006/relationships/image" Target="../media/image5.jpg"/><Relationship Id="rId4" Type="http://schemas.openxmlformats.org/officeDocument/2006/relationships/hyperlink" Target="http://www.youtube.com/watch?v=T_vWKgJES0Y" TargetMode="External"/><Relationship Id="rId5" Type="http://schemas.openxmlformats.org/officeDocument/2006/relationships/image" Target="../media/image13.jp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5.xml"/><Relationship Id="rId3" Type="http://schemas.openxmlformats.org/officeDocument/2006/relationships/image" Target="../media/image5.jp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6.xml"/><Relationship Id="rId3" Type="http://schemas.openxmlformats.org/officeDocument/2006/relationships/image" Target="../media/image5.jp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7.xml"/><Relationship Id="rId3" Type="http://schemas.openxmlformats.org/officeDocument/2006/relationships/image" Target="../media/image5.jp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8.xml"/><Relationship Id="rId3" Type="http://schemas.openxmlformats.org/officeDocument/2006/relationships/image" Target="../media/image5.jp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9.xml"/><Relationship Id="rId3" Type="http://schemas.openxmlformats.org/officeDocument/2006/relationships/image" Target="../media/image5.jp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0.xml"/><Relationship Id="rId3" Type="http://schemas.openxmlformats.org/officeDocument/2006/relationships/image" Target="../media/image5.jp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1.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6.jpg"/><Relationship Id="rId4" Type="http://schemas.openxmlformats.org/officeDocument/2006/relationships/hyperlink" Target="https://docs.google.com/forms/d/e/1FAIpQLSec4sRde_obZhMqoIxKmqZ0i3gSaOJN279E3SEZKToxgie_wA/viewform?usp=header" TargetMode="External"/><Relationship Id="rId5" Type="http://schemas.openxmlformats.org/officeDocument/2006/relationships/hyperlink" Target="http://www.youtube.com/watch?v=u_BcMXgws6Y" TargetMode="External"/><Relationship Id="rId6" Type="http://schemas.openxmlformats.org/officeDocument/2006/relationships/image" Target="../media/image1.jp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 Id="rId3" Type="http://schemas.openxmlformats.org/officeDocument/2006/relationships/image" Target="../media/image6.jpg"/><Relationship Id="rId4" Type="http://schemas.openxmlformats.org/officeDocument/2006/relationships/hyperlink" Target="http://www.youtube.com/watch?v=JAtSgGNDQk8" TargetMode="External"/><Relationship Id="rId5" Type="http://schemas.openxmlformats.org/officeDocument/2006/relationships/image" Target="../media/image14.jp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4.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5.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7.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 Id="rId3" Type="http://schemas.openxmlformats.org/officeDocument/2006/relationships/image" Target="../media/image15.png"/><Relationship Id="rId4" Type="http://schemas.openxmlformats.org/officeDocument/2006/relationships/image" Target="../media/image18.png"/><Relationship Id="rId5" Type="http://schemas.openxmlformats.org/officeDocument/2006/relationships/image" Target="../media/image19.png"/><Relationship Id="rId6" Type="http://schemas.openxmlformats.org/officeDocument/2006/relationships/image" Target="../media/image17.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7.xml"/><Relationship Id="rId3" Type="http://schemas.openxmlformats.org/officeDocument/2006/relationships/image" Target="../media/image20.png"/><Relationship Id="rId4" Type="http://schemas.openxmlformats.org/officeDocument/2006/relationships/hyperlink" Target="https://kids.kiddle.co/Elizabeth_II" TargetMode="Externa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8.xml"/><Relationship Id="rId3" Type="http://schemas.openxmlformats.org/officeDocument/2006/relationships/image" Target="../media/image2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49.xml"/><Relationship Id="rId3" Type="http://schemas.openxmlformats.org/officeDocument/2006/relationships/image" Target="../media/image20.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 Id="rId3" Type="http://schemas.openxmlformats.org/officeDocument/2006/relationships/image" Target="../media/image6.jpg"/><Relationship Id="rId4" Type="http://schemas.openxmlformats.org/officeDocument/2006/relationships/hyperlink" Target="https://docs.google.com/document/d/1FQdsqVn6JhZsaDClxUSJWLMAZGLdaS1LWCuag1U3kBU/edit?tab=t.0" TargetMode="Externa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1.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2.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3.xml"/><Relationship Id="rId3" Type="http://schemas.openxmlformats.org/officeDocument/2006/relationships/image" Target="../media/image5.jp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4.xml"/><Relationship Id="rId3" Type="http://schemas.openxmlformats.org/officeDocument/2006/relationships/image" Target="../media/image5.jp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5.xml"/><Relationship Id="rId3" Type="http://schemas.openxmlformats.org/officeDocument/2006/relationships/image" Target="../media/image5.jp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6.xml"/><Relationship Id="rId3" Type="http://schemas.openxmlformats.org/officeDocument/2006/relationships/image" Target="../media/image5.jpg"/><Relationship Id="rId4" Type="http://schemas.openxmlformats.org/officeDocument/2006/relationships/image" Target="../media/image16.png"/><Relationship Id="rId5" Type="http://schemas.openxmlformats.org/officeDocument/2006/relationships/image" Target="../media/image7.jp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 Id="rId3" Type="http://schemas.openxmlformats.org/officeDocument/2006/relationships/image" Target="../media/image6.jpg"/><Relationship Id="rId4" Type="http://schemas.openxmlformats.org/officeDocument/2006/relationships/hyperlink" Target="http://www.youtube.com/watch?v=u_BcMXgws6Y" TargetMode="External"/><Relationship Id="rId5" Type="http://schemas.openxmlformats.org/officeDocument/2006/relationships/image" Target="../media/image1.jp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8.xml"/><Relationship Id="rId3" Type="http://schemas.openxmlformats.org/officeDocument/2006/relationships/image" Target="../media/image5.jp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9.xml"/><Relationship Id="rId3" Type="http://schemas.openxmlformats.org/officeDocument/2006/relationships/image" Target="../media/image5.jp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0.xml"/><Relationship Id="rId3" Type="http://schemas.openxmlformats.org/officeDocument/2006/relationships/image" Target="../media/image5.jp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1.xml"/><Relationship Id="rId3" Type="http://schemas.openxmlformats.org/officeDocument/2006/relationships/image" Target="../media/image5.jp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2.xml"/><Relationship Id="rId3" Type="http://schemas.openxmlformats.org/officeDocument/2006/relationships/image" Target="../media/image5.jp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3.xml"/><Relationship Id="rId3" Type="http://schemas.openxmlformats.org/officeDocument/2006/relationships/image" Target="../media/image5.jp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4.xml"/><Relationship Id="rId3" Type="http://schemas.openxmlformats.org/officeDocument/2006/relationships/image" Target="../media/image5.jp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5.xml"/><Relationship Id="rId3" Type="http://schemas.openxmlformats.org/officeDocument/2006/relationships/image" Target="../media/image5.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descr="AC Slides-01.jpeg" id="99" name="Google Shape;99;p25"/>
          <p:cNvPicPr preferRelativeResize="0"/>
          <p:nvPr/>
        </p:nvPicPr>
        <p:blipFill>
          <a:blip r:embed="rId3">
            <a:alphaModFix/>
          </a:blip>
          <a:stretch>
            <a:fillRect/>
          </a:stretch>
        </p:blipFill>
        <p:spPr>
          <a:xfrm>
            <a:off x="0" y="0"/>
            <a:ext cx="9144000" cy="5143500"/>
          </a:xfrm>
          <a:prstGeom prst="rect">
            <a:avLst/>
          </a:prstGeom>
          <a:noFill/>
          <a:ln>
            <a:noFill/>
          </a:ln>
        </p:spPr>
      </p:pic>
      <p:sp>
        <p:nvSpPr>
          <p:cNvPr id="100" name="Google Shape;100;p25"/>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101" name="Google Shape;101;p25"/>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102" name="Google Shape;102;p25"/>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103" name="Google Shape;103;p25"/>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104" name="Google Shape;104;p25"/>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1</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6 oct - l1</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sp>
        <p:nvSpPr>
          <p:cNvPr id="109" name="Google Shape;109;p2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10" name="Google Shape;110;p2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111" name="Google Shape;111;p26"/>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12" name="Google Shape;112;p26"/>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13" name="Google Shape;113;p26"/>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0" lvl="0" marL="0" rtl="0" algn="l">
              <a:lnSpc>
                <a:spcPct val="115000"/>
              </a:lnSpc>
              <a:spcBef>
                <a:spcPts val="1200"/>
              </a:spcBef>
              <a:spcAft>
                <a:spcPts val="0"/>
              </a:spcAft>
              <a:buNone/>
            </a:pPr>
            <a:r>
              <a:rPr lang="en-GB" sz="1800">
                <a:latin typeface="ABeeZee"/>
                <a:ea typeface="ABeeZee"/>
                <a:cs typeface="ABeeZee"/>
                <a:sym typeface="ABeeZee"/>
              </a:rPr>
              <a:t>With the person next to you share and write down a goal you want to achieve in the next 3 weeks of school for the following:</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Level 2 Health Class</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Social</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Academic</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Each person needs to write down and share back the 3 goals for their partner</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114" name="Google Shape;114;p26" title="10 Minute Timer">
            <a:hlinkClick r:id="rId4"/>
          </p:cNvPr>
          <p:cNvPicPr preferRelativeResize="0"/>
          <p:nvPr/>
        </p:nvPicPr>
        <p:blipFill>
          <a:blip r:embed="rId5">
            <a:alphaModFix/>
          </a:blip>
          <a:stretch>
            <a:fillRect/>
          </a:stretch>
        </p:blipFill>
        <p:spPr>
          <a:xfrm>
            <a:off x="7423388" y="-48025"/>
            <a:ext cx="1409062" cy="792600"/>
          </a:xfrm>
          <a:prstGeom prst="rect">
            <a:avLst/>
          </a:prstGeom>
          <a:noFill/>
          <a:ln>
            <a:noFill/>
          </a:ln>
        </p:spPr>
      </p:pic>
      <p:pic>
        <p:nvPicPr>
          <p:cNvPr descr="This timer silently counts down to 0:00, then alerts you that time is up with a gentle beep sound." id="115" name="Google Shape;115;p26" title="15 Minute Timer">
            <a:hlinkClick r:id="rId6"/>
          </p:cNvPr>
          <p:cNvPicPr preferRelativeResize="0"/>
          <p:nvPr/>
        </p:nvPicPr>
        <p:blipFill>
          <a:blip r:embed="rId7">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
                                        </p:tgtEl>
                                        <p:attrNameLst>
                                          <p:attrName>style.visibility</p:attrName>
                                        </p:attrNameLst>
                                      </p:cBhvr>
                                      <p:to>
                                        <p:strVal val="visible"/>
                                      </p:to>
                                    </p:set>
                                    <p:animEffect filter="fade" transition="in">
                                      <p:cBhvr>
                                        <p:cTn dur="1000"/>
                                        <p:tgtEl>
                                          <p:spTgt spid="11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pic>
        <p:nvPicPr>
          <p:cNvPr descr="AC Slides-01.jpeg" id="120" name="Google Shape;120;p27"/>
          <p:cNvPicPr preferRelativeResize="0"/>
          <p:nvPr/>
        </p:nvPicPr>
        <p:blipFill>
          <a:blip r:embed="rId3">
            <a:alphaModFix/>
          </a:blip>
          <a:stretch>
            <a:fillRect/>
          </a:stretch>
        </p:blipFill>
        <p:spPr>
          <a:xfrm>
            <a:off x="0" y="0"/>
            <a:ext cx="9144000" cy="5143500"/>
          </a:xfrm>
          <a:prstGeom prst="rect">
            <a:avLst/>
          </a:prstGeom>
          <a:noFill/>
          <a:ln>
            <a:noFill/>
          </a:ln>
        </p:spPr>
      </p:pic>
      <p:sp>
        <p:nvSpPr>
          <p:cNvPr id="121" name="Google Shape;121;p2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23" name="Google Shape;123;p2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2100">
                <a:latin typeface="ABeeZee"/>
                <a:ea typeface="ABeeZee"/>
                <a:cs typeface="ABeeZee"/>
                <a:sym typeface="ABeeZee"/>
              </a:rPr>
              <a:t>Make sense of our learning pathway in L2 Health</a:t>
            </a:r>
            <a:endParaRPr sz="2100">
              <a:latin typeface="ABeeZee"/>
              <a:ea typeface="ABeeZee"/>
              <a:cs typeface="ABeeZee"/>
              <a:sym typeface="ABeeZee"/>
            </a:endParaRPr>
          </a:p>
          <a:p>
            <a:pPr indent="0" lvl="0" marL="0" rtl="0" algn="l">
              <a:spcBef>
                <a:spcPts val="0"/>
              </a:spcBef>
              <a:spcAft>
                <a:spcPts val="0"/>
              </a:spcAft>
              <a:buNone/>
            </a:pPr>
            <a:r>
              <a:t/>
            </a:r>
            <a:endParaRPr sz="2300">
              <a:latin typeface="ABeeZee"/>
              <a:ea typeface="ABeeZee"/>
              <a:cs typeface="ABeeZee"/>
              <a:sym typeface="ABeeZee"/>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49250" lvl="0" marL="457200" rtl="0" algn="l">
              <a:lnSpc>
                <a:spcPct val="115000"/>
              </a:lnSpc>
              <a:spcBef>
                <a:spcPts val="120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what actions I need to take in the next three weeks to achieve in this course</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Make sense of our external Health assessment</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24" name="Google Shape;124;p2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 name="Shape 129"/>
        <p:cNvGrpSpPr/>
        <p:nvPr/>
      </p:nvGrpSpPr>
      <p:grpSpPr>
        <a:xfrm>
          <a:off x="0" y="0"/>
          <a:ext cx="0" cy="0"/>
          <a:chOff x="0" y="0"/>
          <a:chExt cx="0" cy="0"/>
        </a:xfrm>
      </p:grpSpPr>
      <p:pic>
        <p:nvPicPr>
          <p:cNvPr descr="AC Slides-01.jpeg" id="130" name="Google Shape;130;p28"/>
          <p:cNvPicPr preferRelativeResize="0"/>
          <p:nvPr/>
        </p:nvPicPr>
        <p:blipFill>
          <a:blip r:embed="rId3">
            <a:alphaModFix/>
          </a:blip>
          <a:stretch>
            <a:fillRect/>
          </a:stretch>
        </p:blipFill>
        <p:spPr>
          <a:xfrm>
            <a:off x="0" y="0"/>
            <a:ext cx="9144000" cy="5143500"/>
          </a:xfrm>
          <a:prstGeom prst="rect">
            <a:avLst/>
          </a:prstGeom>
          <a:noFill/>
          <a:ln>
            <a:noFill/>
          </a:ln>
        </p:spPr>
      </p:pic>
      <p:sp>
        <p:nvSpPr>
          <p:cNvPr id="131" name="Google Shape;131;p2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33" name="Google Shape;133;p2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Health promotion</a:t>
            </a:r>
            <a:endParaRPr sz="1800">
              <a:solidFill>
                <a:schemeClr val="dk1"/>
              </a:solidFill>
              <a:latin typeface="ABeeZee"/>
              <a:ea typeface="ABeeZee"/>
              <a:cs typeface="ABeeZee"/>
              <a:sym typeface="ABeeZee"/>
            </a:endParaRPr>
          </a:p>
          <a:p>
            <a:pPr indent="-349250" lvl="0" marL="457200" rtl="0" algn="l">
              <a:lnSpc>
                <a:spcPct val="115000"/>
              </a:lnSpc>
              <a:spcBef>
                <a:spcPts val="1200"/>
              </a:spcBef>
              <a:spcAft>
                <a:spcPts val="0"/>
              </a:spcAft>
              <a:buSzPts val="1900"/>
              <a:buFont typeface="ABeeZee"/>
              <a:buChar char="●"/>
            </a:pPr>
            <a:r>
              <a:rPr lang="en-GB" sz="1900">
                <a:latin typeface="ABeeZee"/>
                <a:ea typeface="ABeeZee"/>
                <a:cs typeface="ABeeZee"/>
                <a:sym typeface="ABeeZee"/>
              </a:rPr>
              <a:t>Every</a:t>
            </a:r>
            <a:r>
              <a:rPr lang="en-GB" sz="1900">
                <a:latin typeface="ABeeZee"/>
                <a:ea typeface="ABeeZee"/>
                <a:cs typeface="ABeeZee"/>
                <a:sym typeface="ABeeZee"/>
              </a:rPr>
              <a:t>one will be given a week extension due to my absence</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For those who have handed theirs in, if you would like to get some feedback put your name on the board for a 1:1</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If you feel like completing this assessment is too out of reach for you, please put your name also in 1:1 and I can discuss with you other options for resubs if available</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Otherwise everyone needs to be complete this assessment or their name needs to be on 1:1 board</a:t>
            </a:r>
            <a:endParaRPr sz="1900">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34" name="Google Shape;134;p2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5" name="Google Shape;135;p28"/>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Health promotion</a:t>
            </a:r>
            <a:endParaRPr sz="4100">
              <a:solidFill>
                <a:srgbClr val="FFFFFF"/>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pic>
        <p:nvPicPr>
          <p:cNvPr descr="AC Slides-01.jpeg" id="140" name="Google Shape;140;p29"/>
          <p:cNvPicPr preferRelativeResize="0"/>
          <p:nvPr/>
        </p:nvPicPr>
        <p:blipFill>
          <a:blip r:embed="rId3">
            <a:alphaModFix/>
          </a:blip>
          <a:stretch>
            <a:fillRect/>
          </a:stretch>
        </p:blipFill>
        <p:spPr>
          <a:xfrm>
            <a:off x="0" y="0"/>
            <a:ext cx="9144000" cy="5143500"/>
          </a:xfrm>
          <a:prstGeom prst="rect">
            <a:avLst/>
          </a:prstGeom>
          <a:noFill/>
          <a:ln>
            <a:noFill/>
          </a:ln>
        </p:spPr>
      </p:pic>
      <p:sp>
        <p:nvSpPr>
          <p:cNvPr id="141" name="Google Shape;141;p29"/>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142" name="Google Shape;142;p29"/>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143" name="Google Shape;143;p29"/>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144" name="Google Shape;144;p29"/>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145" name="Google Shape;145;p29"/>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1</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6 oct - l2</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9" name="Shape 149"/>
        <p:cNvGrpSpPr/>
        <p:nvPr/>
      </p:nvGrpSpPr>
      <p:grpSpPr>
        <a:xfrm>
          <a:off x="0" y="0"/>
          <a:ext cx="0" cy="0"/>
          <a:chOff x="0" y="0"/>
          <a:chExt cx="0" cy="0"/>
        </a:xfrm>
      </p:grpSpPr>
      <p:sp>
        <p:nvSpPr>
          <p:cNvPr id="150" name="Google Shape;150;p3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51" name="Google Shape;151;p3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152" name="Google Shape;152;p30"/>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53" name="Google Shape;153;p30"/>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54" name="Google Shape;154;p30"/>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0" lvl="0" marL="0" rtl="0" algn="l">
              <a:lnSpc>
                <a:spcPct val="115000"/>
              </a:lnSpc>
              <a:spcBef>
                <a:spcPts val="1200"/>
              </a:spcBef>
              <a:spcAft>
                <a:spcPts val="0"/>
              </a:spcAft>
              <a:buNone/>
            </a:pPr>
            <a:r>
              <a:rPr lang="en-GB" sz="1800">
                <a:latin typeface="ABeeZee"/>
                <a:ea typeface="ABeeZee"/>
                <a:cs typeface="ABeeZee"/>
                <a:sym typeface="ABeeZee"/>
              </a:rPr>
              <a:t>In three groups, come up with a short definition for the following:</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Group 1 - Hauora</a:t>
            </a:r>
            <a:br>
              <a:rPr lang="en-GB" sz="1800">
                <a:latin typeface="ABeeZee"/>
                <a:ea typeface="ABeeZee"/>
                <a:cs typeface="ABeeZee"/>
                <a:sym typeface="ABeeZee"/>
              </a:rPr>
            </a:br>
            <a:r>
              <a:rPr lang="en-GB" sz="1800">
                <a:latin typeface="ABeeZee"/>
                <a:ea typeface="ABeeZee"/>
                <a:cs typeface="ABeeZee"/>
                <a:sym typeface="ABeeZee"/>
              </a:rPr>
              <a:t>Group 2 - Strategies</a:t>
            </a:r>
            <a:br>
              <a:rPr lang="en-GB" sz="1800">
                <a:latin typeface="ABeeZee"/>
                <a:ea typeface="ABeeZee"/>
                <a:cs typeface="ABeeZee"/>
                <a:sym typeface="ABeeZee"/>
              </a:rPr>
            </a:br>
            <a:r>
              <a:rPr lang="en-GB" sz="1800">
                <a:latin typeface="ABeeZee"/>
                <a:ea typeface="ABeeZee"/>
                <a:cs typeface="ABeeZee"/>
                <a:sym typeface="ABeeZee"/>
              </a:rPr>
              <a:t>Group 3 - Attitudes &amp; Values</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Put your definition on the next slide.</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155" name="Google Shape;155;p30" title="15 Minute Timer">
            <a:hlinkClick r:id="rId4"/>
          </p:cNvPr>
          <p:cNvPicPr preferRelativeResize="0"/>
          <p:nvPr/>
        </p:nvPicPr>
        <p:blipFill>
          <a:blip r:embed="rId5">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55"/>
                                        </p:tgtEl>
                                        <p:attrNameLst>
                                          <p:attrName>style.visibility</p:attrName>
                                        </p:attrNameLst>
                                      </p:cBhvr>
                                      <p:to>
                                        <p:strVal val="visible"/>
                                      </p:to>
                                    </p:set>
                                    <p:animEffect filter="fade" transition="in">
                                      <p:cBhvr>
                                        <p:cTn dur="1000"/>
                                        <p:tgtEl>
                                          <p:spTgt spid="1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3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61" name="Google Shape;161;p3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162" name="Google Shape;162;p31"/>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63" name="Google Shape;163;p31"/>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64" name="Google Shape;164;p31"/>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0" lvl="0" marL="0" rtl="0" algn="l">
              <a:lnSpc>
                <a:spcPct val="115000"/>
              </a:lnSpc>
              <a:spcBef>
                <a:spcPts val="1200"/>
              </a:spcBef>
              <a:spcAft>
                <a:spcPts val="0"/>
              </a:spcAft>
              <a:buNone/>
            </a:pPr>
            <a:r>
              <a:rPr lang="en-GB" sz="1800">
                <a:latin typeface="ABeeZee"/>
                <a:ea typeface="ABeeZee"/>
                <a:cs typeface="ABeeZee"/>
                <a:sym typeface="ABeeZee"/>
              </a:rPr>
              <a:t>In three groups, come up with a short definition for the following:</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Group 1 - Hauora</a:t>
            </a:r>
            <a:br>
              <a:rPr lang="en-GB" sz="1800">
                <a:latin typeface="ABeeZee"/>
                <a:ea typeface="ABeeZee"/>
                <a:cs typeface="ABeeZee"/>
                <a:sym typeface="ABeeZee"/>
              </a:rPr>
            </a:br>
            <a:r>
              <a:rPr lang="en-GB" sz="1800">
                <a:latin typeface="ABeeZee"/>
                <a:ea typeface="ABeeZee"/>
                <a:cs typeface="ABeeZee"/>
                <a:sym typeface="ABeeZee"/>
              </a:rPr>
              <a:t>Group 2 - Strategies</a:t>
            </a:r>
            <a:br>
              <a:rPr lang="en-GB" sz="1800">
                <a:latin typeface="ABeeZee"/>
                <a:ea typeface="ABeeZee"/>
                <a:cs typeface="ABeeZee"/>
                <a:sym typeface="ABeeZee"/>
              </a:rPr>
            </a:br>
            <a:r>
              <a:rPr lang="en-GB" sz="1800">
                <a:latin typeface="ABeeZee"/>
                <a:ea typeface="ABeeZee"/>
                <a:cs typeface="ABeeZee"/>
                <a:sym typeface="ABeeZee"/>
              </a:rPr>
              <a:t>Group 3 - Attitudes &amp; Values</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Put your definition on the next slide.</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165" name="Google Shape;165;p31" title="15 Minute Timer">
            <a:hlinkClick r:id="rId4"/>
          </p:cNvPr>
          <p:cNvPicPr preferRelativeResize="0"/>
          <p:nvPr/>
        </p:nvPicPr>
        <p:blipFill>
          <a:blip r:embed="rId5">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65"/>
                                        </p:tgtEl>
                                        <p:attrNameLst>
                                          <p:attrName>style.visibility</p:attrName>
                                        </p:attrNameLst>
                                      </p:cBhvr>
                                      <p:to>
                                        <p:strVal val="visible"/>
                                      </p:to>
                                    </p:set>
                                    <p:animEffect filter="fade" transition="in">
                                      <p:cBhvr>
                                        <p:cTn dur="1000"/>
                                        <p:tgtEl>
                                          <p:spTgt spid="16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p3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171" name="Google Shape;171;p3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172" name="Google Shape;172;p32"/>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173" name="Google Shape;173;p32"/>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174" name="Google Shape;174;p32"/>
          <p:cNvSpPr txBox="1"/>
          <p:nvPr/>
        </p:nvSpPr>
        <p:spPr>
          <a:xfrm>
            <a:off x="426825" y="128625"/>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 - </a:t>
            </a:r>
            <a:r>
              <a:rPr lang="en-GB" sz="3600">
                <a:latin typeface="Luckiest Guy"/>
                <a:ea typeface="Luckiest Guy"/>
                <a:cs typeface="Luckiest Guy"/>
                <a:sym typeface="Luckiest Guy"/>
              </a:rPr>
              <a:t>definitions</a:t>
            </a:r>
            <a:endParaRPr b="1" sz="3600">
              <a:latin typeface="Jost"/>
              <a:ea typeface="Jost"/>
              <a:cs typeface="Jost"/>
              <a:sym typeface="Jost"/>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Luckiest Guy"/>
                <a:ea typeface="Luckiest Guy"/>
                <a:cs typeface="Luckiest Guy"/>
                <a:sym typeface="Luckiest Guy"/>
              </a:rPr>
              <a:t>Hauora - </a:t>
            </a:r>
            <a:endParaRPr sz="1800">
              <a:latin typeface="Luckiest Guy"/>
              <a:ea typeface="Luckiest Guy"/>
              <a:cs typeface="Luckiest Guy"/>
              <a:sym typeface="Luckiest Guy"/>
            </a:endParaRPr>
          </a:p>
          <a:p>
            <a:pPr indent="0" lvl="0" marL="0" rtl="0" algn="l">
              <a:lnSpc>
                <a:spcPct val="115000"/>
              </a:lnSpc>
              <a:spcBef>
                <a:spcPts val="1200"/>
              </a:spcBef>
              <a:spcAft>
                <a:spcPts val="0"/>
              </a:spcAft>
              <a:buNone/>
            </a:pPr>
            <a:r>
              <a:t/>
            </a:r>
            <a:endParaRPr sz="1800">
              <a:latin typeface="Luckiest Guy"/>
              <a:ea typeface="Luckiest Guy"/>
              <a:cs typeface="Luckiest Guy"/>
              <a:sym typeface="Luckiest Guy"/>
            </a:endParaRPr>
          </a:p>
          <a:p>
            <a:pPr indent="0" lvl="0" marL="0" rtl="0" algn="l">
              <a:lnSpc>
                <a:spcPct val="115000"/>
              </a:lnSpc>
              <a:spcBef>
                <a:spcPts val="1200"/>
              </a:spcBef>
              <a:spcAft>
                <a:spcPts val="0"/>
              </a:spcAft>
              <a:buNone/>
            </a:pPr>
            <a:r>
              <a:rPr lang="en-GB" sz="1800">
                <a:latin typeface="Luckiest Guy"/>
                <a:ea typeface="Luckiest Guy"/>
                <a:cs typeface="Luckiest Guy"/>
                <a:sym typeface="Luckiest Guy"/>
              </a:rPr>
              <a:t>Strategies</a:t>
            </a:r>
            <a:r>
              <a:rPr lang="en-GB" sz="1800">
                <a:latin typeface="ABeeZee"/>
                <a:ea typeface="ABeeZee"/>
                <a:cs typeface="ABeeZee"/>
                <a:sym typeface="ABeeZee"/>
              </a:rPr>
              <a:t> - </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Luckiest Guy"/>
                <a:ea typeface="Luckiest Guy"/>
                <a:cs typeface="Luckiest Guy"/>
                <a:sym typeface="Luckiest Guy"/>
              </a:rPr>
              <a:t>Attitudes &amp; Values</a:t>
            </a:r>
            <a:r>
              <a:rPr lang="en-GB" sz="1800">
                <a:latin typeface="ABeeZee"/>
                <a:ea typeface="ABeeZee"/>
                <a:cs typeface="ABeeZee"/>
                <a:sym typeface="ABeeZee"/>
              </a:rPr>
              <a:t> - </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pic>
        <p:nvPicPr>
          <p:cNvPr descr="AC Slides-01.jpeg" id="179" name="Google Shape;179;p33"/>
          <p:cNvPicPr preferRelativeResize="0"/>
          <p:nvPr/>
        </p:nvPicPr>
        <p:blipFill>
          <a:blip r:embed="rId3">
            <a:alphaModFix/>
          </a:blip>
          <a:stretch>
            <a:fillRect/>
          </a:stretch>
        </p:blipFill>
        <p:spPr>
          <a:xfrm>
            <a:off x="0" y="0"/>
            <a:ext cx="9144000" cy="5143500"/>
          </a:xfrm>
          <a:prstGeom prst="rect">
            <a:avLst/>
          </a:prstGeom>
          <a:noFill/>
          <a:ln>
            <a:noFill/>
          </a:ln>
        </p:spPr>
      </p:pic>
      <p:sp>
        <p:nvSpPr>
          <p:cNvPr id="180" name="Google Shape;180;p3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p3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82" name="Google Shape;182;p3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Signing off</a:t>
            </a:r>
            <a:endParaRPr sz="1800">
              <a:solidFill>
                <a:schemeClr val="dk1"/>
              </a:solidFill>
              <a:latin typeface="ABeeZee"/>
              <a:ea typeface="ABeeZee"/>
              <a:cs typeface="ABeeZee"/>
              <a:sym typeface="ABeeZee"/>
            </a:endParaRPr>
          </a:p>
          <a:p>
            <a:pPr indent="-349250" lvl="0" marL="457200" rtl="0" algn="l">
              <a:lnSpc>
                <a:spcPct val="115000"/>
              </a:lnSpc>
              <a:spcBef>
                <a:spcPts val="1200"/>
              </a:spcBef>
              <a:spcAft>
                <a:spcPts val="0"/>
              </a:spcAft>
              <a:buSzPts val="1900"/>
              <a:buFont typeface="ABeeZee"/>
              <a:buChar char="●"/>
            </a:pPr>
            <a:r>
              <a:rPr lang="en-GB" sz="1900">
                <a:latin typeface="ABeeZee"/>
                <a:ea typeface="ABeeZee"/>
                <a:cs typeface="ABeeZee"/>
                <a:sym typeface="ABeeZee"/>
              </a:rPr>
              <a:t>Must see evidence that you have tried to complete assessment work in this course</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If you have yet to gain any credits in this course the focus for you will be selecting an assessment to resub and discuss with me to work on over the next few weeks - signing off unlikely to be an option</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If you have handed in all </a:t>
            </a:r>
            <a:r>
              <a:rPr lang="en-GB" sz="1900">
                <a:latin typeface="ABeeZee"/>
                <a:ea typeface="ABeeZee"/>
                <a:cs typeface="ABeeZee"/>
                <a:sym typeface="ABeeZee"/>
              </a:rPr>
              <a:t>your assessments in this course and are tracking well then consideration will be given for signing out once you have attempted a practice exam for our external assessment</a:t>
            </a:r>
            <a:endParaRPr sz="1900">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83" name="Google Shape;183;p3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4" name="Google Shape;184;p33"/>
          <p:cNvSpPr txBox="1"/>
          <p:nvPr/>
        </p:nvSpPr>
        <p:spPr>
          <a:xfrm flipH="1" rot="-5400000">
            <a:off x="-624325" y="1886262"/>
            <a:ext cx="39726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4500">
                <a:solidFill>
                  <a:srgbClr val="FFFFFF"/>
                </a:solidFill>
                <a:latin typeface="Luckiest Guy"/>
                <a:ea typeface="Luckiest Guy"/>
                <a:cs typeface="Luckiest Guy"/>
                <a:sym typeface="Luckiest Guy"/>
              </a:rPr>
              <a:t>Y12 sign off</a:t>
            </a:r>
            <a:endParaRPr sz="4000">
              <a:solidFill>
                <a:srgbClr val="FFFFFF"/>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pic>
        <p:nvPicPr>
          <p:cNvPr descr="AC Slides-01.jpeg" id="189" name="Google Shape;189;p34"/>
          <p:cNvPicPr preferRelativeResize="0"/>
          <p:nvPr/>
        </p:nvPicPr>
        <p:blipFill>
          <a:blip r:embed="rId3">
            <a:alphaModFix/>
          </a:blip>
          <a:stretch>
            <a:fillRect/>
          </a:stretch>
        </p:blipFill>
        <p:spPr>
          <a:xfrm>
            <a:off x="0" y="0"/>
            <a:ext cx="9144000" cy="5143500"/>
          </a:xfrm>
          <a:prstGeom prst="rect">
            <a:avLst/>
          </a:prstGeom>
          <a:noFill/>
          <a:ln>
            <a:noFill/>
          </a:ln>
        </p:spPr>
      </p:pic>
      <p:sp>
        <p:nvSpPr>
          <p:cNvPr id="190" name="Google Shape;190;p3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3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192" name="Google Shape;192;p3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2.1 - analyse a adolescent health issue</a:t>
            </a:r>
            <a:endParaRPr sz="1800">
              <a:solidFill>
                <a:schemeClr val="dk1"/>
              </a:solidFill>
              <a:latin typeface="ABeeZee"/>
              <a:ea typeface="ABeeZee"/>
              <a:cs typeface="ABeeZee"/>
              <a:sym typeface="ABeeZee"/>
            </a:endParaRPr>
          </a:p>
          <a:p>
            <a:pPr indent="-349250" lvl="0" marL="457200" rtl="0" algn="l">
              <a:lnSpc>
                <a:spcPct val="115000"/>
              </a:lnSpc>
              <a:spcBef>
                <a:spcPts val="1200"/>
              </a:spcBef>
              <a:spcAft>
                <a:spcPts val="0"/>
              </a:spcAft>
              <a:buSzPts val="1900"/>
              <a:buFont typeface="ABeeZee"/>
              <a:buChar char="●"/>
            </a:pPr>
            <a:r>
              <a:rPr lang="en-GB" sz="1900">
                <a:latin typeface="ABeeZee"/>
                <a:ea typeface="ABeeZee"/>
                <a:cs typeface="ABeeZee"/>
                <a:sym typeface="ABeeZee"/>
              </a:rPr>
              <a:t>External - 5 credits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Thursday 27 November @ 2pm</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Written exam where you have to analyse a adolescent health issue, potential examples:</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lang="en-GB" sz="1900">
                <a:latin typeface="ABeeZee"/>
                <a:ea typeface="ABeeZee"/>
                <a:cs typeface="ABeeZee"/>
                <a:sym typeface="ABeeZee"/>
              </a:rPr>
              <a:t>Mental Health</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lang="en-GB" sz="1900">
                <a:latin typeface="ABeeZee"/>
                <a:ea typeface="ABeeZee"/>
                <a:cs typeface="ABeeZee"/>
                <a:sym typeface="ABeeZee"/>
              </a:rPr>
              <a:t>Vaping</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lang="en-GB" sz="1900">
                <a:latin typeface="ABeeZee"/>
                <a:ea typeface="ABeeZee"/>
                <a:cs typeface="ABeeZee"/>
                <a:sym typeface="ABeeZee"/>
              </a:rPr>
              <a:t>Alcohol</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Important to understand key concepts:</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b="1" lang="en-GB" sz="1900">
                <a:latin typeface="ABeeZee"/>
                <a:ea typeface="ABeeZee"/>
                <a:cs typeface="ABeeZee"/>
                <a:sym typeface="ABeeZee"/>
              </a:rPr>
              <a:t>Hauora </a:t>
            </a:r>
            <a:r>
              <a:rPr lang="en-GB" sz="1900">
                <a:latin typeface="ABeeZee"/>
                <a:ea typeface="ABeeZee"/>
                <a:cs typeface="ABeeZee"/>
                <a:sym typeface="ABeeZee"/>
              </a:rPr>
              <a:t>- physical, social, mental, spiritual</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b="1" lang="en-GB" sz="1900">
                <a:latin typeface="ABeeZee"/>
                <a:ea typeface="ABeeZee"/>
                <a:cs typeface="ABeeZee"/>
                <a:sym typeface="ABeeZee"/>
              </a:rPr>
              <a:t>Factors/</a:t>
            </a:r>
            <a:r>
              <a:rPr b="1" lang="en-GB" sz="1900">
                <a:latin typeface="ABeeZee"/>
                <a:ea typeface="ABeeZee"/>
                <a:cs typeface="ABeeZee"/>
                <a:sym typeface="ABeeZee"/>
              </a:rPr>
              <a:t>Strategies </a:t>
            </a:r>
            <a:r>
              <a:rPr lang="en-GB" sz="1900">
                <a:latin typeface="ABeeZee"/>
                <a:ea typeface="ABeeZee"/>
                <a:cs typeface="ABeeZee"/>
                <a:sym typeface="ABeeZee"/>
              </a:rPr>
              <a:t>- personal, interpersonal societal</a:t>
            </a:r>
            <a:endParaRPr sz="1900">
              <a:latin typeface="ABeeZee"/>
              <a:ea typeface="ABeeZee"/>
              <a:cs typeface="ABeeZee"/>
              <a:sym typeface="ABeeZee"/>
            </a:endParaRPr>
          </a:p>
          <a:p>
            <a:pPr indent="-349250" lvl="1" marL="914400" rtl="0" algn="l">
              <a:lnSpc>
                <a:spcPct val="115000"/>
              </a:lnSpc>
              <a:spcBef>
                <a:spcPts val="0"/>
              </a:spcBef>
              <a:spcAft>
                <a:spcPts val="0"/>
              </a:spcAft>
              <a:buSzPts val="1900"/>
              <a:buFont typeface="ABeeZee"/>
              <a:buChar char="○"/>
            </a:pPr>
            <a:r>
              <a:rPr b="1" lang="en-GB" sz="1900">
                <a:latin typeface="ABeeZee"/>
                <a:ea typeface="ABeeZee"/>
                <a:cs typeface="ABeeZee"/>
                <a:sym typeface="ABeeZee"/>
              </a:rPr>
              <a:t>Attitudes &amp; Values</a:t>
            </a:r>
            <a:endParaRPr b="1" sz="19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193" name="Google Shape;193;p3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4" name="Google Shape;194;p34"/>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Health external</a:t>
            </a:r>
            <a:endParaRPr sz="4100">
              <a:solidFill>
                <a:srgbClr val="FFFFFF"/>
              </a:solidFill>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pic>
        <p:nvPicPr>
          <p:cNvPr descr="AC Slides-01.jpeg" id="199" name="Google Shape;199;p35"/>
          <p:cNvPicPr preferRelativeResize="0"/>
          <p:nvPr/>
        </p:nvPicPr>
        <p:blipFill>
          <a:blip r:embed="rId3">
            <a:alphaModFix/>
          </a:blip>
          <a:stretch>
            <a:fillRect/>
          </a:stretch>
        </p:blipFill>
        <p:spPr>
          <a:xfrm>
            <a:off x="0" y="0"/>
            <a:ext cx="9144000" cy="5143500"/>
          </a:xfrm>
          <a:prstGeom prst="rect">
            <a:avLst/>
          </a:prstGeom>
          <a:noFill/>
          <a:ln>
            <a:noFill/>
          </a:ln>
        </p:spPr>
      </p:pic>
      <p:sp>
        <p:nvSpPr>
          <p:cNvPr id="200" name="Google Shape;200;p3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3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02" name="Google Shape;202;p3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500">
                <a:latin typeface="Luckiest Guy"/>
                <a:ea typeface="Luckiest Guy"/>
                <a:cs typeface="Luckiest Guy"/>
                <a:sym typeface="Luckiest Guy"/>
              </a:rPr>
              <a:t>In pairs…</a:t>
            </a:r>
            <a:endParaRPr sz="2500">
              <a:latin typeface="Luckiest Guy"/>
              <a:ea typeface="Luckiest Guy"/>
              <a:cs typeface="Luckiest Guy"/>
              <a:sym typeface="Luckiest Guy"/>
            </a:endParaRPr>
          </a:p>
          <a:p>
            <a:pPr indent="0" lvl="0" marL="0" rtl="0" algn="l">
              <a:lnSpc>
                <a:spcPct val="115000"/>
              </a:lnSpc>
              <a:spcBef>
                <a:spcPts val="1200"/>
              </a:spcBef>
              <a:spcAft>
                <a:spcPts val="0"/>
              </a:spcAft>
              <a:buNone/>
            </a:pPr>
            <a:r>
              <a:rPr lang="en-GB" sz="1800">
                <a:latin typeface="ABeeZee"/>
                <a:ea typeface="ABeeZee"/>
                <a:cs typeface="ABeeZee"/>
                <a:sym typeface="ABeeZee"/>
              </a:rPr>
              <a:t>List 6-8 </a:t>
            </a:r>
            <a:r>
              <a:rPr lang="en-GB" sz="1800">
                <a:latin typeface="ABeeZee"/>
                <a:ea typeface="ABeeZee"/>
                <a:cs typeface="ABeeZee"/>
                <a:sym typeface="ABeeZee"/>
              </a:rPr>
              <a:t>ways</a:t>
            </a:r>
            <a:r>
              <a:rPr lang="en-GB" sz="1800">
                <a:latin typeface="ABeeZee"/>
                <a:ea typeface="ABeeZee"/>
                <a:cs typeface="ABeeZee"/>
                <a:sym typeface="ABeeZee"/>
              </a:rPr>
              <a:t> Vaping could impact our Hauora:</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Physical (Tinana)</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Mental (Hinengaro)</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Social (Whanau)</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Spiritual (Wairua)</a:t>
            </a:r>
            <a:endParaRPr b="1" sz="18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03" name="Google Shape;203;p3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4" name="Google Shape;204;p35"/>
          <p:cNvSpPr txBox="1"/>
          <p:nvPr/>
        </p:nvSpPr>
        <p:spPr>
          <a:xfrm flipH="1" rot="-5400000">
            <a:off x="-9594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Hauora task</a:t>
            </a:r>
            <a:endParaRPr sz="4100">
              <a:solidFill>
                <a:srgbClr val="FFFFFF"/>
              </a:solidFill>
            </a:endParaRPr>
          </a:p>
        </p:txBody>
      </p:sp>
      <p:pic>
        <p:nvPicPr>
          <p:cNvPr descr="This timer silently counts down to 0:00, then alerts you that time is up with a gentle beep sound." id="205" name="Google Shape;205;p35" title="10 Minute Timer">
            <a:hlinkClick r:id="rId4"/>
          </p:cNvPr>
          <p:cNvPicPr preferRelativeResize="0"/>
          <p:nvPr/>
        </p:nvPicPr>
        <p:blipFill>
          <a:blip r:embed="rId5">
            <a:alphaModFix/>
          </a:blip>
          <a:stretch>
            <a:fillRect/>
          </a:stretch>
        </p:blipFill>
        <p:spPr>
          <a:xfrm>
            <a:off x="6903975" y="3117588"/>
            <a:ext cx="2153400" cy="12112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5"/>
                                        </p:tgtEl>
                                        <p:attrNameLst>
                                          <p:attrName>style.visibility</p:attrName>
                                        </p:attrNameLst>
                                      </p:cBhvr>
                                      <p:to>
                                        <p:strVal val="visible"/>
                                      </p:to>
                                    </p:set>
                                    <p:animEffect filter="fade" transition="in">
                                      <p:cBhvr>
                                        <p:cTn dur="1000"/>
                                        <p:tgtEl>
                                          <p:spTgt spid="20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pic>
        <p:nvPicPr>
          <p:cNvPr descr="AC Slides-01.jpeg" id="210" name="Google Shape;210;p36"/>
          <p:cNvPicPr preferRelativeResize="0"/>
          <p:nvPr/>
        </p:nvPicPr>
        <p:blipFill>
          <a:blip r:embed="rId3">
            <a:alphaModFix/>
          </a:blip>
          <a:stretch>
            <a:fillRect/>
          </a:stretch>
        </p:blipFill>
        <p:spPr>
          <a:xfrm>
            <a:off x="0" y="0"/>
            <a:ext cx="9144000" cy="5143500"/>
          </a:xfrm>
          <a:prstGeom prst="rect">
            <a:avLst/>
          </a:prstGeom>
          <a:noFill/>
          <a:ln>
            <a:noFill/>
          </a:ln>
        </p:spPr>
      </p:pic>
      <p:sp>
        <p:nvSpPr>
          <p:cNvPr id="211" name="Google Shape;211;p3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3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13" name="Google Shape;213;p3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500">
                <a:latin typeface="Luckiest Guy"/>
                <a:ea typeface="Luckiest Guy"/>
                <a:cs typeface="Luckiest Guy"/>
                <a:sym typeface="Luckiest Guy"/>
              </a:rPr>
              <a:t>In pairs…</a:t>
            </a:r>
            <a:endParaRPr sz="2500">
              <a:latin typeface="Luckiest Guy"/>
              <a:ea typeface="Luckiest Guy"/>
              <a:cs typeface="Luckiest Guy"/>
              <a:sym typeface="Luckiest Guy"/>
            </a:endParaRPr>
          </a:p>
          <a:p>
            <a:pPr indent="0" lvl="0" marL="0" rtl="0" algn="l">
              <a:lnSpc>
                <a:spcPct val="115000"/>
              </a:lnSpc>
              <a:spcBef>
                <a:spcPts val="1200"/>
              </a:spcBef>
              <a:spcAft>
                <a:spcPts val="0"/>
              </a:spcAft>
              <a:buNone/>
            </a:pPr>
            <a:r>
              <a:rPr lang="en-GB" sz="1800">
                <a:latin typeface="ABeeZee"/>
                <a:ea typeface="ABeeZee"/>
                <a:cs typeface="ABeeZee"/>
                <a:sym typeface="ABeeZee"/>
              </a:rPr>
              <a:t>List 6-8 Personal, Interpersonal and Societal factors that may influence adolescent to vape or develop a vaping problem: </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Personal Factors</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Interpersonal Factors</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Societal Factors</a:t>
            </a:r>
            <a:endParaRPr b="1" sz="18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14" name="Google Shape;214;p3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36"/>
          <p:cNvSpPr txBox="1"/>
          <p:nvPr/>
        </p:nvSpPr>
        <p:spPr>
          <a:xfrm flipH="1" rot="-5400000">
            <a:off x="-781117"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factors</a:t>
            </a:r>
            <a:endParaRPr sz="4100">
              <a:solidFill>
                <a:srgbClr val="FFFFFF"/>
              </a:solidFill>
            </a:endParaRPr>
          </a:p>
        </p:txBody>
      </p:sp>
      <p:pic>
        <p:nvPicPr>
          <p:cNvPr descr="This timer silently counts down to 0:00, then alerts you that time is up with a gentle beep sound." id="216" name="Google Shape;216;p36" title="10 Minute Timer">
            <a:hlinkClick r:id="rId4"/>
          </p:cNvPr>
          <p:cNvPicPr preferRelativeResize="0"/>
          <p:nvPr/>
        </p:nvPicPr>
        <p:blipFill>
          <a:blip r:embed="rId5">
            <a:alphaModFix/>
          </a:blip>
          <a:stretch>
            <a:fillRect/>
          </a:stretch>
        </p:blipFill>
        <p:spPr>
          <a:xfrm>
            <a:off x="6903975" y="3117588"/>
            <a:ext cx="2153400" cy="1211288"/>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6"/>
                                        </p:tgtEl>
                                        <p:attrNameLst>
                                          <p:attrName>style.visibility</p:attrName>
                                        </p:attrNameLst>
                                      </p:cBhvr>
                                      <p:to>
                                        <p:strVal val="visible"/>
                                      </p:to>
                                    </p:set>
                                    <p:animEffect filter="fade" transition="in">
                                      <p:cBhvr>
                                        <p:cTn dur="1000"/>
                                        <p:tgtEl>
                                          <p:spTgt spid="2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pic>
        <p:nvPicPr>
          <p:cNvPr descr="AC Slides-01.jpeg" id="221" name="Google Shape;221;p37"/>
          <p:cNvPicPr preferRelativeResize="0"/>
          <p:nvPr/>
        </p:nvPicPr>
        <p:blipFill>
          <a:blip r:embed="rId3">
            <a:alphaModFix/>
          </a:blip>
          <a:stretch>
            <a:fillRect/>
          </a:stretch>
        </p:blipFill>
        <p:spPr>
          <a:xfrm>
            <a:off x="0" y="0"/>
            <a:ext cx="9144000" cy="5143500"/>
          </a:xfrm>
          <a:prstGeom prst="rect">
            <a:avLst/>
          </a:prstGeom>
          <a:noFill/>
          <a:ln>
            <a:noFill/>
          </a:ln>
        </p:spPr>
      </p:pic>
      <p:sp>
        <p:nvSpPr>
          <p:cNvPr id="222" name="Google Shape;222;p3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3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24" name="Google Shape;224;p3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lnSpc>
                <a:spcPct val="115000"/>
              </a:lnSpc>
              <a:spcBef>
                <a:spcPts val="1200"/>
              </a:spcBef>
              <a:spcAft>
                <a:spcPts val="0"/>
              </a:spcAft>
              <a:buNone/>
            </a:pPr>
            <a:r>
              <a:rPr lang="en-GB" sz="2500">
                <a:latin typeface="Luckiest Guy"/>
                <a:ea typeface="Luckiest Guy"/>
                <a:cs typeface="Luckiest Guy"/>
                <a:sym typeface="Luckiest Guy"/>
              </a:rPr>
              <a:t>In pairs…</a:t>
            </a:r>
            <a:endParaRPr sz="2500">
              <a:latin typeface="Luckiest Guy"/>
              <a:ea typeface="Luckiest Guy"/>
              <a:cs typeface="Luckiest Guy"/>
              <a:sym typeface="Luckiest Guy"/>
            </a:endParaRPr>
          </a:p>
          <a:p>
            <a:pPr indent="0" lvl="0" marL="0" rtl="0" algn="l">
              <a:lnSpc>
                <a:spcPct val="115000"/>
              </a:lnSpc>
              <a:spcBef>
                <a:spcPts val="1200"/>
              </a:spcBef>
              <a:spcAft>
                <a:spcPts val="0"/>
              </a:spcAft>
              <a:buNone/>
            </a:pPr>
            <a:r>
              <a:rPr lang="en-GB" sz="1800">
                <a:latin typeface="ABeeZee"/>
                <a:ea typeface="ABeeZee"/>
                <a:cs typeface="ABeeZee"/>
                <a:sym typeface="ABeeZee"/>
              </a:rPr>
              <a:t>List 5 Personal, Interpersonal and Societal strategies that may influence adolescent to vape or develop a vaping problem: </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Personal Strategies</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Interpersonal Strategies</a:t>
            </a:r>
            <a:endParaRPr b="1" sz="1800">
              <a:latin typeface="ABeeZee"/>
              <a:ea typeface="ABeeZee"/>
              <a:cs typeface="ABeeZee"/>
              <a:sym typeface="ABeeZee"/>
            </a:endParaRPr>
          </a:p>
          <a:p>
            <a:pPr indent="0" lvl="0" marL="0" rtl="0" algn="l">
              <a:lnSpc>
                <a:spcPct val="115000"/>
              </a:lnSpc>
              <a:spcBef>
                <a:spcPts val="1200"/>
              </a:spcBef>
              <a:spcAft>
                <a:spcPts val="0"/>
              </a:spcAft>
              <a:buNone/>
            </a:pPr>
            <a:r>
              <a:rPr b="1" lang="en-GB" sz="1800">
                <a:latin typeface="ABeeZee"/>
                <a:ea typeface="ABeeZee"/>
                <a:cs typeface="ABeeZee"/>
                <a:sym typeface="ABeeZee"/>
              </a:rPr>
              <a:t>Societal Strategies</a:t>
            </a:r>
            <a:endParaRPr b="1" sz="18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25" name="Google Shape;225;p3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37"/>
          <p:cNvSpPr txBox="1"/>
          <p:nvPr/>
        </p:nvSpPr>
        <p:spPr>
          <a:xfrm flipH="1" rot="-5400000">
            <a:off x="-781117"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strategies</a:t>
            </a:r>
            <a:endParaRPr sz="4100">
              <a:solidFill>
                <a:srgbClr val="FFFFFF"/>
              </a:solidFill>
            </a:endParaRPr>
          </a:p>
        </p:txBody>
      </p:sp>
      <p:pic>
        <p:nvPicPr>
          <p:cNvPr descr="This timer silently counts down to 0:00, then alerts you that time is up with a gentle beep sound." id="227" name="Google Shape;227;p37" title="15 Minute Timer">
            <a:hlinkClick r:id="rId4"/>
          </p:cNvPr>
          <p:cNvPicPr preferRelativeResize="0"/>
          <p:nvPr/>
        </p:nvPicPr>
        <p:blipFill>
          <a:blip r:embed="rId5">
            <a:alphaModFix/>
          </a:blip>
          <a:stretch>
            <a:fillRect/>
          </a:stretch>
        </p:blipFill>
        <p:spPr>
          <a:xfrm>
            <a:off x="6193650" y="3101325"/>
            <a:ext cx="2448075" cy="137705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pic>
        <p:nvPicPr>
          <p:cNvPr descr="AC Slides-01.jpeg" id="232" name="Google Shape;232;p38"/>
          <p:cNvPicPr preferRelativeResize="0"/>
          <p:nvPr/>
        </p:nvPicPr>
        <p:blipFill>
          <a:blip r:embed="rId3">
            <a:alphaModFix/>
          </a:blip>
          <a:stretch>
            <a:fillRect/>
          </a:stretch>
        </p:blipFill>
        <p:spPr>
          <a:xfrm>
            <a:off x="0" y="0"/>
            <a:ext cx="9144000" cy="5143500"/>
          </a:xfrm>
          <a:prstGeom prst="rect">
            <a:avLst/>
          </a:prstGeom>
          <a:noFill/>
          <a:ln>
            <a:noFill/>
          </a:ln>
        </p:spPr>
      </p:pic>
      <p:sp>
        <p:nvSpPr>
          <p:cNvPr id="233" name="Google Shape;233;p3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4" name="Google Shape;234;p3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35" name="Google Shape;235;p3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2.1 - practice exam wk.3</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349250" lvl="0" marL="457200" rtl="0" algn="l">
              <a:lnSpc>
                <a:spcPct val="115000"/>
              </a:lnSpc>
              <a:spcBef>
                <a:spcPts val="1200"/>
              </a:spcBef>
              <a:spcAft>
                <a:spcPts val="0"/>
              </a:spcAft>
              <a:buSzPts val="1900"/>
              <a:buFont typeface="ABeeZee"/>
              <a:buChar char="●"/>
            </a:pPr>
            <a:r>
              <a:rPr lang="en-GB" sz="1900">
                <a:latin typeface="ABeeZee"/>
                <a:ea typeface="ABeeZee"/>
                <a:cs typeface="ABeeZee"/>
                <a:sym typeface="ABeeZee"/>
              </a:rPr>
              <a:t>Complete practice exam tomorrow in class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Must be done individually</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Exam conditions - no devices, no talking, no phones!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Marking will be done in time for Week 2s lessons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Will go through some of the answers as a class next week</a:t>
            </a:r>
            <a:endParaRPr sz="19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36" name="Google Shape;236;p3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38"/>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Practice exam</a:t>
            </a:r>
            <a:endParaRPr sz="4100">
              <a:solidFill>
                <a:srgbClr val="FFFFFF"/>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1" name="Shape 241"/>
        <p:cNvGrpSpPr/>
        <p:nvPr/>
      </p:nvGrpSpPr>
      <p:grpSpPr>
        <a:xfrm>
          <a:off x="0" y="0"/>
          <a:ext cx="0" cy="0"/>
          <a:chOff x="0" y="0"/>
          <a:chExt cx="0" cy="0"/>
        </a:xfrm>
      </p:grpSpPr>
      <p:pic>
        <p:nvPicPr>
          <p:cNvPr descr="AC Slides-01.jpeg" id="242" name="Google Shape;242;p39"/>
          <p:cNvPicPr preferRelativeResize="0"/>
          <p:nvPr/>
        </p:nvPicPr>
        <p:blipFill>
          <a:blip r:embed="rId3">
            <a:alphaModFix/>
          </a:blip>
          <a:stretch>
            <a:fillRect/>
          </a:stretch>
        </p:blipFill>
        <p:spPr>
          <a:xfrm>
            <a:off x="0" y="0"/>
            <a:ext cx="9144000" cy="5143500"/>
          </a:xfrm>
          <a:prstGeom prst="rect">
            <a:avLst/>
          </a:prstGeom>
          <a:noFill/>
          <a:ln>
            <a:noFill/>
          </a:ln>
        </p:spPr>
      </p:pic>
      <p:sp>
        <p:nvSpPr>
          <p:cNvPr id="243" name="Google Shape;243;p39"/>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244" name="Google Shape;244;p39"/>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245" name="Google Shape;245;p39"/>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246" name="Google Shape;246;p39"/>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247" name="Google Shape;247;p39"/>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2</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13 oct - l1</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Google Shape;252;p40"/>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253" name="Google Shape;253;p40"/>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254" name="Google Shape;254;p40"/>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255" name="Google Shape;255;p40"/>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256" name="Google Shape;256;p40"/>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In groups of 4, create a google slide and make a list of all the energy drinks you know</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For each energy drink you list you must find a image of a put this on the slide</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The drinks just need to be the brands - a variety of flavours of each brand does not count!</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The group with the biggest list and which images to match wins</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257" name="Google Shape;257;p40" title="15 Minute Timer">
            <a:hlinkClick r:id="rId4"/>
          </p:cNvPr>
          <p:cNvPicPr preferRelativeResize="0"/>
          <p:nvPr/>
        </p:nvPicPr>
        <p:blipFill>
          <a:blip r:embed="rId5">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1000"/>
                                        <p:tgtEl>
                                          <p:spTgt spid="2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AC Slides-01.jpeg" id="262" name="Google Shape;262;p41"/>
          <p:cNvPicPr preferRelativeResize="0"/>
          <p:nvPr/>
        </p:nvPicPr>
        <p:blipFill>
          <a:blip r:embed="rId3">
            <a:alphaModFix/>
          </a:blip>
          <a:stretch>
            <a:fillRect/>
          </a:stretch>
        </p:blipFill>
        <p:spPr>
          <a:xfrm>
            <a:off x="0" y="0"/>
            <a:ext cx="9144000" cy="5143500"/>
          </a:xfrm>
          <a:prstGeom prst="rect">
            <a:avLst/>
          </a:prstGeom>
          <a:noFill/>
          <a:ln>
            <a:noFill/>
          </a:ln>
        </p:spPr>
      </p:pic>
      <p:sp>
        <p:nvSpPr>
          <p:cNvPr id="263" name="Google Shape;263;p4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65" name="Google Shape;265;p4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2100">
                <a:latin typeface="ABeeZee"/>
                <a:ea typeface="ABeeZee"/>
                <a:cs typeface="ABeeZee"/>
                <a:sym typeface="ABeeZee"/>
              </a:rPr>
              <a:t>Make sense of a youth health issue</a:t>
            </a:r>
            <a:endParaRPr sz="2100">
              <a:latin typeface="ABeeZee"/>
              <a:ea typeface="ABeeZee"/>
              <a:cs typeface="ABeeZee"/>
              <a:sym typeface="ABeeZee"/>
            </a:endParaRPr>
          </a:p>
          <a:p>
            <a:pPr indent="0" lvl="0" marL="0" rtl="0" algn="l">
              <a:spcBef>
                <a:spcPts val="0"/>
              </a:spcBef>
              <a:spcAft>
                <a:spcPts val="0"/>
              </a:spcAft>
              <a:buNone/>
            </a:pPr>
            <a:r>
              <a:t/>
            </a:r>
            <a:endParaRPr sz="2300">
              <a:latin typeface="ABeeZee"/>
              <a:ea typeface="ABeeZee"/>
              <a:cs typeface="ABeeZee"/>
              <a:sym typeface="ABeeZee"/>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49250" lvl="0" marL="457200" rtl="0" algn="l">
              <a:lnSpc>
                <a:spcPct val="115000"/>
              </a:lnSpc>
              <a:spcBef>
                <a:spcPts val="120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short term and long term issues with energy drinks</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impacts energy drinks have on ones hauora</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Explain strategies on P-IP-S levels</a:t>
            </a:r>
            <a:endParaRPr sz="19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66" name="Google Shape;266;p4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pic>
        <p:nvPicPr>
          <p:cNvPr descr="AC Slides-01.jpeg" id="272" name="Google Shape;272;p42"/>
          <p:cNvPicPr preferRelativeResize="0"/>
          <p:nvPr/>
        </p:nvPicPr>
        <p:blipFill>
          <a:blip r:embed="rId3">
            <a:alphaModFix/>
          </a:blip>
          <a:stretch>
            <a:fillRect/>
          </a:stretch>
        </p:blipFill>
        <p:spPr>
          <a:xfrm>
            <a:off x="0" y="0"/>
            <a:ext cx="9144000" cy="5143500"/>
          </a:xfrm>
          <a:prstGeom prst="rect">
            <a:avLst/>
          </a:prstGeom>
          <a:noFill/>
          <a:ln>
            <a:noFill/>
          </a:ln>
        </p:spPr>
      </p:pic>
      <p:sp>
        <p:nvSpPr>
          <p:cNvPr id="273" name="Google Shape;273;p4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75" name="Google Shape;275;p4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In groups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2100">
                <a:latin typeface="ABeeZee"/>
                <a:ea typeface="ABeeZee"/>
                <a:cs typeface="ABeeZee"/>
                <a:sym typeface="ABeeZee"/>
              </a:rPr>
              <a:t>Make a list of short term and long term consequences of energy drink use on youth</a:t>
            </a:r>
            <a:endParaRPr sz="19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76" name="Google Shape;276;p4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descr="This timer counts down silently until it reaches 0:00, then a police siren sounds to alert you that time is up." id="278" name="Google Shape;278;p42" title="10 Minute Timer">
            <a:hlinkClick r:id="rId4"/>
          </p:cNvPr>
          <p:cNvPicPr preferRelativeResize="0"/>
          <p:nvPr/>
        </p:nvPicPr>
        <p:blipFill>
          <a:blip r:embed="rId5">
            <a:alphaModFix/>
          </a:blip>
          <a:stretch>
            <a:fillRect/>
          </a:stretch>
        </p:blipFill>
        <p:spPr>
          <a:xfrm>
            <a:off x="2413023" y="3454950"/>
            <a:ext cx="2273900" cy="1279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8"/>
                                        </p:tgtEl>
                                        <p:attrNameLst>
                                          <p:attrName>style.visibility</p:attrName>
                                        </p:attrNameLst>
                                      </p:cBhvr>
                                      <p:to>
                                        <p:strVal val="visible"/>
                                      </p:to>
                                    </p:set>
                                    <p:animEffect filter="fade" transition="in">
                                      <p:cBhvr>
                                        <p:cTn dur="1000"/>
                                        <p:tgtEl>
                                          <p:spTgt spid="2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pic>
        <p:nvPicPr>
          <p:cNvPr descr="AC Slides-01.jpeg" id="283" name="Google Shape;283;p43"/>
          <p:cNvPicPr preferRelativeResize="0"/>
          <p:nvPr/>
        </p:nvPicPr>
        <p:blipFill>
          <a:blip r:embed="rId3">
            <a:alphaModFix/>
          </a:blip>
          <a:stretch>
            <a:fillRect/>
          </a:stretch>
        </p:blipFill>
        <p:spPr>
          <a:xfrm>
            <a:off x="0" y="0"/>
            <a:ext cx="9144000" cy="5143500"/>
          </a:xfrm>
          <a:prstGeom prst="rect">
            <a:avLst/>
          </a:prstGeom>
          <a:noFill/>
          <a:ln>
            <a:noFill/>
          </a:ln>
        </p:spPr>
      </p:pic>
      <p:sp>
        <p:nvSpPr>
          <p:cNvPr id="284" name="Google Shape;284;p4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5" name="Google Shape;285;p4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86" name="Google Shape;286;p4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Energy drinks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a:solidFill>
                  <a:schemeClr val="dk1"/>
                </a:solidFill>
                <a:latin typeface="ABeeZee"/>
                <a:ea typeface="ABeeZee"/>
                <a:cs typeface="ABeeZee"/>
                <a:sym typeface="ABeeZee"/>
              </a:rPr>
              <a:t>As a class we are going to read this article on energy drinks - </a:t>
            </a:r>
            <a:r>
              <a:rPr lang="en-GB" sz="1900" u="sng">
                <a:solidFill>
                  <a:schemeClr val="hlink"/>
                </a:solidFill>
                <a:latin typeface="ABeeZee"/>
                <a:ea typeface="ABeeZee"/>
                <a:cs typeface="ABeeZee"/>
                <a:sym typeface="ABeeZee"/>
                <a:hlinkClick r:id="rId4"/>
              </a:rPr>
              <a:t>link</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87" name="Google Shape;287;p4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4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
        <p:nvSpPr>
          <p:cNvPr id="289" name="Google Shape;289;p43"/>
          <p:cNvSpPr txBox="1"/>
          <p:nvPr/>
        </p:nvSpPr>
        <p:spPr>
          <a:xfrm>
            <a:off x="2505675" y="1879950"/>
            <a:ext cx="6551700" cy="2678100"/>
          </a:xfrm>
          <a:prstGeom prst="rect">
            <a:avLst/>
          </a:prstGeom>
          <a:solidFill>
            <a:srgbClr val="0000FF"/>
          </a:solid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GB" sz="1800">
                <a:solidFill>
                  <a:schemeClr val="lt2"/>
                </a:solidFill>
                <a:latin typeface="ABeeZee"/>
                <a:ea typeface="ABeeZee"/>
                <a:cs typeface="ABeeZee"/>
                <a:sym typeface="ABeeZee"/>
              </a:rPr>
              <a:t>Now in groups…</a:t>
            </a:r>
            <a:endParaRPr sz="1800">
              <a:solidFill>
                <a:schemeClr val="lt2"/>
              </a:solidFill>
              <a:latin typeface="ABeeZee"/>
              <a:ea typeface="ABeeZee"/>
              <a:cs typeface="ABeeZee"/>
              <a:sym typeface="ABeeZee"/>
            </a:endParaRPr>
          </a:p>
          <a:p>
            <a:pPr indent="-342900" lvl="0" marL="457200" rtl="0" algn="l">
              <a:spcBef>
                <a:spcPts val="0"/>
              </a:spcBef>
              <a:spcAft>
                <a:spcPts val="0"/>
              </a:spcAft>
              <a:buClr>
                <a:schemeClr val="lt2"/>
              </a:buClr>
              <a:buSzPts val="1800"/>
              <a:buFont typeface="ABeeZee"/>
              <a:buChar char="●"/>
            </a:pPr>
            <a:r>
              <a:rPr lang="en-GB" sz="1800">
                <a:solidFill>
                  <a:schemeClr val="lt2"/>
                </a:solidFill>
                <a:latin typeface="ABeeZee"/>
                <a:ea typeface="ABeeZee"/>
                <a:cs typeface="ABeeZee"/>
                <a:sym typeface="ABeeZee"/>
              </a:rPr>
              <a:t>Highlight and annotate any key information on the article that relates personal, interpersonal or societal issues for youth energy drink consumption</a:t>
            </a:r>
            <a:endParaRPr sz="1800">
              <a:solidFill>
                <a:schemeClr val="lt2"/>
              </a:solidFill>
              <a:latin typeface="ABeeZee"/>
              <a:ea typeface="ABeeZee"/>
              <a:cs typeface="ABeeZee"/>
              <a:sym typeface="ABeeZee"/>
            </a:endParaRPr>
          </a:p>
          <a:p>
            <a:pPr indent="-342900" lvl="0" marL="457200" rtl="0" algn="l">
              <a:spcBef>
                <a:spcPts val="0"/>
              </a:spcBef>
              <a:spcAft>
                <a:spcPts val="0"/>
              </a:spcAft>
              <a:buClr>
                <a:schemeClr val="lt2"/>
              </a:buClr>
              <a:buSzPts val="1800"/>
              <a:buFont typeface="ABeeZee"/>
              <a:buChar char="●"/>
            </a:pPr>
            <a:r>
              <a:rPr lang="en-GB" sz="1800">
                <a:solidFill>
                  <a:schemeClr val="lt2"/>
                </a:solidFill>
                <a:latin typeface="ABeeZee"/>
                <a:ea typeface="ABeeZee"/>
                <a:cs typeface="ABeeZee"/>
                <a:sym typeface="ABeeZee"/>
              </a:rPr>
              <a:t>Use three different coloured highlighters to represent P-IP-S</a:t>
            </a:r>
            <a:endParaRPr sz="1800">
              <a:solidFill>
                <a:schemeClr val="lt2"/>
              </a:solidFill>
              <a:latin typeface="ABeeZee"/>
              <a:ea typeface="ABeeZee"/>
              <a:cs typeface="ABeeZee"/>
              <a:sym typeface="ABeeZee"/>
            </a:endParaRPr>
          </a:p>
          <a:p>
            <a:pPr indent="0" lvl="0" marL="0" rtl="0" algn="l">
              <a:spcBef>
                <a:spcPts val="0"/>
              </a:spcBef>
              <a:spcAft>
                <a:spcPts val="0"/>
              </a:spcAft>
              <a:buNone/>
            </a:pPr>
            <a:r>
              <a:t/>
            </a:r>
            <a:endParaRPr sz="1800">
              <a:solidFill>
                <a:schemeClr val="lt2"/>
              </a:solidFill>
              <a:latin typeface="ABeeZee"/>
              <a:ea typeface="ABeeZee"/>
              <a:cs typeface="ABeeZee"/>
              <a:sym typeface="ABeeZee"/>
            </a:endParaRPr>
          </a:p>
          <a:p>
            <a:pPr indent="0" lvl="0" marL="0" rtl="0" algn="l">
              <a:spcBef>
                <a:spcPts val="0"/>
              </a:spcBef>
              <a:spcAft>
                <a:spcPts val="0"/>
              </a:spcAft>
              <a:buNone/>
            </a:pPr>
            <a:r>
              <a:rPr lang="en-GB" sz="1800">
                <a:solidFill>
                  <a:schemeClr val="lt2"/>
                </a:solidFill>
                <a:latin typeface="ABeeZee"/>
                <a:ea typeface="ABeeZee"/>
                <a:cs typeface="ABeeZee"/>
                <a:sym typeface="ABeeZee"/>
              </a:rPr>
              <a:t>*annotate means to make short notes of what you have highlighted to make it easier to understand</a:t>
            </a:r>
            <a:endParaRPr sz="1800">
              <a:solidFill>
                <a:schemeClr val="lt2"/>
              </a:solidFill>
              <a:latin typeface="ABeeZee"/>
              <a:ea typeface="ABeeZee"/>
              <a:cs typeface="ABeeZee"/>
              <a:sym typeface="ABeeZee"/>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3" name="Shape 293"/>
        <p:cNvGrpSpPr/>
        <p:nvPr/>
      </p:nvGrpSpPr>
      <p:grpSpPr>
        <a:xfrm>
          <a:off x="0" y="0"/>
          <a:ext cx="0" cy="0"/>
          <a:chOff x="0" y="0"/>
          <a:chExt cx="0" cy="0"/>
        </a:xfrm>
      </p:grpSpPr>
      <p:pic>
        <p:nvPicPr>
          <p:cNvPr descr="AC Slides-01.jpeg" id="294" name="Google Shape;294;p44"/>
          <p:cNvPicPr preferRelativeResize="0"/>
          <p:nvPr/>
        </p:nvPicPr>
        <p:blipFill>
          <a:blip r:embed="rId3">
            <a:alphaModFix/>
          </a:blip>
          <a:stretch>
            <a:fillRect/>
          </a:stretch>
        </p:blipFill>
        <p:spPr>
          <a:xfrm>
            <a:off x="0" y="0"/>
            <a:ext cx="9144000" cy="5143500"/>
          </a:xfrm>
          <a:prstGeom prst="rect">
            <a:avLst/>
          </a:prstGeom>
          <a:noFill/>
          <a:ln>
            <a:noFill/>
          </a:ln>
        </p:spPr>
      </p:pic>
      <p:sp>
        <p:nvSpPr>
          <p:cNvPr id="295" name="Google Shape;295;p4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4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297" name="Google Shape;297;p4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In groups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2100">
                <a:latin typeface="ABeeZee"/>
                <a:ea typeface="ABeeZee"/>
                <a:cs typeface="ABeeZee"/>
                <a:sym typeface="ABeeZee"/>
              </a:rPr>
              <a:t>Identify 3 ways energy drinks have on a young </a:t>
            </a:r>
            <a:r>
              <a:rPr lang="en-GB" sz="2100">
                <a:latin typeface="ABeeZee"/>
                <a:ea typeface="ABeeZee"/>
                <a:cs typeface="ABeeZee"/>
                <a:sym typeface="ABeeZee"/>
              </a:rPr>
              <a:t>person's</a:t>
            </a:r>
            <a:r>
              <a:rPr lang="en-GB" sz="2100">
                <a:latin typeface="ABeeZee"/>
                <a:ea typeface="ABeeZee"/>
                <a:cs typeface="ABeeZee"/>
                <a:sym typeface="ABeeZee"/>
              </a:rPr>
              <a:t> well-being in relation to the four dimensions of their hauora.</a:t>
            </a:r>
            <a:endParaRPr sz="2100">
              <a:latin typeface="ABeeZee"/>
              <a:ea typeface="ABeeZee"/>
              <a:cs typeface="ABeeZee"/>
              <a:sym typeface="ABeeZee"/>
            </a:endParaRPr>
          </a:p>
          <a:p>
            <a:pPr indent="0" lvl="0" marL="0" rtl="0" algn="l">
              <a:lnSpc>
                <a:spcPct val="115000"/>
              </a:lnSpc>
              <a:spcBef>
                <a:spcPts val="1200"/>
              </a:spcBef>
              <a:spcAft>
                <a:spcPts val="0"/>
              </a:spcAft>
              <a:buNone/>
            </a:pPr>
            <a:r>
              <a:rPr lang="en-GB" sz="2100">
                <a:latin typeface="ABeeZee"/>
                <a:ea typeface="ABeeZee"/>
                <a:cs typeface="ABeeZee"/>
                <a:sym typeface="ABeeZee"/>
              </a:rPr>
              <a:t>Write 3 examples for each of the four dimensions - explain briefly the impact</a:t>
            </a:r>
            <a:endParaRPr sz="2100">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298" name="Google Shape;298;p4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4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descr="This timer counts down silently until it reaches 0:00, then a police siren sounds to alert you that time is up." id="300" name="Google Shape;300;p44" title="10 Minute Timer">
            <a:hlinkClick r:id="rId4"/>
          </p:cNvPr>
          <p:cNvPicPr preferRelativeResize="0"/>
          <p:nvPr/>
        </p:nvPicPr>
        <p:blipFill>
          <a:blip r:embed="rId5">
            <a:alphaModFix/>
          </a:blip>
          <a:stretch>
            <a:fillRect/>
          </a:stretch>
        </p:blipFill>
        <p:spPr>
          <a:xfrm>
            <a:off x="2413023" y="3454950"/>
            <a:ext cx="2273900" cy="12790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00"/>
                                        </p:tgtEl>
                                        <p:attrNameLst>
                                          <p:attrName>style.visibility</p:attrName>
                                        </p:attrNameLst>
                                      </p:cBhvr>
                                      <p:to>
                                        <p:strVal val="visible"/>
                                      </p:to>
                                    </p:set>
                                    <p:animEffect filter="fade" transition="in">
                                      <p:cBhvr>
                                        <p:cTn dur="1000"/>
                                        <p:tgtEl>
                                          <p:spTgt spid="3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4" name="Shape 304"/>
        <p:cNvGrpSpPr/>
        <p:nvPr/>
      </p:nvGrpSpPr>
      <p:grpSpPr>
        <a:xfrm>
          <a:off x="0" y="0"/>
          <a:ext cx="0" cy="0"/>
          <a:chOff x="0" y="0"/>
          <a:chExt cx="0" cy="0"/>
        </a:xfrm>
      </p:grpSpPr>
      <p:pic>
        <p:nvPicPr>
          <p:cNvPr descr="AC Slides-01.jpeg" id="305" name="Google Shape;305;p45"/>
          <p:cNvPicPr preferRelativeResize="0"/>
          <p:nvPr/>
        </p:nvPicPr>
        <p:blipFill>
          <a:blip r:embed="rId3">
            <a:alphaModFix/>
          </a:blip>
          <a:stretch>
            <a:fillRect/>
          </a:stretch>
        </p:blipFill>
        <p:spPr>
          <a:xfrm>
            <a:off x="0" y="0"/>
            <a:ext cx="9144000" cy="5143500"/>
          </a:xfrm>
          <a:prstGeom prst="rect">
            <a:avLst/>
          </a:prstGeom>
          <a:noFill/>
          <a:ln>
            <a:noFill/>
          </a:ln>
        </p:spPr>
      </p:pic>
      <p:sp>
        <p:nvSpPr>
          <p:cNvPr id="306" name="Google Shape;306;p4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4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08" name="Google Shape;308;p4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Watch this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u="sng">
                <a:solidFill>
                  <a:schemeClr val="hlink"/>
                </a:solidFill>
                <a:latin typeface="ABeeZee"/>
                <a:ea typeface="ABeeZee"/>
                <a:cs typeface="ABeeZee"/>
                <a:sym typeface="ABeeZee"/>
                <a:hlinkClick r:id="rId4"/>
              </a:rPr>
              <a:t>https://www.youtube.com/watch?v=vTRO_CPuX5Y</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u="sng">
                <a:solidFill>
                  <a:schemeClr val="hlink"/>
                </a:solidFill>
                <a:latin typeface="ABeeZee"/>
                <a:ea typeface="ABeeZee"/>
                <a:cs typeface="ABeeZee"/>
                <a:sym typeface="ABeeZee"/>
                <a:hlinkClick r:id="rId5"/>
              </a:rPr>
              <a:t>NZ Herald</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09" name="Google Shape;309;p4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0" name="Google Shape;310;p4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id="311" name="Google Shape;311;p45"/>
          <p:cNvPicPr preferRelativeResize="0"/>
          <p:nvPr/>
        </p:nvPicPr>
        <p:blipFill>
          <a:blip r:embed="rId6">
            <a:alphaModFix/>
          </a:blip>
          <a:stretch>
            <a:fillRect/>
          </a:stretch>
        </p:blipFill>
        <p:spPr>
          <a:xfrm>
            <a:off x="2694888" y="2501463"/>
            <a:ext cx="2143125" cy="2143125"/>
          </a:xfrm>
          <a:prstGeom prst="rect">
            <a:avLst/>
          </a:prstGeom>
          <a:noFill/>
          <a:ln>
            <a:noFill/>
          </a:ln>
        </p:spPr>
      </p:pic>
      <p:pic>
        <p:nvPicPr>
          <p:cNvPr id="312" name="Google Shape;312;p45"/>
          <p:cNvPicPr preferRelativeResize="0"/>
          <p:nvPr/>
        </p:nvPicPr>
        <p:blipFill>
          <a:blip r:embed="rId7">
            <a:alphaModFix/>
          </a:blip>
          <a:stretch>
            <a:fillRect/>
          </a:stretch>
        </p:blipFill>
        <p:spPr>
          <a:xfrm>
            <a:off x="4838013" y="2283513"/>
            <a:ext cx="2143125" cy="2143125"/>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6" name="Shape 316"/>
        <p:cNvGrpSpPr/>
        <p:nvPr/>
      </p:nvGrpSpPr>
      <p:grpSpPr>
        <a:xfrm>
          <a:off x="0" y="0"/>
          <a:ext cx="0" cy="0"/>
          <a:chOff x="0" y="0"/>
          <a:chExt cx="0" cy="0"/>
        </a:xfrm>
      </p:grpSpPr>
      <p:pic>
        <p:nvPicPr>
          <p:cNvPr descr="AC Slides-01.jpeg" id="317" name="Google Shape;317;p46"/>
          <p:cNvPicPr preferRelativeResize="0"/>
          <p:nvPr/>
        </p:nvPicPr>
        <p:blipFill>
          <a:blip r:embed="rId3">
            <a:alphaModFix/>
          </a:blip>
          <a:stretch>
            <a:fillRect/>
          </a:stretch>
        </p:blipFill>
        <p:spPr>
          <a:xfrm>
            <a:off x="0" y="0"/>
            <a:ext cx="9144000" cy="5143500"/>
          </a:xfrm>
          <a:prstGeom prst="rect">
            <a:avLst/>
          </a:prstGeom>
          <a:noFill/>
          <a:ln>
            <a:noFill/>
          </a:ln>
        </p:spPr>
      </p:pic>
      <p:sp>
        <p:nvSpPr>
          <p:cNvPr id="318" name="Google Shape;318;p4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20" name="Google Shape;320;p4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strategies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a:solidFill>
                  <a:schemeClr val="dk1"/>
                </a:solidFill>
                <a:latin typeface="ABeeZee"/>
                <a:ea typeface="ABeeZee"/>
                <a:cs typeface="ABeeZee"/>
                <a:sym typeface="ABeeZee"/>
              </a:rPr>
              <a:t>In groups of 3-4, come up with and explain 2-3 personal, interpersonal and societal strategies that could prevent issues associated with energy drink consumption amongst youth</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21" name="Google Shape;321;p4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p46"/>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6" name="Shape 326"/>
        <p:cNvGrpSpPr/>
        <p:nvPr/>
      </p:nvGrpSpPr>
      <p:grpSpPr>
        <a:xfrm>
          <a:off x="0" y="0"/>
          <a:ext cx="0" cy="0"/>
          <a:chOff x="0" y="0"/>
          <a:chExt cx="0" cy="0"/>
        </a:xfrm>
      </p:grpSpPr>
      <p:pic>
        <p:nvPicPr>
          <p:cNvPr descr="AC Slides-01.jpeg" id="327" name="Google Shape;327;p47"/>
          <p:cNvPicPr preferRelativeResize="0"/>
          <p:nvPr/>
        </p:nvPicPr>
        <p:blipFill>
          <a:blip r:embed="rId3">
            <a:alphaModFix/>
          </a:blip>
          <a:stretch>
            <a:fillRect/>
          </a:stretch>
        </p:blipFill>
        <p:spPr>
          <a:xfrm>
            <a:off x="0" y="0"/>
            <a:ext cx="9144000" cy="5143500"/>
          </a:xfrm>
          <a:prstGeom prst="rect">
            <a:avLst/>
          </a:prstGeom>
          <a:noFill/>
          <a:ln>
            <a:noFill/>
          </a:ln>
        </p:spPr>
      </p:pic>
      <p:sp>
        <p:nvSpPr>
          <p:cNvPr id="328" name="Google Shape;328;p47"/>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329" name="Google Shape;329;p47"/>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330" name="Google Shape;330;p47"/>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331" name="Google Shape;331;p47"/>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332" name="Google Shape;332;p47"/>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2</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14 oct - l2</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6" name="Shape 336"/>
        <p:cNvGrpSpPr/>
        <p:nvPr/>
      </p:nvGrpSpPr>
      <p:grpSpPr>
        <a:xfrm>
          <a:off x="0" y="0"/>
          <a:ext cx="0" cy="0"/>
          <a:chOff x="0" y="0"/>
          <a:chExt cx="0" cy="0"/>
        </a:xfrm>
      </p:grpSpPr>
      <p:sp>
        <p:nvSpPr>
          <p:cNvPr id="337" name="Google Shape;337;p48"/>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338" name="Google Shape;338;p48"/>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339" name="Google Shape;339;p48"/>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340" name="Google Shape;340;p48"/>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341" name="Google Shape;341;p48"/>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In groups rate your top 5 Energy drinks and flavours and why?</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You have to agree as a group on your ranking of your top 5</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1.</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2.</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3.</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4.</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5.</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342" name="Google Shape;342;p48" title="15 Minute Timer">
            <a:hlinkClick r:id="rId4"/>
          </p:cNvPr>
          <p:cNvPicPr preferRelativeResize="0"/>
          <p:nvPr/>
        </p:nvPicPr>
        <p:blipFill>
          <a:blip r:embed="rId5">
            <a:alphaModFix/>
          </a:blip>
          <a:stretch>
            <a:fillRect/>
          </a:stretch>
        </p:blipFill>
        <p:spPr>
          <a:xfrm>
            <a:off x="6671550" y="172312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6" name="Shape 346"/>
        <p:cNvGrpSpPr/>
        <p:nvPr/>
      </p:nvGrpSpPr>
      <p:grpSpPr>
        <a:xfrm>
          <a:off x="0" y="0"/>
          <a:ext cx="0" cy="0"/>
          <a:chOff x="0" y="0"/>
          <a:chExt cx="0" cy="0"/>
        </a:xfrm>
      </p:grpSpPr>
      <p:pic>
        <p:nvPicPr>
          <p:cNvPr descr="AC Slides-01.jpeg" id="347" name="Google Shape;347;p49"/>
          <p:cNvPicPr preferRelativeResize="0"/>
          <p:nvPr/>
        </p:nvPicPr>
        <p:blipFill>
          <a:blip r:embed="rId3">
            <a:alphaModFix/>
          </a:blip>
          <a:stretch>
            <a:fillRect/>
          </a:stretch>
        </p:blipFill>
        <p:spPr>
          <a:xfrm>
            <a:off x="0" y="0"/>
            <a:ext cx="9144000" cy="5143500"/>
          </a:xfrm>
          <a:prstGeom prst="rect">
            <a:avLst/>
          </a:prstGeom>
          <a:noFill/>
          <a:ln>
            <a:noFill/>
          </a:ln>
        </p:spPr>
      </p:pic>
      <p:sp>
        <p:nvSpPr>
          <p:cNvPr id="348" name="Google Shape;348;p4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9" name="Google Shape;349;p4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50" name="Google Shape;350;p4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2.1 - practice exam wk.3</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349250" lvl="0" marL="457200" rtl="0" algn="l">
              <a:lnSpc>
                <a:spcPct val="115000"/>
              </a:lnSpc>
              <a:spcBef>
                <a:spcPts val="1200"/>
              </a:spcBef>
              <a:spcAft>
                <a:spcPts val="0"/>
              </a:spcAft>
              <a:buSzPts val="1900"/>
              <a:buFont typeface="ABeeZee"/>
              <a:buChar char="●"/>
            </a:pPr>
            <a:r>
              <a:rPr lang="en-GB" sz="1900">
                <a:latin typeface="ABeeZee"/>
                <a:ea typeface="ABeeZee"/>
                <a:cs typeface="ABeeZee"/>
                <a:sym typeface="ABeeZee"/>
              </a:rPr>
              <a:t>Complete practice exam tomorrow in class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Must be done individually</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Exam conditions - no devices, no talking, no phones!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Marking will be done in time for Week 4s lessons</a:t>
            </a:r>
            <a:endParaRPr sz="1900">
              <a:latin typeface="ABeeZee"/>
              <a:ea typeface="ABeeZee"/>
              <a:cs typeface="ABeeZee"/>
              <a:sym typeface="ABeeZee"/>
            </a:endParaRPr>
          </a:p>
          <a:p>
            <a:pPr indent="-349250" lvl="0" marL="457200" rtl="0" algn="l">
              <a:lnSpc>
                <a:spcPct val="115000"/>
              </a:lnSpc>
              <a:spcBef>
                <a:spcPts val="0"/>
              </a:spcBef>
              <a:spcAft>
                <a:spcPts val="0"/>
              </a:spcAft>
              <a:buSzPts val="1900"/>
              <a:buFont typeface="ABeeZee"/>
              <a:buChar char="●"/>
            </a:pPr>
            <a:r>
              <a:rPr lang="en-GB" sz="1900">
                <a:latin typeface="ABeeZee"/>
                <a:ea typeface="ABeeZee"/>
                <a:cs typeface="ABeeZee"/>
                <a:sym typeface="ABeeZee"/>
              </a:rPr>
              <a:t>Will go through some of the answers as a class</a:t>
            </a:r>
            <a:endParaRPr sz="1900">
              <a:latin typeface="ABeeZee"/>
              <a:ea typeface="ABeeZee"/>
              <a:cs typeface="ABeeZee"/>
              <a:sym typeface="ABeeZee"/>
            </a:endParaRPr>
          </a:p>
          <a:p>
            <a:pPr indent="0" lvl="0" marL="0" rtl="0" algn="l">
              <a:spcBef>
                <a:spcPts val="120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51" name="Google Shape;351;p4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2" name="Google Shape;352;p49"/>
          <p:cNvSpPr txBox="1"/>
          <p:nvPr/>
        </p:nvSpPr>
        <p:spPr>
          <a:xfrm flipH="1" rot="-5400000">
            <a:off x="-605425" y="1771350"/>
            <a:ext cx="3972600" cy="1600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Practice exam</a:t>
            </a:r>
            <a:endParaRPr sz="4100">
              <a:solidFill>
                <a:srgbClr val="FFFFFF"/>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6" name="Shape 356"/>
        <p:cNvGrpSpPr/>
        <p:nvPr/>
      </p:nvGrpSpPr>
      <p:grpSpPr>
        <a:xfrm>
          <a:off x="0" y="0"/>
          <a:ext cx="0" cy="0"/>
          <a:chOff x="0" y="0"/>
          <a:chExt cx="0" cy="0"/>
        </a:xfrm>
      </p:grpSpPr>
      <p:pic>
        <p:nvPicPr>
          <p:cNvPr descr="AC Slides-01.jpeg" id="357" name="Google Shape;357;p50"/>
          <p:cNvPicPr preferRelativeResize="0"/>
          <p:nvPr/>
        </p:nvPicPr>
        <p:blipFill>
          <a:blip r:embed="rId3">
            <a:alphaModFix/>
          </a:blip>
          <a:stretch>
            <a:fillRect/>
          </a:stretch>
        </p:blipFill>
        <p:spPr>
          <a:xfrm>
            <a:off x="0" y="0"/>
            <a:ext cx="9144000" cy="5143500"/>
          </a:xfrm>
          <a:prstGeom prst="rect">
            <a:avLst/>
          </a:prstGeom>
          <a:noFill/>
          <a:ln>
            <a:noFill/>
          </a:ln>
        </p:spPr>
      </p:pic>
      <p:sp>
        <p:nvSpPr>
          <p:cNvPr id="358" name="Google Shape;358;p5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60" name="Google Shape;360;p5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Watch this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u="sng">
                <a:solidFill>
                  <a:schemeClr val="hlink"/>
                </a:solidFill>
                <a:latin typeface="ABeeZee"/>
                <a:ea typeface="ABeeZee"/>
                <a:cs typeface="ABeeZee"/>
                <a:sym typeface="ABeeZee"/>
                <a:hlinkClick r:id="rId4"/>
              </a:rPr>
              <a:t>https://www.youtube.com/watch?v=vTRO_CPuX5Y</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u="sng">
                <a:solidFill>
                  <a:schemeClr val="hlink"/>
                </a:solidFill>
                <a:latin typeface="ABeeZee"/>
                <a:ea typeface="ABeeZee"/>
                <a:cs typeface="ABeeZee"/>
                <a:sym typeface="ABeeZee"/>
                <a:hlinkClick r:id="rId5"/>
              </a:rPr>
              <a:t>NZ Herald</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61" name="Google Shape;361;p5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2" name="Google Shape;362;p5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id="363" name="Google Shape;363;p50"/>
          <p:cNvPicPr preferRelativeResize="0"/>
          <p:nvPr/>
        </p:nvPicPr>
        <p:blipFill>
          <a:blip r:embed="rId6">
            <a:alphaModFix/>
          </a:blip>
          <a:stretch>
            <a:fillRect/>
          </a:stretch>
        </p:blipFill>
        <p:spPr>
          <a:xfrm>
            <a:off x="2694888" y="2501463"/>
            <a:ext cx="2143125" cy="2143125"/>
          </a:xfrm>
          <a:prstGeom prst="rect">
            <a:avLst/>
          </a:prstGeom>
          <a:noFill/>
          <a:ln>
            <a:noFill/>
          </a:ln>
        </p:spPr>
      </p:pic>
      <p:pic>
        <p:nvPicPr>
          <p:cNvPr id="364" name="Google Shape;364;p50"/>
          <p:cNvPicPr preferRelativeResize="0"/>
          <p:nvPr/>
        </p:nvPicPr>
        <p:blipFill>
          <a:blip r:embed="rId7">
            <a:alphaModFix/>
          </a:blip>
          <a:stretch>
            <a:fillRect/>
          </a:stretch>
        </p:blipFill>
        <p:spPr>
          <a:xfrm>
            <a:off x="4838013" y="2283513"/>
            <a:ext cx="2143125" cy="2143125"/>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8" name="Shape 368"/>
        <p:cNvGrpSpPr/>
        <p:nvPr/>
      </p:nvGrpSpPr>
      <p:grpSpPr>
        <a:xfrm>
          <a:off x="0" y="0"/>
          <a:ext cx="0" cy="0"/>
          <a:chOff x="0" y="0"/>
          <a:chExt cx="0" cy="0"/>
        </a:xfrm>
      </p:grpSpPr>
      <p:pic>
        <p:nvPicPr>
          <p:cNvPr descr="AC Slides-01.jpeg" id="369" name="Google Shape;369;p51"/>
          <p:cNvPicPr preferRelativeResize="0"/>
          <p:nvPr/>
        </p:nvPicPr>
        <p:blipFill>
          <a:blip r:embed="rId3">
            <a:alphaModFix/>
          </a:blip>
          <a:stretch>
            <a:fillRect/>
          </a:stretch>
        </p:blipFill>
        <p:spPr>
          <a:xfrm>
            <a:off x="0" y="0"/>
            <a:ext cx="9144000" cy="5143500"/>
          </a:xfrm>
          <a:prstGeom prst="rect">
            <a:avLst/>
          </a:prstGeom>
          <a:noFill/>
          <a:ln>
            <a:noFill/>
          </a:ln>
        </p:spPr>
      </p:pic>
      <p:sp>
        <p:nvSpPr>
          <p:cNvPr id="370" name="Google Shape;370;p5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5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72" name="Google Shape;372;p5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strategies</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900">
                <a:solidFill>
                  <a:schemeClr val="dk1"/>
                </a:solidFill>
                <a:latin typeface="ABeeZee"/>
                <a:ea typeface="ABeeZee"/>
                <a:cs typeface="ABeeZee"/>
                <a:sym typeface="ABeeZee"/>
              </a:rPr>
              <a:t>In groups of 3-4, come up with and explain 2-3 personal, interpersonal and societal strategies that could prevent issues associated with energy drink consumption amongst youth</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73" name="Google Shape;373;p5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4" name="Google Shape;374;p5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pic>
        <p:nvPicPr>
          <p:cNvPr descr="AC Slides-01.jpeg" id="379" name="Google Shape;379;p52"/>
          <p:cNvPicPr preferRelativeResize="0"/>
          <p:nvPr/>
        </p:nvPicPr>
        <p:blipFill>
          <a:blip r:embed="rId3">
            <a:alphaModFix/>
          </a:blip>
          <a:stretch>
            <a:fillRect/>
          </a:stretch>
        </p:blipFill>
        <p:spPr>
          <a:xfrm>
            <a:off x="0" y="0"/>
            <a:ext cx="9144000" cy="5143500"/>
          </a:xfrm>
          <a:prstGeom prst="rect">
            <a:avLst/>
          </a:prstGeom>
          <a:noFill/>
          <a:ln>
            <a:noFill/>
          </a:ln>
        </p:spPr>
      </p:pic>
      <p:sp>
        <p:nvSpPr>
          <p:cNvPr id="380" name="Google Shape;380;p5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1" name="Google Shape;381;p5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382" name="Google Shape;382;p5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Create a poster</a:t>
            </a:r>
            <a:endParaRPr sz="18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700">
                <a:solidFill>
                  <a:schemeClr val="dk1"/>
                </a:solidFill>
                <a:latin typeface="ABeeZee"/>
                <a:ea typeface="ABeeZee"/>
                <a:cs typeface="ABeeZee"/>
                <a:sym typeface="ABeeZee"/>
              </a:rPr>
              <a:t>Create a informative poster on A3 about Energy Drinks</a:t>
            </a:r>
            <a:endParaRPr sz="17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rPr lang="en-GB" sz="1700">
                <a:solidFill>
                  <a:schemeClr val="dk1"/>
                </a:solidFill>
                <a:latin typeface="ABeeZee"/>
                <a:ea typeface="ABeeZee"/>
                <a:cs typeface="ABeeZee"/>
                <a:sym typeface="ABeeZee"/>
              </a:rPr>
              <a:t>Your poster needs to include the following headings with information:</a:t>
            </a:r>
            <a:endParaRPr sz="1700">
              <a:solidFill>
                <a:schemeClr val="dk1"/>
              </a:solidFill>
              <a:latin typeface="ABeeZee"/>
              <a:ea typeface="ABeeZee"/>
              <a:cs typeface="ABeeZee"/>
              <a:sym typeface="ABeeZee"/>
            </a:endParaRPr>
          </a:p>
          <a:p>
            <a:pPr indent="-336550" lvl="0" marL="457200" rtl="0" algn="l">
              <a:lnSpc>
                <a:spcPct val="115000"/>
              </a:lnSpc>
              <a:spcBef>
                <a:spcPts val="120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Energy Drinks - what defines a </a:t>
            </a:r>
            <a:r>
              <a:rPr lang="en-GB" sz="1700">
                <a:solidFill>
                  <a:schemeClr val="dk1"/>
                </a:solidFill>
                <a:latin typeface="ABeeZee"/>
                <a:ea typeface="ABeeZee"/>
                <a:cs typeface="ABeeZee"/>
                <a:sym typeface="ABeeZee"/>
              </a:rPr>
              <a:t>energy</a:t>
            </a:r>
            <a:r>
              <a:rPr lang="en-GB" sz="1700">
                <a:solidFill>
                  <a:schemeClr val="dk1"/>
                </a:solidFill>
                <a:latin typeface="ABeeZee"/>
                <a:ea typeface="ABeeZee"/>
                <a:cs typeface="ABeeZee"/>
                <a:sym typeface="ABeeZee"/>
              </a:rPr>
              <a:t> drink?</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Long &amp; Short term impacts - 5 each</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Impacts on Hauora - four examples for each dimensions</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Impacts for youth - why it is a adolescent health issue?</a:t>
            </a:r>
            <a:endParaRPr sz="1700">
              <a:solidFill>
                <a:schemeClr val="dk1"/>
              </a:solidFill>
              <a:latin typeface="ABeeZee"/>
              <a:ea typeface="ABeeZee"/>
              <a:cs typeface="ABeeZee"/>
              <a:sym typeface="ABeeZee"/>
            </a:endParaRPr>
          </a:p>
          <a:p>
            <a:pPr indent="-336550" lvl="0" marL="457200" rtl="0" algn="l">
              <a:lnSpc>
                <a:spcPct val="115000"/>
              </a:lnSpc>
              <a:spcBef>
                <a:spcPts val="0"/>
              </a:spcBef>
              <a:spcAft>
                <a:spcPts val="0"/>
              </a:spcAft>
              <a:buClr>
                <a:schemeClr val="dk1"/>
              </a:buClr>
              <a:buSzPts val="1700"/>
              <a:buFont typeface="ABeeZee"/>
              <a:buChar char="●"/>
            </a:pPr>
            <a:r>
              <a:rPr lang="en-GB" sz="1700">
                <a:solidFill>
                  <a:schemeClr val="dk1"/>
                </a:solidFill>
                <a:latin typeface="ABeeZee"/>
                <a:ea typeface="ABeeZee"/>
                <a:cs typeface="ABeeZee"/>
                <a:sym typeface="ABeeZee"/>
              </a:rPr>
              <a:t>Strategies - personal, interpersonal and societal</a:t>
            </a:r>
            <a:endParaRPr sz="17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383" name="Google Shape;383;p5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5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8" name="Shape 388"/>
        <p:cNvGrpSpPr/>
        <p:nvPr/>
      </p:nvGrpSpPr>
      <p:grpSpPr>
        <a:xfrm>
          <a:off x="0" y="0"/>
          <a:ext cx="0" cy="0"/>
          <a:chOff x="0" y="0"/>
          <a:chExt cx="0" cy="0"/>
        </a:xfrm>
      </p:grpSpPr>
      <p:pic>
        <p:nvPicPr>
          <p:cNvPr descr="AC Slides-01.jpeg" id="389" name="Google Shape;389;p53"/>
          <p:cNvPicPr preferRelativeResize="0"/>
          <p:nvPr/>
        </p:nvPicPr>
        <p:blipFill>
          <a:blip r:embed="rId3">
            <a:alphaModFix/>
          </a:blip>
          <a:stretch>
            <a:fillRect/>
          </a:stretch>
        </p:blipFill>
        <p:spPr>
          <a:xfrm>
            <a:off x="0" y="0"/>
            <a:ext cx="9144000" cy="5143500"/>
          </a:xfrm>
          <a:prstGeom prst="rect">
            <a:avLst/>
          </a:prstGeom>
          <a:noFill/>
          <a:ln>
            <a:noFill/>
          </a:ln>
        </p:spPr>
      </p:pic>
      <p:sp>
        <p:nvSpPr>
          <p:cNvPr id="390" name="Google Shape;390;p53"/>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391" name="Google Shape;391;p53"/>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392" name="Google Shape;392;p53"/>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393" name="Google Shape;393;p53"/>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394" name="Google Shape;394;p53"/>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1</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Tues 14 oct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8" name="Shape 398"/>
        <p:cNvGrpSpPr/>
        <p:nvPr/>
      </p:nvGrpSpPr>
      <p:grpSpPr>
        <a:xfrm>
          <a:off x="0" y="0"/>
          <a:ext cx="0" cy="0"/>
          <a:chOff x="0" y="0"/>
          <a:chExt cx="0" cy="0"/>
        </a:xfrm>
      </p:grpSpPr>
      <p:sp>
        <p:nvSpPr>
          <p:cNvPr id="399" name="Google Shape;399;p5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400" name="Google Shape;400;p5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401" name="Google Shape;401;p54"/>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402" name="Google Shape;402;p54"/>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403" name="Google Shape;403;p54"/>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In your same groups as yesterday, come up with a definition for the below topic in your own words:</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3600">
                <a:latin typeface="Luckiest Guy"/>
                <a:ea typeface="Luckiest Guy"/>
                <a:cs typeface="Luckiest Guy"/>
                <a:sym typeface="Luckiest Guy"/>
              </a:rPr>
              <a:t>Period poverty</a:t>
            </a:r>
            <a:endParaRPr sz="3600">
              <a:latin typeface="Luckiest Guy"/>
              <a:ea typeface="Luckiest Guy"/>
              <a:cs typeface="Luckiest Guy"/>
              <a:sym typeface="Luckiest Guy"/>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404" name="Google Shape;404;p54" title="15 Minute Timer">
            <a:hlinkClick r:id="rId4"/>
          </p:cNvPr>
          <p:cNvPicPr preferRelativeResize="0"/>
          <p:nvPr/>
        </p:nvPicPr>
        <p:blipFill>
          <a:blip r:embed="rId5">
            <a:alphaModFix/>
          </a:blip>
          <a:stretch>
            <a:fillRect/>
          </a:stretch>
        </p:blipFill>
        <p:spPr>
          <a:xfrm>
            <a:off x="6671550" y="172312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8" name="Shape 408"/>
        <p:cNvGrpSpPr/>
        <p:nvPr/>
      </p:nvGrpSpPr>
      <p:grpSpPr>
        <a:xfrm>
          <a:off x="0" y="0"/>
          <a:ext cx="0" cy="0"/>
          <a:chOff x="0" y="0"/>
          <a:chExt cx="0" cy="0"/>
        </a:xfrm>
      </p:grpSpPr>
      <p:pic>
        <p:nvPicPr>
          <p:cNvPr descr="AC Slides-01.jpeg" id="409" name="Google Shape;409;p55"/>
          <p:cNvPicPr preferRelativeResize="0"/>
          <p:nvPr/>
        </p:nvPicPr>
        <p:blipFill>
          <a:blip r:embed="rId3">
            <a:alphaModFix/>
          </a:blip>
          <a:stretch>
            <a:fillRect/>
          </a:stretch>
        </p:blipFill>
        <p:spPr>
          <a:xfrm>
            <a:off x="0" y="0"/>
            <a:ext cx="9144000" cy="5143500"/>
          </a:xfrm>
          <a:prstGeom prst="rect">
            <a:avLst/>
          </a:prstGeom>
          <a:noFill/>
          <a:ln>
            <a:noFill/>
          </a:ln>
        </p:spPr>
      </p:pic>
      <p:sp>
        <p:nvSpPr>
          <p:cNvPr id="410" name="Google Shape;410;p5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1" name="Google Shape;411;p5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12" name="Google Shape;412;p5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2100">
                <a:latin typeface="ABeeZee"/>
                <a:ea typeface="ABeeZee"/>
                <a:cs typeface="ABeeZee"/>
                <a:sym typeface="ABeeZee"/>
              </a:rPr>
              <a:t>Make sense of a youth health issue - period poverty</a:t>
            </a:r>
            <a:endParaRPr sz="2100">
              <a:latin typeface="ABeeZee"/>
              <a:ea typeface="ABeeZee"/>
              <a:cs typeface="ABeeZee"/>
              <a:sym typeface="ABeeZee"/>
            </a:endParaRPr>
          </a:p>
          <a:p>
            <a:pPr indent="0" lvl="0" marL="0" rtl="0" algn="l">
              <a:spcBef>
                <a:spcPts val="0"/>
              </a:spcBef>
              <a:spcAft>
                <a:spcPts val="0"/>
              </a:spcAft>
              <a:buNone/>
            </a:pPr>
            <a:r>
              <a:t/>
            </a:r>
            <a:endParaRPr sz="2300">
              <a:latin typeface="ABeeZee"/>
              <a:ea typeface="ABeeZee"/>
              <a:cs typeface="ABeeZee"/>
              <a:sym typeface="ABeeZee"/>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49250" lvl="0" marL="457200" rtl="0" algn="l">
              <a:lnSpc>
                <a:spcPct val="115000"/>
              </a:lnSpc>
              <a:spcBef>
                <a:spcPts val="120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short term and long term consequences of period poverty</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impacts period poverty have on ones hauora</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Explain strategies on P-IP-S levels</a:t>
            </a:r>
            <a:endParaRPr sz="19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13" name="Google Shape;413;p5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4" name="Google Shape;414;p5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8" name="Shape 418"/>
        <p:cNvGrpSpPr/>
        <p:nvPr/>
      </p:nvGrpSpPr>
      <p:grpSpPr>
        <a:xfrm>
          <a:off x="0" y="0"/>
          <a:ext cx="0" cy="0"/>
          <a:chOff x="0" y="0"/>
          <a:chExt cx="0" cy="0"/>
        </a:xfrm>
      </p:grpSpPr>
      <p:pic>
        <p:nvPicPr>
          <p:cNvPr descr="AC Slides-01.jpeg" id="419" name="Google Shape;419;p56"/>
          <p:cNvPicPr preferRelativeResize="0"/>
          <p:nvPr/>
        </p:nvPicPr>
        <p:blipFill>
          <a:blip r:embed="rId3">
            <a:alphaModFix/>
          </a:blip>
          <a:stretch>
            <a:fillRect/>
          </a:stretch>
        </p:blipFill>
        <p:spPr>
          <a:xfrm>
            <a:off x="0" y="0"/>
            <a:ext cx="9144000" cy="5143500"/>
          </a:xfrm>
          <a:prstGeom prst="rect">
            <a:avLst/>
          </a:prstGeom>
          <a:noFill/>
          <a:ln>
            <a:noFill/>
          </a:ln>
        </p:spPr>
      </p:pic>
      <p:sp>
        <p:nvSpPr>
          <p:cNvPr id="420" name="Google Shape;420;p5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5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22" name="Google Shape;422;p5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what is it?</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In Aotearoa, period poverty refers to the lack of access to period products and education, leading to challenges in work, school, and daily life.</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Unfortunately, there are individuals who cannot afford to purchase the essential period products they require on a monthly basis, and this situation hinders their ability to attend work, school, or actively participate in their daily routines. It's crucial that we address this issue with understanding and empathy, as it significantly impacts the lives and wellbeing of those affected in our community</a:t>
            </a:r>
            <a:endParaRPr sz="23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23" name="Google Shape;423;p5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56"/>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8" name="Shape 428"/>
        <p:cNvGrpSpPr/>
        <p:nvPr/>
      </p:nvGrpSpPr>
      <p:grpSpPr>
        <a:xfrm>
          <a:off x="0" y="0"/>
          <a:ext cx="0" cy="0"/>
          <a:chOff x="0" y="0"/>
          <a:chExt cx="0" cy="0"/>
        </a:xfrm>
      </p:grpSpPr>
      <p:pic>
        <p:nvPicPr>
          <p:cNvPr descr="AC Slides-01.jpeg" id="429" name="Google Shape;429;p57"/>
          <p:cNvPicPr preferRelativeResize="0"/>
          <p:nvPr/>
        </p:nvPicPr>
        <p:blipFill>
          <a:blip r:embed="rId3">
            <a:alphaModFix/>
          </a:blip>
          <a:stretch>
            <a:fillRect/>
          </a:stretch>
        </p:blipFill>
        <p:spPr>
          <a:xfrm>
            <a:off x="0" y="0"/>
            <a:ext cx="9144000" cy="5143500"/>
          </a:xfrm>
          <a:prstGeom prst="rect">
            <a:avLst/>
          </a:prstGeom>
          <a:noFill/>
          <a:ln>
            <a:noFill/>
          </a:ln>
        </p:spPr>
      </p:pic>
      <p:sp>
        <p:nvSpPr>
          <p:cNvPr id="430" name="Google Shape;430;p5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5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32" name="Google Shape;432;p5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key information</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33" name="Google Shape;433;p5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4" name="Google Shape;434;p5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id="435" name="Google Shape;435;p57"/>
          <p:cNvPicPr preferRelativeResize="0"/>
          <p:nvPr/>
        </p:nvPicPr>
        <p:blipFill rotWithShape="1">
          <a:blip r:embed="rId4">
            <a:alphaModFix/>
          </a:blip>
          <a:srcRect b="2282" l="3650" r="33951" t="27944"/>
          <a:stretch/>
        </p:blipFill>
        <p:spPr>
          <a:xfrm>
            <a:off x="2500875" y="982975"/>
            <a:ext cx="5705851" cy="2249425"/>
          </a:xfrm>
          <a:prstGeom prst="rect">
            <a:avLst/>
          </a:prstGeom>
          <a:noFill/>
          <a:ln>
            <a:noFill/>
          </a:ln>
        </p:spPr>
      </p:pic>
      <p:pic>
        <p:nvPicPr>
          <p:cNvPr id="436" name="Google Shape;436;p57"/>
          <p:cNvPicPr preferRelativeResize="0"/>
          <p:nvPr/>
        </p:nvPicPr>
        <p:blipFill rotWithShape="1">
          <a:blip r:embed="rId4">
            <a:alphaModFix/>
          </a:blip>
          <a:srcRect b="5301" l="70384" r="0" t="48321"/>
          <a:stretch/>
        </p:blipFill>
        <p:spPr>
          <a:xfrm>
            <a:off x="5484871" y="2825725"/>
            <a:ext cx="2708152" cy="1495049"/>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0" name="Shape 440"/>
        <p:cNvGrpSpPr/>
        <p:nvPr/>
      </p:nvGrpSpPr>
      <p:grpSpPr>
        <a:xfrm>
          <a:off x="0" y="0"/>
          <a:ext cx="0" cy="0"/>
          <a:chOff x="0" y="0"/>
          <a:chExt cx="0" cy="0"/>
        </a:xfrm>
      </p:grpSpPr>
      <p:pic>
        <p:nvPicPr>
          <p:cNvPr descr="AC Slides-01.jpeg" id="441" name="Google Shape;441;p58"/>
          <p:cNvPicPr preferRelativeResize="0"/>
          <p:nvPr/>
        </p:nvPicPr>
        <p:blipFill>
          <a:blip r:embed="rId3">
            <a:alphaModFix/>
          </a:blip>
          <a:stretch>
            <a:fillRect/>
          </a:stretch>
        </p:blipFill>
        <p:spPr>
          <a:xfrm>
            <a:off x="0" y="0"/>
            <a:ext cx="9144000" cy="5143500"/>
          </a:xfrm>
          <a:prstGeom prst="rect">
            <a:avLst/>
          </a:prstGeom>
          <a:noFill/>
          <a:ln>
            <a:noFill/>
          </a:ln>
        </p:spPr>
      </p:pic>
      <p:sp>
        <p:nvSpPr>
          <p:cNvPr id="442" name="Google Shape;442;p5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5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44" name="Google Shape;444;p5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video</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lang="en-GB" sz="1700">
                <a:latin typeface="ABeeZee"/>
                <a:ea typeface="ABeeZee"/>
                <a:cs typeface="ABeeZee"/>
                <a:sym typeface="ABeeZee"/>
              </a:rPr>
              <a:t>https://www.facebook.com/watch/?v=770973916652284</a:t>
            </a:r>
            <a:endParaRPr sz="1700">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45" name="Google Shape;445;p5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6" name="Google Shape;446;p58"/>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pic>
        <p:nvPicPr>
          <p:cNvPr descr="A significant number of New Zealand teenagers are missing school and work because they can’t afford sanitary items. New research has shown that the situation is worse for Māori and Pasifika youth." id="447" name="Google Shape;447;p58" title="Pacific students speak out about period poverty">
            <a:hlinkClick r:id="rId4"/>
          </p:cNvPr>
          <p:cNvPicPr preferRelativeResize="0"/>
          <p:nvPr/>
        </p:nvPicPr>
        <p:blipFill>
          <a:blip r:embed="rId5">
            <a:alphaModFix/>
          </a:blip>
          <a:stretch>
            <a:fillRect/>
          </a:stretch>
        </p:blipFill>
        <p:spPr>
          <a:xfrm>
            <a:off x="2481925" y="1181700"/>
            <a:ext cx="3851150" cy="21662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1" name="Shape 451"/>
        <p:cNvGrpSpPr/>
        <p:nvPr/>
      </p:nvGrpSpPr>
      <p:grpSpPr>
        <a:xfrm>
          <a:off x="0" y="0"/>
          <a:ext cx="0" cy="0"/>
          <a:chOff x="0" y="0"/>
          <a:chExt cx="0" cy="0"/>
        </a:xfrm>
      </p:grpSpPr>
      <p:pic>
        <p:nvPicPr>
          <p:cNvPr descr="AC Slides-01.jpeg" id="452" name="Google Shape;452;p59"/>
          <p:cNvPicPr preferRelativeResize="0"/>
          <p:nvPr/>
        </p:nvPicPr>
        <p:blipFill>
          <a:blip r:embed="rId3">
            <a:alphaModFix/>
          </a:blip>
          <a:stretch>
            <a:fillRect/>
          </a:stretch>
        </p:blipFill>
        <p:spPr>
          <a:xfrm>
            <a:off x="0" y="0"/>
            <a:ext cx="9144000" cy="5143500"/>
          </a:xfrm>
          <a:prstGeom prst="rect">
            <a:avLst/>
          </a:prstGeom>
          <a:noFill/>
          <a:ln>
            <a:noFill/>
          </a:ln>
        </p:spPr>
      </p:pic>
      <p:sp>
        <p:nvSpPr>
          <p:cNvPr id="453" name="Google Shape;453;p5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5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55" name="Google Shape;455;p5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6" name="Google Shape;456;p59"/>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
        <p:nvSpPr>
          <p:cNvPr id="457" name="Google Shape;457;p5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consequences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In pairs, write down as many consequences for young people as a result of period poverty</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Missing out on school/education opportunities</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Staying home from work/part-time jobs</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Feeling constant shame– messes with mental health</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Potential infections from using unsanitary items as alternatives</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Increase of stress and anxiety</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Poor hygiene leading to weak immune system</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Lack of self confidence/ low self esteem</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Lack of knowledge– being out of the loop with the process of periods</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Social isolation– avoiding friends</a:t>
            </a:r>
            <a:endParaRPr sz="1200">
              <a:solidFill>
                <a:schemeClr val="dk1"/>
              </a:solidFill>
              <a:latin typeface="ABeeZee"/>
              <a:ea typeface="ABeeZee"/>
              <a:cs typeface="ABeeZee"/>
              <a:sym typeface="ABeeZee"/>
            </a:endParaRPr>
          </a:p>
          <a:p>
            <a:pPr indent="-304800" lvl="0" marL="457200" rtl="0" algn="l">
              <a:lnSpc>
                <a:spcPct val="115000"/>
              </a:lnSpc>
              <a:spcBef>
                <a:spcPts val="0"/>
              </a:spcBef>
              <a:spcAft>
                <a:spcPts val="0"/>
              </a:spcAft>
              <a:buClr>
                <a:schemeClr val="dk1"/>
              </a:buClr>
              <a:buSzPts val="1200"/>
              <a:buFont typeface="ABeeZee"/>
              <a:buChar char="●"/>
            </a:pPr>
            <a:r>
              <a:rPr lang="en-GB" sz="1200">
                <a:solidFill>
                  <a:schemeClr val="dk1"/>
                </a:solidFill>
                <a:latin typeface="ABeeZee"/>
                <a:ea typeface="ABeeZee"/>
                <a:cs typeface="ABeeZee"/>
                <a:sym typeface="ABeeZee"/>
              </a:rPr>
              <a:t>Depending on others for menstrual products</a:t>
            </a:r>
            <a:endParaRPr sz="12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1" name="Shape 461"/>
        <p:cNvGrpSpPr/>
        <p:nvPr/>
      </p:nvGrpSpPr>
      <p:grpSpPr>
        <a:xfrm>
          <a:off x="0" y="0"/>
          <a:ext cx="0" cy="0"/>
          <a:chOff x="0" y="0"/>
          <a:chExt cx="0" cy="0"/>
        </a:xfrm>
      </p:grpSpPr>
      <p:pic>
        <p:nvPicPr>
          <p:cNvPr descr="AC Slides-01.jpeg" id="462" name="Google Shape;462;p60"/>
          <p:cNvPicPr preferRelativeResize="0"/>
          <p:nvPr/>
        </p:nvPicPr>
        <p:blipFill>
          <a:blip r:embed="rId3">
            <a:alphaModFix/>
          </a:blip>
          <a:stretch>
            <a:fillRect/>
          </a:stretch>
        </p:blipFill>
        <p:spPr>
          <a:xfrm>
            <a:off x="0" y="0"/>
            <a:ext cx="9144000" cy="5143500"/>
          </a:xfrm>
          <a:prstGeom prst="rect">
            <a:avLst/>
          </a:prstGeom>
          <a:noFill/>
          <a:ln>
            <a:noFill/>
          </a:ln>
        </p:spPr>
      </p:pic>
      <p:sp>
        <p:nvSpPr>
          <p:cNvPr id="463" name="Google Shape;463;p60"/>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4" name="Google Shape;464;p60"/>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65" name="Google Shape;465;p60"/>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consequences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t/>
            </a:r>
            <a:endParaRPr sz="1100">
              <a:solidFill>
                <a:schemeClr val="dk1"/>
              </a:solidFill>
              <a:latin typeface="ABeeZee"/>
              <a:ea typeface="ABeeZee"/>
              <a:cs typeface="ABeeZee"/>
              <a:sym typeface="ABeeZee"/>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Insecure</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Dropping out</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Feeling dirty, itchy, skin irritation, bacteria</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Getting made fun of</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Missing work days/school</a:t>
            </a:r>
            <a:endParaRPr>
              <a:solidFill>
                <a:schemeClr val="dk1"/>
              </a:solidFill>
            </a:endParaRPr>
          </a:p>
          <a:p>
            <a:pPr indent="-317500" lvl="0" marL="457200" rtl="0" algn="l">
              <a:lnSpc>
                <a:spcPct val="115000"/>
              </a:lnSpc>
              <a:spcBef>
                <a:spcPts val="0"/>
              </a:spcBef>
              <a:spcAft>
                <a:spcPts val="0"/>
              </a:spcAft>
              <a:buClr>
                <a:schemeClr val="dk1"/>
              </a:buClr>
              <a:buSzPts val="1400"/>
              <a:buChar char="●"/>
            </a:pPr>
            <a:r>
              <a:rPr lang="en-GB">
                <a:solidFill>
                  <a:schemeClr val="dk1"/>
                </a:solidFill>
              </a:rPr>
              <a:t>Fear of missing out (can’t afford what others have)</a:t>
            </a:r>
            <a:endParaRPr>
              <a:solidFill>
                <a:schemeClr val="dk1"/>
              </a:solidFill>
            </a:endParaRPr>
          </a:p>
          <a:p>
            <a:pPr indent="0" lvl="0" marL="457200" rtl="0" algn="l">
              <a:spcBef>
                <a:spcPts val="0"/>
              </a:spcBef>
              <a:spcAft>
                <a:spcPts val="0"/>
              </a:spcAft>
              <a:buNone/>
            </a:pPr>
            <a:r>
              <a:t/>
            </a:r>
            <a:endParaRPr sz="21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66" name="Google Shape;466;p60"/>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7" name="Google Shape;467;p60"/>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1" name="Shape 471"/>
        <p:cNvGrpSpPr/>
        <p:nvPr/>
      </p:nvGrpSpPr>
      <p:grpSpPr>
        <a:xfrm>
          <a:off x="0" y="0"/>
          <a:ext cx="0" cy="0"/>
          <a:chOff x="0" y="0"/>
          <a:chExt cx="0" cy="0"/>
        </a:xfrm>
      </p:grpSpPr>
      <p:pic>
        <p:nvPicPr>
          <p:cNvPr descr="AC Slides-01.jpeg" id="472" name="Google Shape;472;p61"/>
          <p:cNvPicPr preferRelativeResize="0"/>
          <p:nvPr/>
        </p:nvPicPr>
        <p:blipFill>
          <a:blip r:embed="rId3">
            <a:alphaModFix/>
          </a:blip>
          <a:stretch>
            <a:fillRect/>
          </a:stretch>
        </p:blipFill>
        <p:spPr>
          <a:xfrm>
            <a:off x="0" y="0"/>
            <a:ext cx="9144000" cy="5143500"/>
          </a:xfrm>
          <a:prstGeom prst="rect">
            <a:avLst/>
          </a:prstGeom>
          <a:noFill/>
          <a:ln>
            <a:noFill/>
          </a:ln>
        </p:spPr>
      </p:pic>
      <p:sp>
        <p:nvSpPr>
          <p:cNvPr id="473" name="Google Shape;473;p61"/>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4" name="Google Shape;474;p61"/>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75" name="Google Shape;475;p61"/>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consequences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uncomfortability during school</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Leaking through clothes</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Missing school</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Shame and anxiety</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Insecure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Dropping out of school</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Feeling dirty, itchy, skin irritation, bacteria</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Getting made fun of</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Missing work days </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Fear of missing out (can’t afford what others have)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rPr lang="en-GB" sz="1300">
                <a:solidFill>
                  <a:schemeClr val="dk1"/>
                </a:solidFill>
              </a:rPr>
              <a:t>Poor hygiene</a:t>
            </a:r>
            <a:endParaRPr sz="1300">
              <a:solidFill>
                <a:schemeClr val="dk1"/>
              </a:solidFill>
            </a:endParaRPr>
          </a:p>
          <a:p>
            <a:pPr indent="-311150" lvl="0" marL="457200" rtl="0" algn="l">
              <a:lnSpc>
                <a:spcPct val="115000"/>
              </a:lnSpc>
              <a:spcBef>
                <a:spcPts val="0"/>
              </a:spcBef>
              <a:spcAft>
                <a:spcPts val="0"/>
              </a:spcAft>
              <a:buClr>
                <a:schemeClr val="dk1"/>
              </a:buClr>
              <a:buSzPts val="1300"/>
              <a:buChar char="●"/>
            </a:pPr>
            <a:r>
              <a:t/>
            </a:r>
            <a:endParaRPr sz="1300">
              <a:solidFill>
                <a:schemeClr val="dk1"/>
              </a:solidFill>
            </a:endParaRPr>
          </a:p>
          <a:p>
            <a:pPr indent="0" lvl="0" marL="0" rtl="0" algn="l">
              <a:lnSpc>
                <a:spcPct val="140000"/>
              </a:lnSpc>
              <a:spcBef>
                <a:spcPts val="0"/>
              </a:spcBef>
              <a:spcAft>
                <a:spcPts val="0"/>
              </a:spcAft>
              <a:buNone/>
            </a:pPr>
            <a:r>
              <a:t/>
            </a:r>
            <a:endParaRPr sz="1100">
              <a:solidFill>
                <a:schemeClr val="dk1"/>
              </a:solidFill>
              <a:latin typeface="ABeeZee"/>
              <a:ea typeface="ABeeZee"/>
              <a:cs typeface="ABeeZee"/>
              <a:sym typeface="ABeeZee"/>
            </a:endParaRPr>
          </a:p>
          <a:p>
            <a:pPr indent="0" lvl="0" marL="457200" rtl="0" algn="l">
              <a:lnSpc>
                <a:spcPct val="115000"/>
              </a:lnSpc>
              <a:spcBef>
                <a:spcPts val="0"/>
              </a:spcBef>
              <a:spcAft>
                <a:spcPts val="0"/>
              </a:spcAft>
              <a:buNone/>
            </a:pPr>
            <a:r>
              <a:t/>
            </a:r>
            <a:endParaRPr sz="10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76" name="Google Shape;476;p61"/>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7" name="Google Shape;477;p61"/>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1" name="Shape 481"/>
        <p:cNvGrpSpPr/>
        <p:nvPr/>
      </p:nvGrpSpPr>
      <p:grpSpPr>
        <a:xfrm>
          <a:off x="0" y="0"/>
          <a:ext cx="0" cy="0"/>
          <a:chOff x="0" y="0"/>
          <a:chExt cx="0" cy="0"/>
        </a:xfrm>
      </p:grpSpPr>
      <p:pic>
        <p:nvPicPr>
          <p:cNvPr descr="AC Slides-01.jpeg" id="482" name="Google Shape;482;p62"/>
          <p:cNvPicPr preferRelativeResize="0"/>
          <p:nvPr/>
        </p:nvPicPr>
        <p:blipFill>
          <a:blip r:embed="rId3">
            <a:alphaModFix/>
          </a:blip>
          <a:stretch>
            <a:fillRect/>
          </a:stretch>
        </p:blipFill>
        <p:spPr>
          <a:xfrm>
            <a:off x="0" y="0"/>
            <a:ext cx="9144000" cy="5143500"/>
          </a:xfrm>
          <a:prstGeom prst="rect">
            <a:avLst/>
          </a:prstGeom>
          <a:noFill/>
          <a:ln>
            <a:noFill/>
          </a:ln>
        </p:spPr>
      </p:pic>
      <p:sp>
        <p:nvSpPr>
          <p:cNvPr id="483" name="Google Shape;483;p6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4" name="Google Shape;484;p6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85" name="Google Shape;485;p6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consequences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Missing out school</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Not paying attention in class</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Bleeding through clothes </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Getting infections by using cloth</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Staying home from work or school </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shame</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Cultural stigma viewing that its not appropriate to talk about </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Bad hygiene/ bad immune system </a:t>
            </a:r>
            <a:endParaRPr sz="1100">
              <a:solidFill>
                <a:schemeClr val="dk1"/>
              </a:solidFill>
            </a:endParaRPr>
          </a:p>
          <a:p>
            <a:pPr indent="-279400" lvl="0" marL="457200" rtl="0" algn="l">
              <a:lnSpc>
                <a:spcPct val="115000"/>
              </a:lnSpc>
              <a:spcBef>
                <a:spcPts val="0"/>
              </a:spcBef>
              <a:spcAft>
                <a:spcPts val="0"/>
              </a:spcAft>
              <a:buClr>
                <a:schemeClr val="dk1"/>
              </a:buClr>
              <a:buSzPts val="800"/>
              <a:buFont typeface="ABeeZee"/>
              <a:buChar char="●"/>
            </a:pPr>
            <a:r>
              <a:rPr lang="en-GB" sz="1100">
                <a:solidFill>
                  <a:schemeClr val="dk1"/>
                </a:solidFill>
              </a:rPr>
              <a:t>Lack of knowledge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Insecure</a:t>
            </a:r>
            <a:r>
              <a:rPr lang="en-GB" sz="1100">
                <a:solidFill>
                  <a:schemeClr val="dk1"/>
                </a:solidFill>
              </a:rPr>
              <a:t>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Feeling anxious, uncomfortable, </a:t>
            </a:r>
            <a:r>
              <a:rPr lang="en-GB" sz="1100">
                <a:solidFill>
                  <a:schemeClr val="dk1"/>
                </a:solidFill>
              </a:rPr>
              <a:t>embarrassed</a:t>
            </a:r>
            <a:r>
              <a:rPr lang="en-GB" sz="1100">
                <a:solidFill>
                  <a:schemeClr val="dk1"/>
                </a:solidFill>
              </a:rPr>
              <a:t> </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lang="en-GB" sz="1100">
                <a:solidFill>
                  <a:schemeClr val="dk1"/>
                </a:solidFill>
              </a:rPr>
              <a:t>Ruining everything you sit on/lay on due to the blood if </a:t>
            </a:r>
            <a:r>
              <a:rPr lang="en-GB" sz="1100">
                <a:solidFill>
                  <a:schemeClr val="dk1"/>
                </a:solidFill>
              </a:rPr>
              <a:t>you're</a:t>
            </a:r>
            <a:r>
              <a:rPr lang="en-GB" sz="1100">
                <a:solidFill>
                  <a:schemeClr val="dk1"/>
                </a:solidFill>
              </a:rPr>
              <a:t> not wearing any </a:t>
            </a:r>
            <a:r>
              <a:rPr lang="en-GB" sz="1100">
                <a:solidFill>
                  <a:schemeClr val="dk1"/>
                </a:solidFill>
              </a:rPr>
              <a:t>sanitary</a:t>
            </a:r>
            <a:r>
              <a:rPr lang="en-GB" sz="1100">
                <a:solidFill>
                  <a:schemeClr val="dk1"/>
                </a:solidFill>
              </a:rPr>
              <a:t> products </a:t>
            </a:r>
            <a:endParaRPr sz="1100">
              <a:solidFill>
                <a:schemeClr val="dk1"/>
              </a:solidFill>
            </a:endParaRPr>
          </a:p>
          <a:p>
            <a:pPr indent="0" lvl="0" marL="0" rtl="0" algn="l">
              <a:lnSpc>
                <a:spcPct val="115000"/>
              </a:lnSpc>
              <a:spcBef>
                <a:spcPts val="0"/>
              </a:spcBef>
              <a:spcAft>
                <a:spcPts val="0"/>
              </a:spcAft>
              <a:buNone/>
            </a:pPr>
            <a:r>
              <a:t/>
            </a:r>
            <a:endParaRPr sz="1100">
              <a:solidFill>
                <a:schemeClr val="dk1"/>
              </a:solidFill>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86" name="Google Shape;486;p6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1" name="Shape 491"/>
        <p:cNvGrpSpPr/>
        <p:nvPr/>
      </p:nvGrpSpPr>
      <p:grpSpPr>
        <a:xfrm>
          <a:off x="0" y="0"/>
          <a:ext cx="0" cy="0"/>
          <a:chOff x="0" y="0"/>
          <a:chExt cx="0" cy="0"/>
        </a:xfrm>
      </p:grpSpPr>
      <p:pic>
        <p:nvPicPr>
          <p:cNvPr descr="AC Slides-01.jpeg" id="492" name="Google Shape;492;p63"/>
          <p:cNvPicPr preferRelativeResize="0"/>
          <p:nvPr/>
        </p:nvPicPr>
        <p:blipFill>
          <a:blip r:embed="rId3">
            <a:alphaModFix/>
          </a:blip>
          <a:stretch>
            <a:fillRect/>
          </a:stretch>
        </p:blipFill>
        <p:spPr>
          <a:xfrm>
            <a:off x="0" y="0"/>
            <a:ext cx="9144000" cy="5143500"/>
          </a:xfrm>
          <a:prstGeom prst="rect">
            <a:avLst/>
          </a:prstGeom>
          <a:noFill/>
          <a:ln>
            <a:noFill/>
          </a:ln>
        </p:spPr>
      </p:pic>
      <p:sp>
        <p:nvSpPr>
          <p:cNvPr id="493" name="Google Shape;493;p6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4" name="Google Shape;494;p6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495" name="Google Shape;495;p6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strategies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What strategies could the below groups take to support young people who struggle with affording period products?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School</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Home</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Girlfriend/Boyfriends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Sports Clubs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496" name="Google Shape;496;p6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7" name="Google Shape;497;p6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1" name="Shape 501"/>
        <p:cNvGrpSpPr/>
        <p:nvPr/>
      </p:nvGrpSpPr>
      <p:grpSpPr>
        <a:xfrm>
          <a:off x="0" y="0"/>
          <a:ext cx="0" cy="0"/>
          <a:chOff x="0" y="0"/>
          <a:chExt cx="0" cy="0"/>
        </a:xfrm>
      </p:grpSpPr>
      <p:pic>
        <p:nvPicPr>
          <p:cNvPr descr="AC Slides-01.jpeg" id="502" name="Google Shape;502;p64"/>
          <p:cNvPicPr preferRelativeResize="0"/>
          <p:nvPr/>
        </p:nvPicPr>
        <p:blipFill>
          <a:blip r:embed="rId3">
            <a:alphaModFix/>
          </a:blip>
          <a:stretch>
            <a:fillRect/>
          </a:stretch>
        </p:blipFill>
        <p:spPr>
          <a:xfrm>
            <a:off x="0" y="0"/>
            <a:ext cx="9144000" cy="5143500"/>
          </a:xfrm>
          <a:prstGeom prst="rect">
            <a:avLst/>
          </a:prstGeom>
          <a:noFill/>
          <a:ln>
            <a:noFill/>
          </a:ln>
        </p:spPr>
      </p:pic>
      <p:sp>
        <p:nvSpPr>
          <p:cNvPr id="503" name="Google Shape;503;p6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4" name="Google Shape;504;p6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505" name="Google Shape;505;p6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Period poverty - societal groups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What strategies could these societal organisations or public figures apply to ensure health and safety for youth who struggle with period poverty?</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Workplaces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Governments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Healthcare Services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Politicians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rPr lang="en-GB" sz="1550">
                <a:solidFill>
                  <a:schemeClr val="dk1"/>
                </a:solidFill>
                <a:highlight>
                  <a:srgbClr val="FFFBF4"/>
                </a:highlight>
                <a:latin typeface="ABeeZee"/>
                <a:ea typeface="ABeeZee"/>
                <a:cs typeface="ABeeZee"/>
                <a:sym typeface="ABeeZee"/>
              </a:rPr>
              <a:t>School Principals</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0" rtl="0" algn="l">
              <a:lnSpc>
                <a:spcPct val="140000"/>
              </a:lnSpc>
              <a:spcBef>
                <a:spcPts val="0"/>
              </a:spcBef>
              <a:spcAft>
                <a:spcPts val="0"/>
              </a:spcAft>
              <a:buNone/>
            </a:pPr>
            <a:r>
              <a:t/>
            </a:r>
            <a:endParaRPr sz="1550">
              <a:solidFill>
                <a:schemeClr val="dk1"/>
              </a:solidFill>
              <a:highlight>
                <a:srgbClr val="FFFBF4"/>
              </a:highlight>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506" name="Google Shape;506;p6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7" name="Google Shape;507;p6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1" name="Shape 511"/>
        <p:cNvGrpSpPr/>
        <p:nvPr/>
      </p:nvGrpSpPr>
      <p:grpSpPr>
        <a:xfrm>
          <a:off x="0" y="0"/>
          <a:ext cx="0" cy="0"/>
          <a:chOff x="0" y="0"/>
          <a:chExt cx="0" cy="0"/>
        </a:xfrm>
      </p:grpSpPr>
      <p:pic>
        <p:nvPicPr>
          <p:cNvPr descr="AC Slides-01.jpeg" id="512" name="Google Shape;512;p65"/>
          <p:cNvPicPr preferRelativeResize="0"/>
          <p:nvPr/>
        </p:nvPicPr>
        <p:blipFill>
          <a:blip r:embed="rId3">
            <a:alphaModFix/>
          </a:blip>
          <a:stretch>
            <a:fillRect/>
          </a:stretch>
        </p:blipFill>
        <p:spPr>
          <a:xfrm>
            <a:off x="0" y="0"/>
            <a:ext cx="9144000" cy="5143500"/>
          </a:xfrm>
          <a:prstGeom prst="rect">
            <a:avLst/>
          </a:prstGeom>
          <a:noFill/>
          <a:ln>
            <a:noFill/>
          </a:ln>
        </p:spPr>
      </p:pic>
      <p:sp>
        <p:nvSpPr>
          <p:cNvPr id="513" name="Google Shape;513;p65"/>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514" name="Google Shape;514;p65"/>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515" name="Google Shape;515;p65"/>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516" name="Google Shape;516;p65"/>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517" name="Google Shape;517;p65"/>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3</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20 Oct - l1</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1" name="Shape 521"/>
        <p:cNvGrpSpPr/>
        <p:nvPr/>
      </p:nvGrpSpPr>
      <p:grpSpPr>
        <a:xfrm>
          <a:off x="0" y="0"/>
          <a:ext cx="0" cy="0"/>
          <a:chOff x="0" y="0"/>
          <a:chExt cx="0" cy="0"/>
        </a:xfrm>
      </p:grpSpPr>
      <p:sp>
        <p:nvSpPr>
          <p:cNvPr id="522" name="Google Shape;522;p6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23" name="Google Shape;523;p6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524" name="Google Shape;524;p66"/>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525" name="Google Shape;525;p66"/>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526" name="Google Shape;526;p66"/>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Separate out tables in class for our practice exam</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Sit somewhere you are sitting opposite someone and set yourself up where no one is sitting right beside you</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Complete this survey - </a:t>
            </a:r>
            <a:r>
              <a:rPr lang="en-GB" sz="1800" u="sng">
                <a:solidFill>
                  <a:schemeClr val="hlink"/>
                </a:solidFill>
                <a:latin typeface="ABeeZee"/>
                <a:ea typeface="ABeeZee"/>
                <a:cs typeface="ABeeZee"/>
                <a:sym typeface="ABeeZee"/>
                <a:hlinkClick r:id="rId4"/>
              </a:rPr>
              <a:t>link</a:t>
            </a:r>
            <a:r>
              <a:rPr lang="en-GB" sz="1800">
                <a:latin typeface="ABeeZee"/>
                <a:ea typeface="ABeeZee"/>
                <a:cs typeface="ABeeZee"/>
                <a:sym typeface="ABeeZee"/>
              </a:rPr>
              <a:t> then put your device or phone away</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If you want to be signed out for study leave put your sign out form on the desk up the front</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Get a pen out</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Put bags on benches</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527" name="Google Shape;527;p66" title="15 Minute Timer">
            <a:hlinkClick r:id="rId5"/>
          </p:cNvPr>
          <p:cNvPicPr preferRelativeResize="0"/>
          <p:nvPr/>
        </p:nvPicPr>
        <p:blipFill>
          <a:blip r:embed="rId6">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7"/>
                                        </p:tgtEl>
                                        <p:attrNameLst>
                                          <p:attrName>style.visibility</p:attrName>
                                        </p:attrNameLst>
                                      </p:cBhvr>
                                      <p:to>
                                        <p:strVal val="visible"/>
                                      </p:to>
                                    </p:set>
                                    <p:animEffect filter="fade" transition="in">
                                      <p:cBhvr>
                                        <p:cTn dur="1000"/>
                                        <p:tgtEl>
                                          <p:spTgt spid="52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1" name="Shape 531"/>
        <p:cNvGrpSpPr/>
        <p:nvPr/>
      </p:nvGrpSpPr>
      <p:grpSpPr>
        <a:xfrm>
          <a:off x="0" y="0"/>
          <a:ext cx="0" cy="0"/>
          <a:chOff x="0" y="0"/>
          <a:chExt cx="0" cy="0"/>
        </a:xfrm>
      </p:grpSpPr>
      <p:sp>
        <p:nvSpPr>
          <p:cNvPr id="532" name="Google Shape;532;p67"/>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33" name="Google Shape;533;p67"/>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534" name="Google Shape;534;p67"/>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535" name="Google Shape;535;p67"/>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536" name="Google Shape;536;p67"/>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Health external 2.1 - mock exam</a:t>
            </a:r>
            <a:endParaRPr b="1" sz="3600">
              <a:latin typeface="Jost"/>
              <a:ea typeface="Jost"/>
              <a:cs typeface="Jost"/>
              <a:sym typeface="Jost"/>
            </a:endParaRPr>
          </a:p>
          <a:p>
            <a:pPr indent="0" lvl="0" marL="0" rtl="0" algn="l">
              <a:lnSpc>
                <a:spcPct val="115000"/>
              </a:lnSpc>
              <a:spcBef>
                <a:spcPts val="1200"/>
              </a:spcBef>
              <a:spcAft>
                <a:spcPts val="0"/>
              </a:spcAft>
              <a:buNone/>
            </a:pPr>
            <a:r>
              <a:rPr b="1" i="1" lang="en-GB" sz="1600">
                <a:solidFill>
                  <a:srgbClr val="202124"/>
                </a:solidFill>
                <a:highlight>
                  <a:srgbClr val="FFFFFF"/>
                </a:highlight>
                <a:latin typeface="ABeeZee"/>
                <a:ea typeface="ABeeZee"/>
                <a:cs typeface="ABeeZee"/>
                <a:sym typeface="ABeeZee"/>
              </a:rPr>
              <a:t>Analyse an adolescent health issue</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No talking - exam conditions</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If you need to ask a question put your hand up</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Check your work, read and re-read if you have to</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If you finish before the time, put your hand up and I will collect your exam paperwork</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Set a timer for 50 minutes. This 50 minute timer with alarm silently counts down to 00:00 and then alerts you with a gentle alarm sound.&#10;&#10;What Is the 50 Minute Timer?&#10;If you're looking for a timer to help you stay on track with your work, a 50 minute countdown is a great option. You can use it to break up your work time into manageable chunks, and it can also help you avoid getting bogged down with one task for too long.&#10;&#10;How to Set a 50 Minute Timer&#10;There are a few different ways to set a 50 minute timer. One option is to use an online timer or a mobile app. Another option is to set a timer on your phone’s built-in clock. Whichever method you choose, be sure to set the timer in a place where you can see it easily so that you don't lose track of time.&#10;&#10;Why Should You Use This 50 Minute Alarm?&#10;This timer is perfect for work or study sessions. It's also great for any activity where you want to be sure to take a break every 50 minutes, such as cooking, laundry, or working out.&#10;&#10;Online Timer - https://timer.onlinealarmkur.com/en/" id="537" name="Google Shape;537;p67" title="50 Minute Timer">
            <a:hlinkClick r:id="rId4"/>
          </p:cNvPr>
          <p:cNvPicPr preferRelativeResize="0"/>
          <p:nvPr/>
        </p:nvPicPr>
        <p:blipFill>
          <a:blip r:embed="rId5">
            <a:alphaModFix/>
          </a:blip>
          <a:stretch>
            <a:fillRect/>
          </a:stretch>
        </p:blipFill>
        <p:spPr>
          <a:xfrm>
            <a:off x="638650" y="3178600"/>
            <a:ext cx="3048000" cy="17145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1" name="Shape 541"/>
        <p:cNvGrpSpPr/>
        <p:nvPr/>
      </p:nvGrpSpPr>
      <p:grpSpPr>
        <a:xfrm>
          <a:off x="0" y="0"/>
          <a:ext cx="0" cy="0"/>
          <a:chOff x="0" y="0"/>
          <a:chExt cx="0" cy="0"/>
        </a:xfrm>
      </p:grpSpPr>
      <p:pic>
        <p:nvPicPr>
          <p:cNvPr descr="AC Slides-01.jpeg" id="542" name="Google Shape;542;p68"/>
          <p:cNvPicPr preferRelativeResize="0"/>
          <p:nvPr/>
        </p:nvPicPr>
        <p:blipFill>
          <a:blip r:embed="rId3">
            <a:alphaModFix/>
          </a:blip>
          <a:stretch>
            <a:fillRect/>
          </a:stretch>
        </p:blipFill>
        <p:spPr>
          <a:xfrm>
            <a:off x="0" y="0"/>
            <a:ext cx="9144000" cy="5143500"/>
          </a:xfrm>
          <a:prstGeom prst="rect">
            <a:avLst/>
          </a:prstGeom>
          <a:noFill/>
          <a:ln>
            <a:noFill/>
          </a:ln>
        </p:spPr>
      </p:pic>
      <p:sp>
        <p:nvSpPr>
          <p:cNvPr id="543" name="Google Shape;543;p68"/>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544" name="Google Shape;544;p68"/>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545" name="Google Shape;545;p68"/>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546" name="Google Shape;546;p68"/>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547" name="Google Shape;547;p68"/>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3</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20 Oct - l2</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1" name="Shape 551"/>
        <p:cNvGrpSpPr/>
        <p:nvPr/>
      </p:nvGrpSpPr>
      <p:grpSpPr>
        <a:xfrm>
          <a:off x="0" y="0"/>
          <a:ext cx="0" cy="0"/>
          <a:chOff x="0" y="0"/>
          <a:chExt cx="0" cy="0"/>
        </a:xfrm>
      </p:grpSpPr>
      <p:sp>
        <p:nvSpPr>
          <p:cNvPr id="552" name="Google Shape;552;p69"/>
          <p:cNvSpPr txBox="1"/>
          <p:nvPr>
            <p:ph idx="1" type="subTitle"/>
          </p:nvPr>
        </p:nvSpPr>
        <p:spPr>
          <a:xfrm>
            <a:off x="311700" y="1199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4200">
                <a:solidFill>
                  <a:srgbClr val="980000"/>
                </a:solidFill>
                <a:latin typeface="Acme"/>
                <a:ea typeface="Acme"/>
                <a:cs typeface="Acme"/>
                <a:sym typeface="Acme"/>
              </a:rPr>
              <a:t>Do Now - </a:t>
            </a:r>
            <a:r>
              <a:rPr b="1" lang="en-GB" sz="4200">
                <a:solidFill>
                  <a:srgbClr val="980000"/>
                </a:solidFill>
                <a:latin typeface="Acme"/>
                <a:ea typeface="Acme"/>
                <a:cs typeface="Acme"/>
                <a:sym typeface="Acme"/>
              </a:rPr>
              <a:t>Name these people</a:t>
            </a:r>
            <a:endParaRPr b="1" sz="4200">
              <a:solidFill>
                <a:srgbClr val="980000"/>
              </a:solidFill>
              <a:latin typeface="Acme"/>
              <a:ea typeface="Acme"/>
              <a:cs typeface="Acme"/>
              <a:sym typeface="Acme"/>
            </a:endParaRPr>
          </a:p>
        </p:txBody>
      </p:sp>
      <p:pic>
        <p:nvPicPr>
          <p:cNvPr id="553" name="Google Shape;553;p69"/>
          <p:cNvPicPr preferRelativeResize="0"/>
          <p:nvPr/>
        </p:nvPicPr>
        <p:blipFill>
          <a:blip r:embed="rId3">
            <a:alphaModFix/>
          </a:blip>
          <a:stretch>
            <a:fillRect/>
          </a:stretch>
        </p:blipFill>
        <p:spPr>
          <a:xfrm>
            <a:off x="152400" y="1064975"/>
            <a:ext cx="1828800" cy="2505075"/>
          </a:xfrm>
          <a:prstGeom prst="rect">
            <a:avLst/>
          </a:prstGeom>
          <a:noFill/>
          <a:ln>
            <a:noFill/>
          </a:ln>
        </p:spPr>
      </p:pic>
      <p:pic>
        <p:nvPicPr>
          <p:cNvPr id="554" name="Google Shape;554;p69"/>
          <p:cNvPicPr preferRelativeResize="0"/>
          <p:nvPr/>
        </p:nvPicPr>
        <p:blipFill>
          <a:blip r:embed="rId4">
            <a:alphaModFix/>
          </a:blip>
          <a:stretch>
            <a:fillRect/>
          </a:stretch>
        </p:blipFill>
        <p:spPr>
          <a:xfrm>
            <a:off x="2133600" y="1064975"/>
            <a:ext cx="2076450" cy="2209800"/>
          </a:xfrm>
          <a:prstGeom prst="rect">
            <a:avLst/>
          </a:prstGeom>
          <a:noFill/>
          <a:ln>
            <a:noFill/>
          </a:ln>
        </p:spPr>
      </p:pic>
      <p:pic>
        <p:nvPicPr>
          <p:cNvPr id="555" name="Google Shape;555;p69"/>
          <p:cNvPicPr preferRelativeResize="0"/>
          <p:nvPr/>
        </p:nvPicPr>
        <p:blipFill>
          <a:blip r:embed="rId5">
            <a:alphaModFix/>
          </a:blip>
          <a:stretch>
            <a:fillRect/>
          </a:stretch>
        </p:blipFill>
        <p:spPr>
          <a:xfrm>
            <a:off x="4362450" y="1064975"/>
            <a:ext cx="1743075" cy="2619375"/>
          </a:xfrm>
          <a:prstGeom prst="rect">
            <a:avLst/>
          </a:prstGeom>
          <a:noFill/>
          <a:ln>
            <a:noFill/>
          </a:ln>
        </p:spPr>
      </p:pic>
      <p:pic>
        <p:nvPicPr>
          <p:cNvPr id="556" name="Google Shape;556;p69"/>
          <p:cNvPicPr preferRelativeResize="0"/>
          <p:nvPr/>
        </p:nvPicPr>
        <p:blipFill>
          <a:blip r:embed="rId6">
            <a:alphaModFix/>
          </a:blip>
          <a:stretch>
            <a:fillRect/>
          </a:stretch>
        </p:blipFill>
        <p:spPr>
          <a:xfrm>
            <a:off x="6257925" y="1064975"/>
            <a:ext cx="2733676" cy="2871955"/>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0" name="Shape 560"/>
        <p:cNvGrpSpPr/>
        <p:nvPr/>
      </p:nvGrpSpPr>
      <p:grpSpPr>
        <a:xfrm>
          <a:off x="0" y="0"/>
          <a:ext cx="0" cy="0"/>
          <a:chOff x="0" y="0"/>
          <a:chExt cx="0" cy="0"/>
        </a:xfrm>
      </p:grpSpPr>
      <p:sp>
        <p:nvSpPr>
          <p:cNvPr id="561" name="Google Shape;561;p70"/>
          <p:cNvSpPr txBox="1"/>
          <p:nvPr>
            <p:ph idx="1" type="subTitle"/>
          </p:nvPr>
        </p:nvSpPr>
        <p:spPr>
          <a:xfrm>
            <a:off x="311700" y="119975"/>
            <a:ext cx="8520600" cy="792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GB" sz="4200">
                <a:solidFill>
                  <a:srgbClr val="980000"/>
                </a:solidFill>
                <a:latin typeface="Acme"/>
                <a:ea typeface="Acme"/>
                <a:cs typeface="Acme"/>
                <a:sym typeface="Acme"/>
              </a:rPr>
              <a:t>What do they have in common?</a:t>
            </a:r>
            <a:endParaRPr b="1" sz="4200">
              <a:solidFill>
                <a:srgbClr val="980000"/>
              </a:solidFill>
              <a:latin typeface="Acme"/>
              <a:ea typeface="Acme"/>
              <a:cs typeface="Acme"/>
              <a:sym typeface="Acme"/>
            </a:endParaRPr>
          </a:p>
        </p:txBody>
      </p:sp>
      <p:pic>
        <p:nvPicPr>
          <p:cNvPr id="562" name="Google Shape;562;p70"/>
          <p:cNvPicPr preferRelativeResize="0"/>
          <p:nvPr/>
        </p:nvPicPr>
        <p:blipFill>
          <a:blip r:embed="rId3">
            <a:alphaModFix/>
          </a:blip>
          <a:stretch>
            <a:fillRect/>
          </a:stretch>
        </p:blipFill>
        <p:spPr>
          <a:xfrm>
            <a:off x="152400" y="1064975"/>
            <a:ext cx="1828800" cy="2505075"/>
          </a:xfrm>
          <a:prstGeom prst="rect">
            <a:avLst/>
          </a:prstGeom>
          <a:noFill/>
          <a:ln>
            <a:noFill/>
          </a:ln>
        </p:spPr>
      </p:pic>
      <p:pic>
        <p:nvPicPr>
          <p:cNvPr id="563" name="Google Shape;563;p70"/>
          <p:cNvPicPr preferRelativeResize="0"/>
          <p:nvPr/>
        </p:nvPicPr>
        <p:blipFill>
          <a:blip r:embed="rId4">
            <a:alphaModFix/>
          </a:blip>
          <a:stretch>
            <a:fillRect/>
          </a:stretch>
        </p:blipFill>
        <p:spPr>
          <a:xfrm>
            <a:off x="2133600" y="1064975"/>
            <a:ext cx="2076450" cy="2209800"/>
          </a:xfrm>
          <a:prstGeom prst="rect">
            <a:avLst/>
          </a:prstGeom>
          <a:noFill/>
          <a:ln>
            <a:noFill/>
          </a:ln>
        </p:spPr>
      </p:pic>
      <p:pic>
        <p:nvPicPr>
          <p:cNvPr id="564" name="Google Shape;564;p70"/>
          <p:cNvPicPr preferRelativeResize="0"/>
          <p:nvPr/>
        </p:nvPicPr>
        <p:blipFill>
          <a:blip r:embed="rId5">
            <a:alphaModFix/>
          </a:blip>
          <a:stretch>
            <a:fillRect/>
          </a:stretch>
        </p:blipFill>
        <p:spPr>
          <a:xfrm>
            <a:off x="4362450" y="1064975"/>
            <a:ext cx="1743075" cy="2619375"/>
          </a:xfrm>
          <a:prstGeom prst="rect">
            <a:avLst/>
          </a:prstGeom>
          <a:noFill/>
          <a:ln>
            <a:noFill/>
          </a:ln>
        </p:spPr>
      </p:pic>
      <p:pic>
        <p:nvPicPr>
          <p:cNvPr id="565" name="Google Shape;565;p70"/>
          <p:cNvPicPr preferRelativeResize="0"/>
          <p:nvPr/>
        </p:nvPicPr>
        <p:blipFill>
          <a:blip r:embed="rId6">
            <a:alphaModFix/>
          </a:blip>
          <a:stretch>
            <a:fillRect/>
          </a:stretch>
        </p:blipFill>
        <p:spPr>
          <a:xfrm>
            <a:off x="6257925" y="1064975"/>
            <a:ext cx="2733676" cy="2871955"/>
          </a:xfrm>
          <a:prstGeom prst="rect">
            <a:avLst/>
          </a:prstGeom>
          <a:noFill/>
          <a:ln>
            <a:noFill/>
          </a:ln>
        </p:spPr>
      </p:pic>
      <p:sp>
        <p:nvSpPr>
          <p:cNvPr id="566" name="Google Shape;566;p70"/>
          <p:cNvSpPr txBox="1"/>
          <p:nvPr/>
        </p:nvSpPr>
        <p:spPr>
          <a:xfrm>
            <a:off x="31303" y="3936925"/>
            <a:ext cx="8800200" cy="679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1800">
                <a:solidFill>
                  <a:srgbClr val="980000"/>
                </a:solidFill>
                <a:latin typeface="Inclusive Sans Medium"/>
                <a:ea typeface="Inclusive Sans Medium"/>
                <a:cs typeface="Inclusive Sans Medium"/>
                <a:sym typeface="Inclusive Sans Medium"/>
              </a:rPr>
              <a:t>Jenny Shipley	    Steve Hansen		    Parris Goebel		Mele Ikiua</a:t>
            </a:r>
            <a:endParaRPr sz="1800">
              <a:solidFill>
                <a:srgbClr val="980000"/>
              </a:solidFill>
              <a:latin typeface="Inclusive Sans Medium"/>
              <a:ea typeface="Inclusive Sans Medium"/>
              <a:cs typeface="Inclusive Sans Medium"/>
              <a:sym typeface="Inclusive Sans Medium"/>
            </a:endParaRPr>
          </a:p>
          <a:p>
            <a:pPr indent="0" lvl="0" marL="0" rtl="0" algn="l">
              <a:spcBef>
                <a:spcPts val="0"/>
              </a:spcBef>
              <a:spcAft>
                <a:spcPts val="0"/>
              </a:spcAft>
              <a:buNone/>
            </a:pPr>
            <a:r>
              <a:rPr lang="en-GB" sz="1800">
                <a:solidFill>
                  <a:srgbClr val="980000"/>
                </a:solidFill>
                <a:latin typeface="Inclusive Sans Medium"/>
                <a:ea typeface="Inclusive Sans Medium"/>
                <a:cs typeface="Inclusive Sans Medium"/>
                <a:sym typeface="Inclusive Sans Medium"/>
              </a:rPr>
              <a:t>Former PM of NZ    Former ABs Coach    Choreographer	AC Learning Leader</a:t>
            </a:r>
            <a:endParaRPr sz="1800">
              <a:solidFill>
                <a:srgbClr val="980000"/>
              </a:solidFill>
              <a:latin typeface="Inclusive Sans Medium"/>
              <a:ea typeface="Inclusive Sans Medium"/>
              <a:cs typeface="Inclusive Sans Medium"/>
              <a:sym typeface="Inclusive Sans Medium"/>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0" name="Shape 570"/>
        <p:cNvGrpSpPr/>
        <p:nvPr/>
      </p:nvGrpSpPr>
      <p:grpSpPr>
        <a:xfrm>
          <a:off x="0" y="0"/>
          <a:ext cx="0" cy="0"/>
          <a:chOff x="0" y="0"/>
          <a:chExt cx="0" cy="0"/>
        </a:xfrm>
      </p:grpSpPr>
      <p:sp>
        <p:nvSpPr>
          <p:cNvPr id="571" name="Google Shape;571;p71"/>
          <p:cNvSpPr txBox="1"/>
          <p:nvPr>
            <p:ph idx="4294967295" type="subTitle"/>
          </p:nvPr>
        </p:nvSpPr>
        <p:spPr>
          <a:xfrm>
            <a:off x="194543" y="312426"/>
            <a:ext cx="2187900" cy="4686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4200">
                <a:solidFill>
                  <a:srgbClr val="980000"/>
                </a:solidFill>
                <a:latin typeface="Acme"/>
                <a:ea typeface="Acme"/>
                <a:cs typeface="Acme"/>
                <a:sym typeface="Acme"/>
              </a:rPr>
              <a:t>The </a:t>
            </a:r>
            <a:endParaRPr b="1" sz="4200">
              <a:solidFill>
                <a:srgbClr val="980000"/>
              </a:solidFill>
              <a:latin typeface="Acme"/>
              <a:ea typeface="Acme"/>
              <a:cs typeface="Acme"/>
              <a:sym typeface="Acme"/>
            </a:endParaRPr>
          </a:p>
          <a:p>
            <a:pPr indent="0" lvl="0" marL="0" rtl="0" algn="l">
              <a:spcBef>
                <a:spcPts val="1200"/>
              </a:spcBef>
              <a:spcAft>
                <a:spcPts val="0"/>
              </a:spcAft>
              <a:buNone/>
            </a:pPr>
            <a:r>
              <a:rPr b="1" lang="en-GB" sz="4200">
                <a:solidFill>
                  <a:srgbClr val="980000"/>
                </a:solidFill>
                <a:latin typeface="Acme"/>
                <a:ea typeface="Acme"/>
                <a:cs typeface="Acme"/>
                <a:sym typeface="Acme"/>
              </a:rPr>
              <a:t>New </a:t>
            </a:r>
            <a:endParaRPr b="1" sz="4200">
              <a:solidFill>
                <a:srgbClr val="980000"/>
              </a:solidFill>
              <a:latin typeface="Acme"/>
              <a:ea typeface="Acme"/>
              <a:cs typeface="Acme"/>
              <a:sym typeface="Acme"/>
            </a:endParaRPr>
          </a:p>
          <a:p>
            <a:pPr indent="0" lvl="0" marL="0" rtl="0" algn="l">
              <a:spcBef>
                <a:spcPts val="1200"/>
              </a:spcBef>
              <a:spcAft>
                <a:spcPts val="0"/>
              </a:spcAft>
              <a:buNone/>
            </a:pPr>
            <a:r>
              <a:rPr b="1" lang="en-GB" sz="4200">
                <a:solidFill>
                  <a:srgbClr val="980000"/>
                </a:solidFill>
                <a:latin typeface="Acme"/>
                <a:ea typeface="Acme"/>
                <a:cs typeface="Acme"/>
                <a:sym typeface="Acme"/>
              </a:rPr>
              <a:t>Zealand</a:t>
            </a:r>
            <a:endParaRPr b="1" sz="4200">
              <a:solidFill>
                <a:srgbClr val="980000"/>
              </a:solidFill>
              <a:latin typeface="Acme"/>
              <a:ea typeface="Acme"/>
              <a:cs typeface="Acme"/>
              <a:sym typeface="Acme"/>
            </a:endParaRPr>
          </a:p>
          <a:p>
            <a:pPr indent="0" lvl="0" marL="0" rtl="0" algn="l">
              <a:spcBef>
                <a:spcPts val="1200"/>
              </a:spcBef>
              <a:spcAft>
                <a:spcPts val="0"/>
              </a:spcAft>
              <a:buNone/>
            </a:pPr>
            <a:r>
              <a:rPr b="1" lang="en-GB" sz="4200">
                <a:solidFill>
                  <a:srgbClr val="980000"/>
                </a:solidFill>
                <a:latin typeface="Acme"/>
                <a:ea typeface="Acme"/>
                <a:cs typeface="Acme"/>
                <a:sym typeface="Acme"/>
              </a:rPr>
              <a:t>Order of</a:t>
            </a:r>
            <a:endParaRPr b="1" sz="4200">
              <a:solidFill>
                <a:srgbClr val="980000"/>
              </a:solidFill>
              <a:latin typeface="Acme"/>
              <a:ea typeface="Acme"/>
              <a:cs typeface="Acme"/>
              <a:sym typeface="Acme"/>
            </a:endParaRPr>
          </a:p>
          <a:p>
            <a:pPr indent="0" lvl="0" marL="0" rtl="0" algn="l">
              <a:spcBef>
                <a:spcPts val="1200"/>
              </a:spcBef>
              <a:spcAft>
                <a:spcPts val="0"/>
              </a:spcAft>
              <a:buNone/>
            </a:pPr>
            <a:r>
              <a:rPr b="1" lang="en-GB" sz="4200">
                <a:solidFill>
                  <a:srgbClr val="980000"/>
                </a:solidFill>
                <a:latin typeface="Acme"/>
                <a:ea typeface="Acme"/>
                <a:cs typeface="Acme"/>
                <a:sym typeface="Acme"/>
              </a:rPr>
              <a:t>Merit</a:t>
            </a:r>
            <a:endParaRPr b="1" sz="4200">
              <a:solidFill>
                <a:srgbClr val="980000"/>
              </a:solidFill>
              <a:latin typeface="Acme"/>
              <a:ea typeface="Acme"/>
              <a:cs typeface="Acme"/>
              <a:sym typeface="Acme"/>
            </a:endParaRPr>
          </a:p>
          <a:p>
            <a:pPr indent="0" lvl="0" marL="0" rtl="0" algn="l">
              <a:spcBef>
                <a:spcPts val="1200"/>
              </a:spcBef>
              <a:spcAft>
                <a:spcPts val="1200"/>
              </a:spcAft>
              <a:buNone/>
            </a:pPr>
            <a:r>
              <a:t/>
            </a:r>
            <a:endParaRPr b="1" sz="4200">
              <a:solidFill>
                <a:srgbClr val="980000"/>
              </a:solidFill>
              <a:latin typeface="Acme"/>
              <a:ea typeface="Acme"/>
              <a:cs typeface="Acme"/>
              <a:sym typeface="Acme"/>
            </a:endParaRPr>
          </a:p>
        </p:txBody>
      </p:sp>
      <p:pic>
        <p:nvPicPr>
          <p:cNvPr id="572" name="Google Shape;572;p71"/>
          <p:cNvPicPr preferRelativeResize="0"/>
          <p:nvPr/>
        </p:nvPicPr>
        <p:blipFill>
          <a:blip r:embed="rId3">
            <a:alphaModFix/>
          </a:blip>
          <a:stretch>
            <a:fillRect/>
          </a:stretch>
        </p:blipFill>
        <p:spPr>
          <a:xfrm>
            <a:off x="2429426" y="984250"/>
            <a:ext cx="2784525" cy="2784525"/>
          </a:xfrm>
          <a:prstGeom prst="rect">
            <a:avLst/>
          </a:prstGeom>
          <a:noFill/>
          <a:ln>
            <a:noFill/>
          </a:ln>
        </p:spPr>
      </p:pic>
      <p:sp>
        <p:nvSpPr>
          <p:cNvPr id="573" name="Google Shape;573;p71"/>
          <p:cNvSpPr txBox="1"/>
          <p:nvPr/>
        </p:nvSpPr>
        <p:spPr>
          <a:xfrm>
            <a:off x="5873825" y="326200"/>
            <a:ext cx="3093000" cy="4672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73763"/>
                </a:solidFill>
                <a:latin typeface="Inclusive Sans Medium"/>
                <a:ea typeface="Inclusive Sans Medium"/>
                <a:cs typeface="Inclusive Sans Medium"/>
                <a:sym typeface="Inclusive Sans Medium"/>
              </a:rPr>
              <a:t>The MNZM was created in 1996, by </a:t>
            </a:r>
            <a:r>
              <a:rPr lang="en-GB" sz="2000">
                <a:solidFill>
                  <a:srgbClr val="073763"/>
                </a:solidFill>
                <a:uFill>
                  <a:noFill/>
                </a:uFill>
                <a:latin typeface="Inclusive Sans Medium"/>
                <a:ea typeface="Inclusive Sans Medium"/>
                <a:cs typeface="Inclusive Sans Medium"/>
                <a:sym typeface="Inclusive Sans Medium"/>
                <a:hlinkClick r:id="rId4">
                  <a:extLst>
                    <a:ext uri="{A12FA001-AC4F-418D-AE19-62706E023703}">
                      <ahyp:hlinkClr val="tx"/>
                    </a:ext>
                  </a:extLst>
                </a:hlinkClick>
              </a:rPr>
              <a:t>Elizabeth II</a:t>
            </a:r>
            <a:r>
              <a:rPr lang="en-GB" sz="2000">
                <a:solidFill>
                  <a:srgbClr val="073763"/>
                </a:solidFill>
                <a:latin typeface="Inclusive Sans Medium"/>
                <a:ea typeface="Inclusive Sans Medium"/>
                <a:cs typeface="Inclusive Sans Medium"/>
                <a:sym typeface="Inclusive Sans Medium"/>
              </a:rPr>
              <a:t>, who was the Queen of New Zealand at the time. It was made to </a:t>
            </a:r>
            <a:r>
              <a:rPr b="1" lang="en-GB" sz="2000">
                <a:solidFill>
                  <a:srgbClr val="073763"/>
                </a:solidFill>
                <a:latin typeface="Inclusive Sans"/>
                <a:ea typeface="Inclusive Sans"/>
                <a:cs typeface="Inclusive Sans"/>
                <a:sym typeface="Inclusive Sans"/>
              </a:rPr>
              <a:t>recognise people who have done amazing things for New Zealand.</a:t>
            </a:r>
            <a:r>
              <a:rPr lang="en-GB" sz="2000">
                <a:solidFill>
                  <a:srgbClr val="073763"/>
                </a:solidFill>
                <a:latin typeface="Inclusive Sans Medium"/>
                <a:ea typeface="Inclusive Sans Medium"/>
                <a:cs typeface="Inclusive Sans Medium"/>
                <a:sym typeface="Inclusive Sans Medium"/>
              </a:rPr>
              <a:t> This includes those who have shown </a:t>
            </a:r>
            <a:r>
              <a:rPr b="1" lang="en-GB" sz="2000">
                <a:solidFill>
                  <a:srgbClr val="073763"/>
                </a:solidFill>
                <a:latin typeface="Inclusive Sans"/>
                <a:ea typeface="Inclusive Sans"/>
                <a:cs typeface="Inclusive Sans"/>
                <a:sym typeface="Inclusive Sans"/>
              </a:rPr>
              <a:t>outstanding service </a:t>
            </a:r>
            <a:r>
              <a:rPr lang="en-GB" sz="2000">
                <a:solidFill>
                  <a:srgbClr val="073763"/>
                </a:solidFill>
                <a:latin typeface="Inclusive Sans Medium"/>
                <a:ea typeface="Inclusive Sans Medium"/>
                <a:cs typeface="Inclusive Sans Medium"/>
                <a:sym typeface="Inclusive Sans Medium"/>
              </a:rPr>
              <a:t>to the country, whether in civilian life or in the military.</a:t>
            </a:r>
            <a:endParaRPr sz="2600">
              <a:solidFill>
                <a:srgbClr val="073763"/>
              </a:solidFill>
              <a:latin typeface="Inclusive Sans Medium"/>
              <a:ea typeface="Inclusive Sans Medium"/>
              <a:cs typeface="Inclusive Sans Medium"/>
              <a:sym typeface="Inclusive Sans Medium"/>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7" name="Shape 577"/>
        <p:cNvGrpSpPr/>
        <p:nvPr/>
      </p:nvGrpSpPr>
      <p:grpSpPr>
        <a:xfrm>
          <a:off x="0" y="0"/>
          <a:ext cx="0" cy="0"/>
          <a:chOff x="0" y="0"/>
          <a:chExt cx="0" cy="0"/>
        </a:xfrm>
      </p:grpSpPr>
      <p:sp>
        <p:nvSpPr>
          <p:cNvPr id="578" name="Google Shape;578;p72"/>
          <p:cNvSpPr txBox="1"/>
          <p:nvPr>
            <p:ph idx="4294967295" type="subTitle"/>
          </p:nvPr>
        </p:nvSpPr>
        <p:spPr>
          <a:xfrm>
            <a:off x="171125" y="175751"/>
            <a:ext cx="2187900" cy="80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4200">
                <a:solidFill>
                  <a:srgbClr val="980000"/>
                </a:solidFill>
                <a:latin typeface="Acme"/>
                <a:ea typeface="Acme"/>
                <a:cs typeface="Acme"/>
                <a:sym typeface="Acme"/>
              </a:rPr>
              <a:t>Today</a:t>
            </a:r>
            <a:endParaRPr b="1" sz="4200">
              <a:solidFill>
                <a:srgbClr val="980000"/>
              </a:solidFill>
              <a:latin typeface="Acme"/>
              <a:ea typeface="Acme"/>
              <a:cs typeface="Acme"/>
              <a:sym typeface="Acme"/>
            </a:endParaRPr>
          </a:p>
          <a:p>
            <a:pPr indent="0" lvl="0" marL="0" rtl="0" algn="l">
              <a:spcBef>
                <a:spcPts val="1200"/>
              </a:spcBef>
              <a:spcAft>
                <a:spcPts val="1200"/>
              </a:spcAft>
              <a:buNone/>
            </a:pPr>
            <a:r>
              <a:t/>
            </a:r>
            <a:endParaRPr b="1" sz="4200">
              <a:solidFill>
                <a:srgbClr val="980000"/>
              </a:solidFill>
              <a:latin typeface="Acme"/>
              <a:ea typeface="Acme"/>
              <a:cs typeface="Acme"/>
              <a:sym typeface="Acme"/>
            </a:endParaRPr>
          </a:p>
        </p:txBody>
      </p:sp>
      <p:pic>
        <p:nvPicPr>
          <p:cNvPr id="579" name="Google Shape;579;p72"/>
          <p:cNvPicPr preferRelativeResize="0"/>
          <p:nvPr/>
        </p:nvPicPr>
        <p:blipFill>
          <a:blip r:embed="rId3">
            <a:alphaModFix/>
          </a:blip>
          <a:stretch>
            <a:fillRect/>
          </a:stretch>
        </p:blipFill>
        <p:spPr>
          <a:xfrm>
            <a:off x="648525" y="2339675"/>
            <a:ext cx="1499475" cy="1499475"/>
          </a:xfrm>
          <a:prstGeom prst="rect">
            <a:avLst/>
          </a:prstGeom>
          <a:noFill/>
          <a:ln>
            <a:noFill/>
          </a:ln>
        </p:spPr>
      </p:pic>
      <p:sp>
        <p:nvSpPr>
          <p:cNvPr id="580" name="Google Shape;580;p72"/>
          <p:cNvSpPr txBox="1"/>
          <p:nvPr/>
        </p:nvSpPr>
        <p:spPr>
          <a:xfrm>
            <a:off x="1714494" y="384800"/>
            <a:ext cx="7335900" cy="1743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solidFill>
                  <a:srgbClr val="073763"/>
                </a:solidFill>
                <a:latin typeface="Inclusive Sans Medium"/>
                <a:ea typeface="Inclusive Sans Medium"/>
                <a:cs typeface="Inclusive Sans Medium"/>
                <a:sym typeface="Inclusive Sans Medium"/>
              </a:rPr>
              <a:t>Community acknowledgement of and celebration for Ms Ikiua who received a MNZM in the King’s Birthday Honours for her services to vagahau Niue language and education.</a:t>
            </a:r>
            <a:endParaRPr sz="3100">
              <a:solidFill>
                <a:srgbClr val="073763"/>
              </a:solidFill>
              <a:latin typeface="Inclusive Sans Medium"/>
              <a:ea typeface="Inclusive Sans Medium"/>
              <a:cs typeface="Inclusive Sans Medium"/>
              <a:sym typeface="Inclusive Sans Medium"/>
            </a:endParaRPr>
          </a:p>
        </p:txBody>
      </p:sp>
      <p:sp>
        <p:nvSpPr>
          <p:cNvPr id="581" name="Google Shape;581;p72"/>
          <p:cNvSpPr txBox="1"/>
          <p:nvPr/>
        </p:nvSpPr>
        <p:spPr>
          <a:xfrm>
            <a:off x="-101396" y="3815727"/>
            <a:ext cx="3069600" cy="99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073763"/>
                </a:solidFill>
                <a:latin typeface="ABeeZee"/>
                <a:ea typeface="ABeeZee"/>
                <a:cs typeface="ABeeZee"/>
                <a:sym typeface="ABeeZee"/>
              </a:rPr>
              <a:t>Ms Ikiua has created the NCEA Achievement Standards for Vagahau Niue </a:t>
            </a:r>
            <a:endParaRPr sz="2500">
              <a:solidFill>
                <a:srgbClr val="073763"/>
              </a:solidFill>
              <a:latin typeface="ABeeZee"/>
              <a:ea typeface="ABeeZee"/>
              <a:cs typeface="ABeeZee"/>
              <a:sym typeface="ABeeZee"/>
            </a:endParaRPr>
          </a:p>
        </p:txBody>
      </p:sp>
      <p:pic>
        <p:nvPicPr>
          <p:cNvPr id="582" name="Google Shape;582;p72"/>
          <p:cNvPicPr preferRelativeResize="0"/>
          <p:nvPr/>
        </p:nvPicPr>
        <p:blipFill>
          <a:blip r:embed="rId3">
            <a:alphaModFix/>
          </a:blip>
          <a:stretch>
            <a:fillRect/>
          </a:stretch>
        </p:blipFill>
        <p:spPr>
          <a:xfrm>
            <a:off x="3612850" y="2292820"/>
            <a:ext cx="1499475" cy="1499475"/>
          </a:xfrm>
          <a:prstGeom prst="rect">
            <a:avLst/>
          </a:prstGeom>
          <a:noFill/>
          <a:ln>
            <a:noFill/>
          </a:ln>
        </p:spPr>
      </p:pic>
      <p:sp>
        <p:nvSpPr>
          <p:cNvPr id="583" name="Google Shape;583;p72"/>
          <p:cNvSpPr txBox="1"/>
          <p:nvPr/>
        </p:nvSpPr>
        <p:spPr>
          <a:xfrm>
            <a:off x="3037188" y="3839161"/>
            <a:ext cx="3069600" cy="99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073763"/>
                </a:solidFill>
                <a:latin typeface="ABeeZee"/>
                <a:ea typeface="ABeeZee"/>
                <a:cs typeface="ABeeZee"/>
                <a:sym typeface="ABeeZee"/>
              </a:rPr>
              <a:t>Ms Ikiua has been the coordinator of Polyfest Niuean stage since 2014</a:t>
            </a:r>
            <a:endParaRPr sz="2500">
              <a:solidFill>
                <a:srgbClr val="073763"/>
              </a:solidFill>
              <a:latin typeface="ABeeZee"/>
              <a:ea typeface="ABeeZee"/>
              <a:cs typeface="ABeeZee"/>
              <a:sym typeface="ABeeZee"/>
            </a:endParaRPr>
          </a:p>
        </p:txBody>
      </p:sp>
      <p:pic>
        <p:nvPicPr>
          <p:cNvPr id="584" name="Google Shape;584;p72"/>
          <p:cNvPicPr preferRelativeResize="0"/>
          <p:nvPr/>
        </p:nvPicPr>
        <p:blipFill>
          <a:blip r:embed="rId3">
            <a:alphaModFix/>
          </a:blip>
          <a:stretch>
            <a:fillRect/>
          </a:stretch>
        </p:blipFill>
        <p:spPr>
          <a:xfrm>
            <a:off x="7151275" y="2339670"/>
            <a:ext cx="1499475" cy="1499475"/>
          </a:xfrm>
          <a:prstGeom prst="rect">
            <a:avLst/>
          </a:prstGeom>
          <a:noFill/>
          <a:ln>
            <a:noFill/>
          </a:ln>
        </p:spPr>
      </p:pic>
      <p:sp>
        <p:nvSpPr>
          <p:cNvPr id="585" name="Google Shape;585;p72"/>
          <p:cNvSpPr txBox="1"/>
          <p:nvPr/>
        </p:nvSpPr>
        <p:spPr>
          <a:xfrm>
            <a:off x="6156550" y="3816105"/>
            <a:ext cx="3069600" cy="9960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2000">
                <a:solidFill>
                  <a:srgbClr val="073763"/>
                </a:solidFill>
                <a:latin typeface="ABeeZee"/>
                <a:ea typeface="ABeeZee"/>
                <a:cs typeface="ABeeZee"/>
                <a:sym typeface="ABeeZee"/>
              </a:rPr>
              <a:t>Ms Ikiua has established Three Star Nation and the Tofioka Arts Academy </a:t>
            </a:r>
            <a:endParaRPr sz="2500">
              <a:solidFill>
                <a:srgbClr val="073763"/>
              </a:solidFill>
              <a:latin typeface="ABeeZee"/>
              <a:ea typeface="ABeeZee"/>
              <a:cs typeface="ABeeZee"/>
              <a:sym typeface="ABeeZee"/>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9" name="Shape 589"/>
        <p:cNvGrpSpPr/>
        <p:nvPr/>
      </p:nvGrpSpPr>
      <p:grpSpPr>
        <a:xfrm>
          <a:off x="0" y="0"/>
          <a:ext cx="0" cy="0"/>
          <a:chOff x="0" y="0"/>
          <a:chExt cx="0" cy="0"/>
        </a:xfrm>
      </p:grpSpPr>
      <p:sp>
        <p:nvSpPr>
          <p:cNvPr id="590" name="Google Shape;590;p73"/>
          <p:cNvSpPr txBox="1"/>
          <p:nvPr>
            <p:ph idx="4294967295" type="subTitle"/>
          </p:nvPr>
        </p:nvSpPr>
        <p:spPr>
          <a:xfrm>
            <a:off x="171125" y="175751"/>
            <a:ext cx="2187900" cy="8085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b="1" lang="en-GB" sz="4200">
                <a:solidFill>
                  <a:srgbClr val="980000"/>
                </a:solidFill>
                <a:latin typeface="Acme"/>
                <a:ea typeface="Acme"/>
                <a:cs typeface="Acme"/>
                <a:sym typeface="Acme"/>
              </a:rPr>
              <a:t>Today</a:t>
            </a:r>
            <a:endParaRPr b="1" sz="4200">
              <a:solidFill>
                <a:srgbClr val="980000"/>
              </a:solidFill>
              <a:latin typeface="Acme"/>
              <a:ea typeface="Acme"/>
              <a:cs typeface="Acme"/>
              <a:sym typeface="Acme"/>
            </a:endParaRPr>
          </a:p>
          <a:p>
            <a:pPr indent="0" lvl="0" marL="0" rtl="0" algn="l">
              <a:spcBef>
                <a:spcPts val="1200"/>
              </a:spcBef>
              <a:spcAft>
                <a:spcPts val="1200"/>
              </a:spcAft>
              <a:buNone/>
            </a:pPr>
            <a:r>
              <a:t/>
            </a:r>
            <a:endParaRPr b="1" sz="4200">
              <a:solidFill>
                <a:srgbClr val="980000"/>
              </a:solidFill>
              <a:latin typeface="Acme"/>
              <a:ea typeface="Acme"/>
              <a:cs typeface="Acme"/>
              <a:sym typeface="Acme"/>
            </a:endParaRPr>
          </a:p>
        </p:txBody>
      </p:sp>
      <p:pic>
        <p:nvPicPr>
          <p:cNvPr id="591" name="Google Shape;591;p73"/>
          <p:cNvPicPr preferRelativeResize="0"/>
          <p:nvPr/>
        </p:nvPicPr>
        <p:blipFill>
          <a:blip r:embed="rId3">
            <a:alphaModFix/>
          </a:blip>
          <a:stretch>
            <a:fillRect/>
          </a:stretch>
        </p:blipFill>
        <p:spPr>
          <a:xfrm>
            <a:off x="7771976" y="3804150"/>
            <a:ext cx="1194850" cy="1194850"/>
          </a:xfrm>
          <a:prstGeom prst="rect">
            <a:avLst/>
          </a:prstGeom>
          <a:noFill/>
          <a:ln>
            <a:noFill/>
          </a:ln>
        </p:spPr>
      </p:pic>
      <p:sp>
        <p:nvSpPr>
          <p:cNvPr id="592" name="Google Shape;592;p73"/>
          <p:cNvSpPr txBox="1"/>
          <p:nvPr/>
        </p:nvSpPr>
        <p:spPr>
          <a:xfrm>
            <a:off x="1714500" y="396501"/>
            <a:ext cx="7335900" cy="3840900"/>
          </a:xfrm>
          <a:prstGeom prst="rect">
            <a:avLst/>
          </a:prstGeom>
          <a:noFill/>
          <a:ln>
            <a:noFill/>
          </a:ln>
        </p:spPr>
        <p:txBody>
          <a:bodyPr anchorCtr="0" anchor="t" bIns="91425" lIns="91425" spcFirstLastPara="1" rIns="91425" wrap="square" tIns="91425">
            <a:noAutofit/>
          </a:bodyPr>
          <a:lstStyle/>
          <a:p>
            <a:pPr indent="0" lvl="0" marL="457200" rtl="0" algn="l">
              <a:lnSpc>
                <a:spcPct val="115000"/>
              </a:lnSpc>
              <a:spcBef>
                <a:spcPts val="0"/>
              </a:spcBef>
              <a:spcAft>
                <a:spcPts val="0"/>
              </a:spcAft>
              <a:buNone/>
            </a:pPr>
            <a:r>
              <a:rPr lang="en-GB" sz="3000">
                <a:solidFill>
                  <a:srgbClr val="073763"/>
                </a:solidFill>
                <a:latin typeface="ABeeZee"/>
                <a:ea typeface="ABeeZee"/>
                <a:cs typeface="ABeeZee"/>
                <a:sym typeface="ABeeZee"/>
              </a:rPr>
              <a:t>9:00   - 10:10am Lesson 1</a:t>
            </a:r>
            <a:br>
              <a:rPr lang="en-GB" sz="3000">
                <a:solidFill>
                  <a:srgbClr val="073763"/>
                </a:solidFill>
                <a:latin typeface="ABeeZee"/>
                <a:ea typeface="ABeeZee"/>
                <a:cs typeface="ABeeZee"/>
                <a:sym typeface="ABeeZee"/>
              </a:rPr>
            </a:br>
            <a:r>
              <a:rPr lang="en-GB" sz="3000">
                <a:solidFill>
                  <a:srgbClr val="073763"/>
                </a:solidFill>
                <a:latin typeface="ABeeZee"/>
                <a:ea typeface="ABeeZee"/>
                <a:cs typeface="ABeeZee"/>
                <a:sym typeface="ABeeZee"/>
              </a:rPr>
              <a:t>10:10 - 10:40am Break One</a:t>
            </a:r>
            <a:br>
              <a:rPr lang="en-GB" sz="3000">
                <a:solidFill>
                  <a:srgbClr val="073763"/>
                </a:solidFill>
                <a:latin typeface="ABeeZee"/>
                <a:ea typeface="ABeeZee"/>
                <a:cs typeface="ABeeZee"/>
                <a:sym typeface="ABeeZee"/>
              </a:rPr>
            </a:br>
            <a:r>
              <a:rPr lang="en-GB" sz="3000">
                <a:solidFill>
                  <a:srgbClr val="073763"/>
                </a:solidFill>
                <a:latin typeface="ABeeZee"/>
                <a:ea typeface="ABeeZee"/>
                <a:cs typeface="ABeeZee"/>
                <a:sym typeface="ABeeZee"/>
              </a:rPr>
              <a:t>10:40 - 11:50am Lesson 2</a:t>
            </a:r>
            <a:br>
              <a:rPr lang="en-GB" sz="3000">
                <a:solidFill>
                  <a:srgbClr val="073763"/>
                </a:solidFill>
                <a:latin typeface="ABeeZee"/>
                <a:ea typeface="ABeeZee"/>
                <a:cs typeface="ABeeZee"/>
                <a:sym typeface="ABeeZee"/>
              </a:rPr>
            </a:br>
            <a:r>
              <a:rPr lang="en-GB" sz="3000">
                <a:solidFill>
                  <a:srgbClr val="073763"/>
                </a:solidFill>
                <a:latin typeface="ABeeZee"/>
                <a:ea typeface="ABeeZee"/>
                <a:cs typeface="ABeeZee"/>
                <a:sym typeface="ABeeZee"/>
              </a:rPr>
              <a:t>11:50 - 12:20pm Break Two</a:t>
            </a:r>
            <a:br>
              <a:rPr lang="en-GB" sz="3000">
                <a:solidFill>
                  <a:srgbClr val="073763"/>
                </a:solidFill>
                <a:latin typeface="ABeeZee"/>
                <a:ea typeface="ABeeZee"/>
                <a:cs typeface="ABeeZee"/>
                <a:sym typeface="ABeeZee"/>
              </a:rPr>
            </a:br>
            <a:r>
              <a:rPr lang="en-GB" sz="3000">
                <a:solidFill>
                  <a:srgbClr val="073763"/>
                </a:solidFill>
                <a:latin typeface="ABeeZee"/>
                <a:ea typeface="ABeeZee"/>
                <a:cs typeface="ABeeZee"/>
                <a:sym typeface="ABeeZee"/>
              </a:rPr>
              <a:t>12:20 - 1:30pm   Lesson 3</a:t>
            </a:r>
            <a:br>
              <a:rPr lang="en-GB" sz="3000">
                <a:solidFill>
                  <a:srgbClr val="073763"/>
                </a:solidFill>
                <a:latin typeface="ABeeZee"/>
                <a:ea typeface="ABeeZee"/>
                <a:cs typeface="ABeeZee"/>
                <a:sym typeface="ABeeZee"/>
              </a:rPr>
            </a:br>
            <a:r>
              <a:rPr lang="en-GB" sz="3000">
                <a:solidFill>
                  <a:srgbClr val="073763"/>
                </a:solidFill>
                <a:latin typeface="ABeeZee"/>
                <a:ea typeface="ABeeZee"/>
                <a:cs typeface="ABeeZee"/>
                <a:sym typeface="ABeeZee"/>
              </a:rPr>
              <a:t>1:40pm             	Celebration</a:t>
            </a:r>
            <a:endParaRPr sz="3000">
              <a:solidFill>
                <a:srgbClr val="073763"/>
              </a:solidFill>
              <a:latin typeface="ABeeZee"/>
              <a:ea typeface="ABeeZee"/>
              <a:cs typeface="ABeeZee"/>
              <a:sym typeface="ABeeZee"/>
            </a:endParaRPr>
          </a:p>
          <a:p>
            <a:pPr indent="0" lvl="0" marL="457200" rtl="0" algn="l">
              <a:lnSpc>
                <a:spcPct val="115000"/>
              </a:lnSpc>
              <a:spcBef>
                <a:spcPts val="0"/>
              </a:spcBef>
              <a:spcAft>
                <a:spcPts val="0"/>
              </a:spcAft>
              <a:buNone/>
            </a:pPr>
            <a:r>
              <a:rPr lang="en-GB" sz="3000">
                <a:solidFill>
                  <a:srgbClr val="073763"/>
                </a:solidFill>
                <a:latin typeface="ABeeZee"/>
                <a:ea typeface="ABeeZee"/>
                <a:cs typeface="ABeeZee"/>
                <a:sym typeface="ABeeZee"/>
              </a:rPr>
              <a:t>2:30pm		  		Home time</a:t>
            </a:r>
            <a:endParaRPr sz="3000">
              <a:solidFill>
                <a:srgbClr val="073763"/>
              </a:solidFill>
              <a:latin typeface="ABeeZee"/>
              <a:ea typeface="ABeeZee"/>
              <a:cs typeface="ABeeZee"/>
              <a:sym typeface="ABeeZee"/>
            </a:endParaRPr>
          </a:p>
          <a:p>
            <a:pPr indent="0" lvl="0" marL="0" rtl="0" algn="l">
              <a:spcBef>
                <a:spcPts val="0"/>
              </a:spcBef>
              <a:spcAft>
                <a:spcPts val="0"/>
              </a:spcAft>
              <a:buNone/>
            </a:pPr>
            <a:r>
              <a:t/>
            </a:r>
            <a:endParaRPr sz="2500">
              <a:solidFill>
                <a:srgbClr val="073763"/>
              </a:solidFill>
              <a:latin typeface="Inclusive Sans Medium"/>
              <a:ea typeface="Inclusive Sans Medium"/>
              <a:cs typeface="Inclusive Sans Medium"/>
              <a:sym typeface="Inclusive Sans Medium"/>
            </a:endParaRPr>
          </a:p>
        </p:txBody>
      </p:sp>
      <p:sp>
        <p:nvSpPr>
          <p:cNvPr id="593" name="Google Shape;593;p73"/>
          <p:cNvSpPr txBox="1"/>
          <p:nvPr/>
        </p:nvSpPr>
        <p:spPr>
          <a:xfrm>
            <a:off x="331975" y="4178850"/>
            <a:ext cx="7709400" cy="80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000">
                <a:solidFill>
                  <a:srgbClr val="073763"/>
                </a:solidFill>
                <a:latin typeface="Inclusive Sans"/>
                <a:ea typeface="Inclusive Sans"/>
                <a:cs typeface="Inclusive Sans"/>
                <a:sym typeface="Inclusive Sans"/>
              </a:rPr>
              <a:t>You will assemble on Puke Tapu with your Lesson 3 class and Learning Leader. You must </a:t>
            </a:r>
            <a:r>
              <a:rPr b="1" lang="en-GB" sz="2000">
                <a:solidFill>
                  <a:srgbClr val="073763"/>
                </a:solidFill>
                <a:latin typeface="Inclusive Sans"/>
                <a:ea typeface="Inclusive Sans"/>
                <a:cs typeface="Inclusive Sans"/>
                <a:sym typeface="Inclusive Sans"/>
              </a:rPr>
              <a:t>leave your bags </a:t>
            </a:r>
            <a:r>
              <a:rPr lang="en-GB" sz="2000">
                <a:solidFill>
                  <a:srgbClr val="073763"/>
                </a:solidFill>
                <a:latin typeface="Inclusive Sans"/>
                <a:ea typeface="Inclusive Sans"/>
                <a:cs typeface="Inclusive Sans"/>
                <a:sym typeface="Inclusive Sans"/>
              </a:rPr>
              <a:t>in your L3 class.</a:t>
            </a:r>
            <a:endParaRPr sz="2000">
              <a:solidFill>
                <a:srgbClr val="073763"/>
              </a:solidFill>
              <a:latin typeface="Inclusive Sans"/>
              <a:ea typeface="Inclusive Sans"/>
              <a:cs typeface="Inclusive Sans"/>
              <a:sym typeface="Inclusive Sans"/>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7" name="Shape 597"/>
        <p:cNvGrpSpPr/>
        <p:nvPr/>
      </p:nvGrpSpPr>
      <p:grpSpPr>
        <a:xfrm>
          <a:off x="0" y="0"/>
          <a:ext cx="0" cy="0"/>
          <a:chOff x="0" y="0"/>
          <a:chExt cx="0" cy="0"/>
        </a:xfrm>
      </p:grpSpPr>
      <p:sp>
        <p:nvSpPr>
          <p:cNvPr id="598" name="Google Shape;598;p7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599" name="Google Shape;599;p7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600" name="Google Shape;600;p74"/>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601" name="Google Shape;601;p74"/>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602" name="Google Shape;602;p74"/>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Health external 2.4</a:t>
            </a:r>
            <a:endParaRPr sz="1800">
              <a:latin typeface="ABeeZee"/>
              <a:ea typeface="ABeeZee"/>
              <a:cs typeface="ABeeZee"/>
              <a:sym typeface="ABeeZee"/>
            </a:endParaRPr>
          </a:p>
          <a:p>
            <a:pPr indent="0" lvl="0" marL="0" rtl="0" algn="l">
              <a:lnSpc>
                <a:spcPct val="115000"/>
              </a:lnSpc>
              <a:spcBef>
                <a:spcPts val="1200"/>
              </a:spcBef>
              <a:spcAft>
                <a:spcPts val="0"/>
              </a:spcAft>
              <a:buNone/>
            </a:pPr>
            <a:r>
              <a:t/>
            </a:r>
            <a:endParaRPr i="1" sz="15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Clr>
                <a:schemeClr val="dk1"/>
              </a:buClr>
              <a:buSzPts val="1100"/>
              <a:buFont typeface="Arial"/>
              <a:buNone/>
            </a:pPr>
            <a:r>
              <a:rPr b="1" i="1" lang="en-GB" sz="1600">
                <a:solidFill>
                  <a:srgbClr val="202124"/>
                </a:solidFill>
                <a:highlight>
                  <a:srgbClr val="FFFFFF"/>
                </a:highlight>
                <a:latin typeface="ABeeZee"/>
                <a:ea typeface="ABeeZee"/>
                <a:cs typeface="ABeeZee"/>
                <a:sym typeface="ABeeZee"/>
              </a:rPr>
              <a:t>Analyse an interpersonal issue(s) that places personal safety at risk.</a:t>
            </a:r>
            <a:endParaRPr b="1" i="1" sz="16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Clr>
                <a:schemeClr val="dk1"/>
              </a:buClr>
              <a:buSzPts val="1100"/>
              <a:buFont typeface="Arial"/>
              <a:buNone/>
            </a:pPr>
            <a:r>
              <a:rPr i="1" lang="en-GB" sz="1600">
                <a:solidFill>
                  <a:srgbClr val="202124"/>
                </a:solidFill>
                <a:highlight>
                  <a:srgbClr val="FFFFFF"/>
                </a:highlight>
                <a:latin typeface="ABeeZee"/>
                <a:ea typeface="ABeeZee"/>
                <a:cs typeface="ABeeZee"/>
                <a:sym typeface="ABeeZee"/>
              </a:rPr>
              <a:t>Learners should be familiar with the underlying concepts of health (hauora, socioecological perspective, health promotion, and attitudes and values) and be able to apply these to an unfamiliar context(s). </a:t>
            </a:r>
            <a:endParaRPr i="1" sz="16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None/>
            </a:pPr>
            <a:r>
              <a:rPr i="1" lang="en-GB" sz="1600">
                <a:solidFill>
                  <a:srgbClr val="202124"/>
                </a:solidFill>
                <a:highlight>
                  <a:srgbClr val="FFFFFF"/>
                </a:highlight>
                <a:latin typeface="ABeeZee"/>
                <a:ea typeface="ABeeZee"/>
                <a:cs typeface="ABeeZee"/>
                <a:sym typeface="ABeeZee"/>
              </a:rPr>
              <a:t>Learners are required to use specific and relevant evidence to support their analysis. An analysis requires the explanation of influences, consequences, and strategies.</a:t>
            </a:r>
            <a:endParaRPr i="1" sz="16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None/>
            </a:pPr>
            <a:r>
              <a:t/>
            </a:r>
            <a:endParaRPr sz="16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Clr>
                <a:schemeClr val="dk1"/>
              </a:buClr>
              <a:buSzPts val="1100"/>
              <a:buFont typeface="Arial"/>
              <a:buNone/>
            </a:pPr>
            <a:r>
              <a:rPr lang="en-GB" sz="1600">
                <a:solidFill>
                  <a:srgbClr val="202124"/>
                </a:solidFill>
                <a:highlight>
                  <a:srgbClr val="FFFFFF"/>
                </a:highlight>
                <a:latin typeface="ABeeZee"/>
                <a:ea typeface="ABeeZee"/>
                <a:cs typeface="ABeeZee"/>
                <a:sym typeface="ABeeZee"/>
              </a:rPr>
              <a:t>Practice style questions for mock exam - </a:t>
            </a:r>
            <a:r>
              <a:rPr lang="en-GB" sz="1600" u="sng">
                <a:solidFill>
                  <a:schemeClr val="hlink"/>
                </a:solidFill>
                <a:highlight>
                  <a:srgbClr val="FFFFFF"/>
                </a:highlight>
                <a:latin typeface="ABeeZee"/>
                <a:ea typeface="ABeeZee"/>
                <a:cs typeface="ABeeZee"/>
                <a:sym typeface="ABeeZee"/>
                <a:hlinkClick r:id="rId4"/>
              </a:rPr>
              <a:t>link</a:t>
            </a:r>
            <a:endParaRPr sz="1600">
              <a:solidFill>
                <a:srgbClr val="202124"/>
              </a:solidFill>
              <a:highlight>
                <a:srgbClr val="FFFFFF"/>
              </a:highlight>
              <a:latin typeface="ABeeZee"/>
              <a:ea typeface="ABeeZee"/>
              <a:cs typeface="ABeeZee"/>
              <a:sym typeface="ABeeZee"/>
            </a:endParaRPr>
          </a:p>
          <a:p>
            <a:pPr indent="0" lvl="0" marL="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6" name="Shape 606"/>
        <p:cNvGrpSpPr/>
        <p:nvPr/>
      </p:nvGrpSpPr>
      <p:grpSpPr>
        <a:xfrm>
          <a:off x="0" y="0"/>
          <a:ext cx="0" cy="0"/>
          <a:chOff x="0" y="0"/>
          <a:chExt cx="0" cy="0"/>
        </a:xfrm>
      </p:grpSpPr>
      <p:pic>
        <p:nvPicPr>
          <p:cNvPr descr="AC Slides-01.jpeg" id="607" name="Google Shape;607;p75"/>
          <p:cNvPicPr preferRelativeResize="0"/>
          <p:nvPr/>
        </p:nvPicPr>
        <p:blipFill>
          <a:blip r:embed="rId3">
            <a:alphaModFix/>
          </a:blip>
          <a:stretch>
            <a:fillRect/>
          </a:stretch>
        </p:blipFill>
        <p:spPr>
          <a:xfrm>
            <a:off x="0" y="0"/>
            <a:ext cx="9144000" cy="5143500"/>
          </a:xfrm>
          <a:prstGeom prst="rect">
            <a:avLst/>
          </a:prstGeom>
          <a:noFill/>
          <a:ln>
            <a:noFill/>
          </a:ln>
        </p:spPr>
      </p:pic>
      <p:sp>
        <p:nvSpPr>
          <p:cNvPr id="608" name="Google Shape;608;p75"/>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609" name="Google Shape;609;p75"/>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610" name="Google Shape;610;p75"/>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611" name="Google Shape;611;p75"/>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612" name="Google Shape;612;p75"/>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3</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Tues 21 Oct - l3</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6" name="Shape 616"/>
        <p:cNvGrpSpPr/>
        <p:nvPr/>
      </p:nvGrpSpPr>
      <p:grpSpPr>
        <a:xfrm>
          <a:off x="0" y="0"/>
          <a:ext cx="0" cy="0"/>
          <a:chOff x="0" y="0"/>
          <a:chExt cx="0" cy="0"/>
        </a:xfrm>
      </p:grpSpPr>
      <p:sp>
        <p:nvSpPr>
          <p:cNvPr id="617" name="Google Shape;617;p76"/>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18" name="Google Shape;618;p76"/>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619" name="Google Shape;619;p76"/>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620" name="Google Shape;620;p76"/>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621" name="Google Shape;621;p76"/>
          <p:cNvSpPr txBox="1"/>
          <p:nvPr/>
        </p:nvSpPr>
        <p:spPr>
          <a:xfrm>
            <a:off x="402225"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b="1" sz="3600">
              <a:latin typeface="Jost"/>
              <a:ea typeface="Jost"/>
              <a:cs typeface="Jost"/>
              <a:sym typeface="Jost"/>
            </a:endParaRPr>
          </a:p>
          <a:p>
            <a:pPr indent="0" lvl="0" marL="457200" rtl="0" algn="l">
              <a:lnSpc>
                <a:spcPct val="115000"/>
              </a:lnSpc>
              <a:spcBef>
                <a:spcPts val="1200"/>
              </a:spcBef>
              <a:spcAft>
                <a:spcPts val="0"/>
              </a:spcAft>
              <a:buNone/>
            </a:pPr>
            <a:r>
              <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Have a discussion with the people around you about what you found hard about the mock exam? What did you find you need to know more of to prepare for the external?</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622" name="Google Shape;622;p76" title="15 Minute Timer">
            <a:hlinkClick r:id="rId4"/>
          </p:cNvPr>
          <p:cNvPicPr preferRelativeResize="0"/>
          <p:nvPr/>
        </p:nvPicPr>
        <p:blipFill>
          <a:blip r:embed="rId5">
            <a:alphaModFix/>
          </a:blip>
          <a:stretch>
            <a:fillRect/>
          </a:stretch>
        </p:blipFill>
        <p:spPr>
          <a:xfrm>
            <a:off x="556375" y="366367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2"/>
                                        </p:tgtEl>
                                        <p:attrNameLst>
                                          <p:attrName>style.visibility</p:attrName>
                                        </p:attrNameLst>
                                      </p:cBhvr>
                                      <p:to>
                                        <p:strVal val="visible"/>
                                      </p:to>
                                    </p:set>
                                    <p:animEffect filter="fade" transition="in">
                                      <p:cBhvr>
                                        <p:cTn dur="1000"/>
                                        <p:tgtEl>
                                          <p:spTgt spid="6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6" name="Shape 626"/>
        <p:cNvGrpSpPr/>
        <p:nvPr/>
      </p:nvGrpSpPr>
      <p:grpSpPr>
        <a:xfrm>
          <a:off x="0" y="0"/>
          <a:ext cx="0" cy="0"/>
          <a:chOff x="0" y="0"/>
          <a:chExt cx="0" cy="0"/>
        </a:xfrm>
      </p:grpSpPr>
      <p:pic>
        <p:nvPicPr>
          <p:cNvPr descr="AC Slides-01.jpeg" id="627" name="Google Shape;627;p77"/>
          <p:cNvPicPr preferRelativeResize="0"/>
          <p:nvPr/>
        </p:nvPicPr>
        <p:blipFill>
          <a:blip r:embed="rId3">
            <a:alphaModFix/>
          </a:blip>
          <a:stretch>
            <a:fillRect/>
          </a:stretch>
        </p:blipFill>
        <p:spPr>
          <a:xfrm>
            <a:off x="0" y="0"/>
            <a:ext cx="9144000" cy="5143500"/>
          </a:xfrm>
          <a:prstGeom prst="rect">
            <a:avLst/>
          </a:prstGeom>
          <a:noFill/>
          <a:ln>
            <a:noFill/>
          </a:ln>
        </p:spPr>
      </p:pic>
      <p:sp>
        <p:nvSpPr>
          <p:cNvPr id="628" name="Google Shape;628;p7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9" name="Google Shape;629;p7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30" name="Google Shape;630;p7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Learning intention</a:t>
            </a:r>
            <a:endParaRPr sz="1800">
              <a:solidFill>
                <a:schemeClr val="dk1"/>
              </a:solidFill>
              <a:latin typeface="ABeeZee"/>
              <a:ea typeface="ABeeZee"/>
              <a:cs typeface="ABeeZee"/>
              <a:sym typeface="ABeeZee"/>
            </a:endParaRPr>
          </a:p>
          <a:p>
            <a:pPr indent="0" lvl="0" marL="0" rtl="0" algn="l">
              <a:spcBef>
                <a:spcPts val="0"/>
              </a:spcBef>
              <a:spcAft>
                <a:spcPts val="0"/>
              </a:spcAft>
              <a:buNone/>
            </a:pPr>
            <a:r>
              <a:rPr lang="en-GB" sz="2100">
                <a:latin typeface="ABeeZee"/>
                <a:ea typeface="ABeeZee"/>
                <a:cs typeface="ABeeZee"/>
                <a:sym typeface="ABeeZee"/>
              </a:rPr>
              <a:t>Make sense of a interpersonal health issue</a:t>
            </a:r>
            <a:endParaRPr sz="2100">
              <a:latin typeface="ABeeZee"/>
              <a:ea typeface="ABeeZee"/>
              <a:cs typeface="ABeeZee"/>
              <a:sym typeface="ABeeZee"/>
            </a:endParaRPr>
          </a:p>
          <a:p>
            <a:pPr indent="0" lvl="0" marL="0" rtl="0" algn="l">
              <a:spcBef>
                <a:spcPts val="0"/>
              </a:spcBef>
              <a:spcAft>
                <a:spcPts val="0"/>
              </a:spcAft>
              <a:buNone/>
            </a:pPr>
            <a:r>
              <a:t/>
            </a:r>
            <a:endParaRPr sz="2300">
              <a:latin typeface="ABeeZee"/>
              <a:ea typeface="ABeeZee"/>
              <a:cs typeface="ABeeZee"/>
              <a:sym typeface="ABeeZee"/>
            </a:endParaRPr>
          </a:p>
          <a:p>
            <a:pPr indent="0" lvl="0" marL="0" rtl="0" algn="l">
              <a:spcBef>
                <a:spcPts val="0"/>
              </a:spcBef>
              <a:spcAft>
                <a:spcPts val="0"/>
              </a:spcAft>
              <a:buNone/>
            </a:pPr>
            <a:r>
              <a:rPr lang="en-GB" sz="2500">
                <a:solidFill>
                  <a:schemeClr val="dk1"/>
                </a:solidFill>
                <a:latin typeface="Luckiest Guy"/>
                <a:ea typeface="Luckiest Guy"/>
                <a:cs typeface="Luckiest Guy"/>
                <a:sym typeface="Luckiest Guy"/>
              </a:rPr>
              <a:t>Success criteria</a:t>
            </a:r>
            <a:endParaRPr sz="1700">
              <a:solidFill>
                <a:schemeClr val="dk1"/>
              </a:solidFill>
              <a:latin typeface="Jost"/>
              <a:ea typeface="Jost"/>
              <a:cs typeface="Jost"/>
              <a:sym typeface="Jost"/>
            </a:endParaRPr>
          </a:p>
          <a:p>
            <a:pPr indent="-349250" lvl="0" marL="457200" rtl="0" algn="l">
              <a:lnSpc>
                <a:spcPct val="115000"/>
              </a:lnSpc>
              <a:spcBef>
                <a:spcPts val="120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short term and long term consequences for interpersonal Health issues</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Identify impacts interpersonal health issues have on ones hauora</a:t>
            </a:r>
            <a:endParaRPr sz="1900">
              <a:solidFill>
                <a:schemeClr val="dk1"/>
              </a:solidFill>
              <a:latin typeface="ABeeZee"/>
              <a:ea typeface="ABeeZee"/>
              <a:cs typeface="ABeeZee"/>
              <a:sym typeface="ABeeZee"/>
            </a:endParaRPr>
          </a:p>
          <a:p>
            <a:pPr indent="-349250" lvl="0" marL="457200" rtl="0" algn="l">
              <a:lnSpc>
                <a:spcPct val="115000"/>
              </a:lnSpc>
              <a:spcBef>
                <a:spcPts val="0"/>
              </a:spcBef>
              <a:spcAft>
                <a:spcPts val="0"/>
              </a:spcAft>
              <a:buClr>
                <a:schemeClr val="dk1"/>
              </a:buClr>
              <a:buSzPts val="1900"/>
              <a:buFont typeface="ABeeZee"/>
              <a:buChar char="●"/>
            </a:pPr>
            <a:r>
              <a:rPr lang="en-GB" sz="1900">
                <a:solidFill>
                  <a:schemeClr val="dk1"/>
                </a:solidFill>
                <a:latin typeface="ABeeZee"/>
                <a:ea typeface="ABeeZee"/>
                <a:cs typeface="ABeeZee"/>
                <a:sym typeface="ABeeZee"/>
              </a:rPr>
              <a:t>Explain strategies on P-IP-S levels</a:t>
            </a:r>
            <a:endParaRPr sz="1900">
              <a:solidFill>
                <a:schemeClr val="dk1"/>
              </a:solidFill>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31" name="Google Shape;631;p7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2" name="Google Shape;632;p7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pic>
        <p:nvPicPr>
          <p:cNvPr descr="AC Slides-01.jpeg" id="637" name="Google Shape;637;p78"/>
          <p:cNvPicPr preferRelativeResize="0"/>
          <p:nvPr/>
        </p:nvPicPr>
        <p:blipFill>
          <a:blip r:embed="rId3">
            <a:alphaModFix/>
          </a:blip>
          <a:stretch>
            <a:fillRect/>
          </a:stretch>
        </p:blipFill>
        <p:spPr>
          <a:xfrm>
            <a:off x="0" y="0"/>
            <a:ext cx="9144000" cy="5143500"/>
          </a:xfrm>
          <a:prstGeom prst="rect">
            <a:avLst/>
          </a:prstGeom>
          <a:noFill/>
          <a:ln>
            <a:noFill/>
          </a:ln>
        </p:spPr>
      </p:pic>
      <p:sp>
        <p:nvSpPr>
          <p:cNvPr id="638" name="Google Shape;638;p7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9" name="Google Shape;639;p7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40" name="Google Shape;640;p7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Cyberbullying</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342900" lvl="0" marL="4572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Finish the table on Cyberbullying - you have 5-</a:t>
            </a:r>
            <a:r>
              <a:rPr lang="en-GB" sz="1800">
                <a:solidFill>
                  <a:schemeClr val="dk1"/>
                </a:solidFill>
                <a:highlight>
                  <a:srgbClr val="FFFBF4"/>
                </a:highlight>
                <a:latin typeface="ABeeZee"/>
                <a:ea typeface="ABeeZee"/>
                <a:cs typeface="ABeeZee"/>
                <a:sym typeface="ABeeZee"/>
              </a:rPr>
              <a:t>10 minutes</a:t>
            </a:r>
            <a:endParaRPr sz="1800">
              <a:solidFill>
                <a:schemeClr val="dk1"/>
              </a:solidFill>
              <a:highlight>
                <a:srgbClr val="FFFBF4"/>
              </a:highlight>
              <a:latin typeface="ABeeZee"/>
              <a:ea typeface="ABeeZee"/>
              <a:cs typeface="ABeeZee"/>
              <a:sym typeface="ABeeZee"/>
            </a:endParaRPr>
          </a:p>
          <a:p>
            <a:pPr indent="-342900" lvl="0" marL="4572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Share back with the rest of the class your responses to the table</a:t>
            </a:r>
            <a:endParaRPr sz="19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41" name="Google Shape;641;p7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2" name="Google Shape;642;p78"/>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6" name="Shape 646"/>
        <p:cNvGrpSpPr/>
        <p:nvPr/>
      </p:nvGrpSpPr>
      <p:grpSpPr>
        <a:xfrm>
          <a:off x="0" y="0"/>
          <a:ext cx="0" cy="0"/>
          <a:chOff x="0" y="0"/>
          <a:chExt cx="0" cy="0"/>
        </a:xfrm>
      </p:grpSpPr>
      <p:pic>
        <p:nvPicPr>
          <p:cNvPr descr="AC Slides-01.jpeg" id="647" name="Google Shape;647;p79"/>
          <p:cNvPicPr preferRelativeResize="0"/>
          <p:nvPr/>
        </p:nvPicPr>
        <p:blipFill>
          <a:blip r:embed="rId3">
            <a:alphaModFix/>
          </a:blip>
          <a:stretch>
            <a:fillRect/>
          </a:stretch>
        </p:blipFill>
        <p:spPr>
          <a:xfrm>
            <a:off x="0" y="0"/>
            <a:ext cx="9144000" cy="5143500"/>
          </a:xfrm>
          <a:prstGeom prst="rect">
            <a:avLst/>
          </a:prstGeom>
          <a:noFill/>
          <a:ln>
            <a:noFill/>
          </a:ln>
        </p:spPr>
      </p:pic>
      <p:sp>
        <p:nvSpPr>
          <p:cNvPr id="648" name="Google Shape;648;p7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49" name="Google Shape;649;p7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50" name="Google Shape;650;p7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Work in pairs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342900" lvl="0" marL="4572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Make a copy of the </a:t>
            </a:r>
            <a:r>
              <a:rPr lang="en-GB" sz="1800">
                <a:solidFill>
                  <a:schemeClr val="dk1"/>
                </a:solidFill>
                <a:highlight>
                  <a:srgbClr val="FFFBF4"/>
                </a:highlight>
                <a:latin typeface="ABeeZee"/>
                <a:ea typeface="ABeeZee"/>
                <a:cs typeface="ABeeZee"/>
                <a:sym typeface="ABeeZee"/>
              </a:rPr>
              <a:t>Cyberbullying</a:t>
            </a:r>
            <a:r>
              <a:rPr lang="en-GB" sz="1800">
                <a:solidFill>
                  <a:schemeClr val="dk1"/>
                </a:solidFill>
                <a:highlight>
                  <a:srgbClr val="FFFBF4"/>
                </a:highlight>
                <a:latin typeface="ABeeZee"/>
                <a:ea typeface="ABeeZee"/>
                <a:cs typeface="ABeeZee"/>
                <a:sym typeface="ABeeZee"/>
              </a:rPr>
              <a:t> Table we used from the earlier task</a:t>
            </a:r>
            <a:endParaRPr sz="1800">
              <a:solidFill>
                <a:schemeClr val="dk1"/>
              </a:solidFill>
              <a:highlight>
                <a:srgbClr val="FFFBF4"/>
              </a:highlight>
              <a:latin typeface="ABeeZee"/>
              <a:ea typeface="ABeeZee"/>
              <a:cs typeface="ABeeZee"/>
              <a:sym typeface="ABeeZee"/>
            </a:endParaRPr>
          </a:p>
          <a:p>
            <a:pPr indent="-342900" lvl="0" marL="4572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Remove answers for Cyberbullying</a:t>
            </a:r>
            <a:endParaRPr sz="1800">
              <a:solidFill>
                <a:schemeClr val="dk1"/>
              </a:solidFill>
              <a:highlight>
                <a:srgbClr val="FFFBF4"/>
              </a:highlight>
              <a:latin typeface="ABeeZee"/>
              <a:ea typeface="ABeeZee"/>
              <a:cs typeface="ABeeZee"/>
              <a:sym typeface="ABeeZee"/>
            </a:endParaRPr>
          </a:p>
          <a:p>
            <a:pPr indent="-342900" lvl="0" marL="4572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Select one of the following </a:t>
            </a:r>
            <a:r>
              <a:rPr lang="en-GB" sz="1800">
                <a:solidFill>
                  <a:schemeClr val="dk1"/>
                </a:solidFill>
                <a:highlight>
                  <a:srgbClr val="FFFBF4"/>
                </a:highlight>
                <a:latin typeface="ABeeZee"/>
                <a:ea typeface="ABeeZee"/>
                <a:cs typeface="ABeeZee"/>
                <a:sym typeface="ABeeZee"/>
              </a:rPr>
              <a:t>interpersonal</a:t>
            </a:r>
            <a:r>
              <a:rPr lang="en-GB" sz="1800">
                <a:solidFill>
                  <a:schemeClr val="dk1"/>
                </a:solidFill>
                <a:highlight>
                  <a:srgbClr val="FFFBF4"/>
                </a:highlight>
                <a:latin typeface="ABeeZee"/>
                <a:ea typeface="ABeeZee"/>
                <a:cs typeface="ABeeZee"/>
                <a:sym typeface="ABeeZee"/>
              </a:rPr>
              <a:t> </a:t>
            </a:r>
            <a:r>
              <a:rPr lang="en-GB" sz="1800">
                <a:solidFill>
                  <a:schemeClr val="dk1"/>
                </a:solidFill>
                <a:highlight>
                  <a:srgbClr val="FFFBF4"/>
                </a:highlight>
                <a:latin typeface="ABeeZee"/>
                <a:ea typeface="ABeeZee"/>
                <a:cs typeface="ABeeZee"/>
                <a:sym typeface="ABeeZee"/>
              </a:rPr>
              <a:t>health</a:t>
            </a:r>
            <a:r>
              <a:rPr lang="en-GB" sz="1800">
                <a:solidFill>
                  <a:schemeClr val="dk1"/>
                </a:solidFill>
                <a:highlight>
                  <a:srgbClr val="FFFBF4"/>
                </a:highlight>
                <a:latin typeface="ABeeZee"/>
                <a:ea typeface="ABeeZee"/>
                <a:cs typeface="ABeeZee"/>
                <a:sym typeface="ABeeZee"/>
              </a:rPr>
              <a:t> issues to complete the table on:</a:t>
            </a:r>
            <a:endParaRPr sz="1800">
              <a:solidFill>
                <a:schemeClr val="dk1"/>
              </a:solidFill>
              <a:highlight>
                <a:srgbClr val="FFFBF4"/>
              </a:highlight>
              <a:latin typeface="ABeeZee"/>
              <a:ea typeface="ABeeZee"/>
              <a:cs typeface="ABeeZee"/>
              <a:sym typeface="ABeeZee"/>
            </a:endParaRPr>
          </a:p>
          <a:p>
            <a:pPr indent="-342900" lvl="1" marL="9144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Ethnicity/Race</a:t>
            </a:r>
            <a:endParaRPr sz="1800">
              <a:solidFill>
                <a:schemeClr val="dk1"/>
              </a:solidFill>
              <a:highlight>
                <a:srgbClr val="FFFBF4"/>
              </a:highlight>
              <a:latin typeface="ABeeZee"/>
              <a:ea typeface="ABeeZee"/>
              <a:cs typeface="ABeeZee"/>
              <a:sym typeface="ABeeZee"/>
            </a:endParaRPr>
          </a:p>
          <a:p>
            <a:pPr indent="-342900" lvl="1" marL="9144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Disability</a:t>
            </a:r>
            <a:endParaRPr sz="1800">
              <a:solidFill>
                <a:schemeClr val="dk1"/>
              </a:solidFill>
              <a:highlight>
                <a:srgbClr val="FFFBF4"/>
              </a:highlight>
              <a:latin typeface="ABeeZee"/>
              <a:ea typeface="ABeeZee"/>
              <a:cs typeface="ABeeZee"/>
              <a:sym typeface="ABeeZee"/>
            </a:endParaRPr>
          </a:p>
          <a:p>
            <a:pPr indent="-342900" lvl="1" marL="914400" rtl="0" algn="l">
              <a:lnSpc>
                <a:spcPct val="140000"/>
              </a:lnSpc>
              <a:spcBef>
                <a:spcPts val="0"/>
              </a:spcBef>
              <a:spcAft>
                <a:spcPts val="0"/>
              </a:spcAft>
              <a:buClr>
                <a:schemeClr val="dk1"/>
              </a:buClr>
              <a:buSzPts val="1800"/>
              <a:buFont typeface="ABeeZee"/>
              <a:buChar char="○"/>
            </a:pPr>
            <a:r>
              <a:rPr lang="en-GB" sz="1800">
                <a:solidFill>
                  <a:schemeClr val="dk1"/>
                </a:solidFill>
                <a:highlight>
                  <a:srgbClr val="FFFBF4"/>
                </a:highlight>
                <a:latin typeface="ABeeZee"/>
                <a:ea typeface="ABeeZee"/>
                <a:cs typeface="ABeeZee"/>
                <a:sym typeface="ABeeZee"/>
              </a:rPr>
              <a:t>Economic Class</a:t>
            </a:r>
            <a:endParaRPr sz="1800">
              <a:solidFill>
                <a:schemeClr val="dk1"/>
              </a:solidFill>
              <a:highlight>
                <a:srgbClr val="FFFBF4"/>
              </a:highlight>
              <a:latin typeface="ABeeZee"/>
              <a:ea typeface="ABeeZee"/>
              <a:cs typeface="ABeeZee"/>
              <a:sym typeface="ABeeZee"/>
            </a:endParaRPr>
          </a:p>
          <a:p>
            <a:pPr indent="0" lvl="0" marL="457200" rtl="0" algn="l">
              <a:lnSpc>
                <a:spcPct val="115000"/>
              </a:lnSpc>
              <a:spcBef>
                <a:spcPts val="120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120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51" name="Google Shape;651;p7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79"/>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6" name="Shape 656"/>
        <p:cNvGrpSpPr/>
        <p:nvPr/>
      </p:nvGrpSpPr>
      <p:grpSpPr>
        <a:xfrm>
          <a:off x="0" y="0"/>
          <a:ext cx="0" cy="0"/>
          <a:chOff x="0" y="0"/>
          <a:chExt cx="0" cy="0"/>
        </a:xfrm>
      </p:grpSpPr>
      <p:pic>
        <p:nvPicPr>
          <p:cNvPr descr="AC Slides-01.jpeg" id="657" name="Google Shape;657;p80"/>
          <p:cNvPicPr preferRelativeResize="0"/>
          <p:nvPr/>
        </p:nvPicPr>
        <p:blipFill>
          <a:blip r:embed="rId3">
            <a:alphaModFix/>
          </a:blip>
          <a:stretch>
            <a:fillRect/>
          </a:stretch>
        </p:blipFill>
        <p:spPr>
          <a:xfrm>
            <a:off x="0" y="0"/>
            <a:ext cx="9144000" cy="5143500"/>
          </a:xfrm>
          <a:prstGeom prst="rect">
            <a:avLst/>
          </a:prstGeom>
          <a:noFill/>
          <a:ln>
            <a:noFill/>
          </a:ln>
        </p:spPr>
      </p:pic>
      <p:sp>
        <p:nvSpPr>
          <p:cNvPr id="658" name="Google Shape;658;p80"/>
          <p:cNvSpPr txBox="1"/>
          <p:nvPr/>
        </p:nvSpPr>
        <p:spPr>
          <a:xfrm>
            <a:off x="451700" y="2797700"/>
            <a:ext cx="7265100" cy="2143800"/>
          </a:xfrm>
          <a:prstGeom prst="rect">
            <a:avLst/>
          </a:prstGeom>
          <a:noFill/>
          <a:ln>
            <a:noFill/>
          </a:ln>
        </p:spPr>
        <p:txBody>
          <a:bodyPr anchorCtr="0" anchor="t" bIns="91425" lIns="91425" spcFirstLastPara="1" rIns="91425" wrap="square" tIns="91425">
            <a:noAutofit/>
          </a:bodyPr>
          <a:lstStyle/>
          <a:p>
            <a:pPr indent="0" lvl="0" marL="0" rtl="0" algn="just">
              <a:spcBef>
                <a:spcPts val="0"/>
              </a:spcBef>
              <a:spcAft>
                <a:spcPts val="0"/>
              </a:spcAft>
              <a:buNone/>
            </a:pPr>
            <a:r>
              <a:rPr b="1" lang="en-GB" sz="2200">
                <a:latin typeface="Calibri"/>
                <a:ea typeface="Calibri"/>
                <a:cs typeface="Calibri"/>
                <a:sym typeface="Calibri"/>
              </a:rPr>
              <a:t>Vision</a:t>
            </a:r>
            <a:endParaRPr b="1" sz="2200">
              <a:latin typeface="Calibri"/>
              <a:ea typeface="Calibri"/>
              <a:cs typeface="Calibri"/>
              <a:sym typeface="Calibri"/>
            </a:endParaRPr>
          </a:p>
          <a:p>
            <a:pPr indent="0" lvl="0" marL="0" rtl="0" algn="just">
              <a:spcBef>
                <a:spcPts val="0"/>
              </a:spcBef>
              <a:spcAft>
                <a:spcPts val="0"/>
              </a:spcAft>
              <a:buNone/>
            </a:pPr>
            <a:r>
              <a:rPr lang="en-GB" sz="2200">
                <a:solidFill>
                  <a:srgbClr val="000000"/>
                </a:solidFill>
                <a:latin typeface="Calibri"/>
                <a:ea typeface="Calibri"/>
                <a:cs typeface="Calibri"/>
                <a:sym typeface="Calibri"/>
              </a:rPr>
              <a:t>Alfriston College is a learning community</a:t>
            </a:r>
            <a:r>
              <a:rPr b="1" lang="en-GB" sz="2200">
                <a:solidFill>
                  <a:srgbClr val="000000"/>
                </a:solidFill>
                <a:latin typeface="Calibri"/>
                <a:ea typeface="Calibri"/>
                <a:cs typeface="Calibri"/>
                <a:sym typeface="Calibri"/>
              </a:rPr>
              <a:t> </a:t>
            </a:r>
            <a:r>
              <a:rPr lang="en-GB" sz="2200">
                <a:solidFill>
                  <a:srgbClr val="000000"/>
                </a:solidFill>
                <a:latin typeface="Calibri"/>
                <a:ea typeface="Calibri"/>
                <a:cs typeface="Calibri"/>
                <a:sym typeface="Calibri"/>
              </a:rPr>
              <a:t>dedicated to developing and supporting </a:t>
            </a:r>
            <a:r>
              <a:rPr b="1" lang="en-GB" sz="2200">
                <a:solidFill>
                  <a:srgbClr val="980000"/>
                </a:solidFill>
                <a:latin typeface="Calibri"/>
                <a:ea typeface="Calibri"/>
                <a:cs typeface="Calibri"/>
                <a:sym typeface="Calibri"/>
              </a:rPr>
              <a:t>lifelong independent learners</a:t>
            </a:r>
            <a:r>
              <a:rPr lang="en-GB" sz="2200">
                <a:solidFill>
                  <a:srgbClr val="000000"/>
                </a:solidFill>
                <a:latin typeface="Calibri"/>
                <a:ea typeface="Calibri"/>
                <a:cs typeface="Calibri"/>
                <a:sym typeface="Calibri"/>
              </a:rPr>
              <a:t> by creating an environment that fosters a sense of </a:t>
            </a:r>
            <a:r>
              <a:rPr b="1" lang="en-GB" sz="2200">
                <a:solidFill>
                  <a:srgbClr val="980000"/>
                </a:solidFill>
                <a:latin typeface="Calibri"/>
                <a:ea typeface="Calibri"/>
                <a:cs typeface="Calibri"/>
                <a:sym typeface="Calibri"/>
              </a:rPr>
              <a:t>Belonging</a:t>
            </a:r>
            <a:r>
              <a:rPr lang="en-GB" sz="2200">
                <a:solidFill>
                  <a:srgbClr val="000000"/>
                </a:solidFill>
                <a:latin typeface="Calibri"/>
                <a:ea typeface="Calibri"/>
                <a:cs typeface="Calibri"/>
                <a:sym typeface="Calibri"/>
              </a:rPr>
              <a:t>, values </a:t>
            </a:r>
            <a:r>
              <a:rPr b="1" lang="en-GB" sz="2200">
                <a:solidFill>
                  <a:srgbClr val="980000"/>
                </a:solidFill>
                <a:latin typeface="Calibri"/>
                <a:ea typeface="Calibri"/>
                <a:cs typeface="Calibri"/>
                <a:sym typeface="Calibri"/>
              </a:rPr>
              <a:t>Learning</a:t>
            </a:r>
            <a:r>
              <a:rPr lang="en-GB" sz="2200">
                <a:solidFill>
                  <a:srgbClr val="000000"/>
                </a:solidFill>
                <a:latin typeface="Calibri"/>
                <a:ea typeface="Calibri"/>
                <a:cs typeface="Calibri"/>
                <a:sym typeface="Calibri"/>
              </a:rPr>
              <a:t>, and expects </a:t>
            </a:r>
            <a:r>
              <a:rPr b="1" lang="en-GB" sz="2200">
                <a:solidFill>
                  <a:srgbClr val="980000"/>
                </a:solidFill>
                <a:latin typeface="Calibri"/>
                <a:ea typeface="Calibri"/>
                <a:cs typeface="Calibri"/>
                <a:sym typeface="Calibri"/>
              </a:rPr>
              <a:t>Success</a:t>
            </a:r>
            <a:r>
              <a:rPr lang="en-GB" sz="2200">
                <a:solidFill>
                  <a:srgbClr val="000000"/>
                </a:solidFill>
                <a:latin typeface="Calibri"/>
                <a:ea typeface="Calibri"/>
                <a:cs typeface="Calibri"/>
                <a:sym typeface="Calibri"/>
              </a:rPr>
              <a:t>.</a:t>
            </a:r>
            <a:endParaRPr sz="2200">
              <a:solidFill>
                <a:srgbClr val="000000"/>
              </a:solidFill>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22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1800">
              <a:latin typeface="Calibri"/>
              <a:ea typeface="Calibri"/>
              <a:cs typeface="Calibri"/>
              <a:sym typeface="Calibri"/>
            </a:endParaRPr>
          </a:p>
          <a:p>
            <a:pPr indent="0" lvl="0" marL="0" rtl="0" algn="just">
              <a:spcBef>
                <a:spcPts val="0"/>
              </a:spcBef>
              <a:spcAft>
                <a:spcPts val="0"/>
              </a:spcAft>
              <a:buNone/>
            </a:pPr>
            <a:r>
              <a:t/>
            </a:r>
            <a:endParaRPr sz="3000">
              <a:solidFill>
                <a:srgbClr val="222B67"/>
              </a:solidFill>
            </a:endParaRPr>
          </a:p>
        </p:txBody>
      </p:sp>
      <p:pic>
        <p:nvPicPr>
          <p:cNvPr descr="Alfriston College Logo-12.png" id="659" name="Google Shape;659;p80"/>
          <p:cNvPicPr preferRelativeResize="0"/>
          <p:nvPr/>
        </p:nvPicPr>
        <p:blipFill>
          <a:blip r:embed="rId4">
            <a:alphaModFix/>
          </a:blip>
          <a:stretch>
            <a:fillRect/>
          </a:stretch>
        </p:blipFill>
        <p:spPr>
          <a:xfrm>
            <a:off x="7997098" y="79002"/>
            <a:ext cx="1092277" cy="1524425"/>
          </a:xfrm>
          <a:prstGeom prst="rect">
            <a:avLst/>
          </a:prstGeom>
          <a:noFill/>
          <a:ln>
            <a:noFill/>
          </a:ln>
        </p:spPr>
      </p:pic>
      <p:pic>
        <p:nvPicPr>
          <p:cNvPr descr="AC Slides with corner pattern-01.jpeg" id="660" name="Google Shape;660;p80"/>
          <p:cNvPicPr preferRelativeResize="0"/>
          <p:nvPr/>
        </p:nvPicPr>
        <p:blipFill>
          <a:blip r:embed="rId5">
            <a:alphaModFix/>
          </a:blip>
          <a:stretch>
            <a:fillRect/>
          </a:stretch>
        </p:blipFill>
        <p:spPr>
          <a:xfrm>
            <a:off x="0" y="0"/>
            <a:ext cx="9144000" cy="5143500"/>
          </a:xfrm>
          <a:prstGeom prst="rect">
            <a:avLst/>
          </a:prstGeom>
          <a:noFill/>
          <a:ln>
            <a:noFill/>
          </a:ln>
        </p:spPr>
      </p:pic>
      <p:pic>
        <p:nvPicPr>
          <p:cNvPr descr="Alfriston College Logo-12.png" id="661" name="Google Shape;661;p80"/>
          <p:cNvPicPr preferRelativeResize="0"/>
          <p:nvPr/>
        </p:nvPicPr>
        <p:blipFill>
          <a:blip r:embed="rId4">
            <a:alphaModFix/>
          </a:blip>
          <a:stretch>
            <a:fillRect/>
          </a:stretch>
        </p:blipFill>
        <p:spPr>
          <a:xfrm>
            <a:off x="7997098" y="79002"/>
            <a:ext cx="1092277" cy="1524425"/>
          </a:xfrm>
          <a:prstGeom prst="rect">
            <a:avLst/>
          </a:prstGeom>
          <a:noFill/>
          <a:ln>
            <a:noFill/>
          </a:ln>
        </p:spPr>
      </p:pic>
      <p:sp>
        <p:nvSpPr>
          <p:cNvPr id="662" name="Google Shape;662;p80"/>
          <p:cNvSpPr txBox="1"/>
          <p:nvPr/>
        </p:nvSpPr>
        <p:spPr>
          <a:xfrm>
            <a:off x="1507600" y="1742275"/>
            <a:ext cx="5711700" cy="13395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4100">
                <a:latin typeface="Luckiest Guy"/>
                <a:ea typeface="Luckiest Guy"/>
                <a:cs typeface="Luckiest Guy"/>
                <a:sym typeface="Luckiest Guy"/>
              </a:rPr>
              <a:t>Level 2 health</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Term 4 | week 6</a:t>
            </a:r>
            <a:endParaRPr sz="4100">
              <a:latin typeface="Luckiest Guy"/>
              <a:ea typeface="Luckiest Guy"/>
              <a:cs typeface="Luckiest Guy"/>
              <a:sym typeface="Luckiest Guy"/>
            </a:endParaRPr>
          </a:p>
          <a:p>
            <a:pPr indent="0" lvl="0" marL="0" rtl="0" algn="ctr">
              <a:spcBef>
                <a:spcPts val="0"/>
              </a:spcBef>
              <a:spcAft>
                <a:spcPts val="0"/>
              </a:spcAft>
              <a:buNone/>
            </a:pPr>
            <a:r>
              <a:rPr lang="en-GB" sz="4100">
                <a:latin typeface="Luckiest Guy"/>
                <a:ea typeface="Luckiest Guy"/>
                <a:cs typeface="Luckiest Guy"/>
                <a:sym typeface="Luckiest Guy"/>
              </a:rPr>
              <a:t>Mon 10 Nov - l2</a:t>
            </a:r>
            <a:endParaRPr sz="4100">
              <a:latin typeface="Luckiest Guy"/>
              <a:ea typeface="Luckiest Guy"/>
              <a:cs typeface="Luckiest Guy"/>
              <a:sym typeface="Luckiest Guy"/>
            </a:endParaRPr>
          </a:p>
          <a:p>
            <a:pPr indent="0" lvl="0" marL="0" rtl="0" algn="ctr">
              <a:spcBef>
                <a:spcPts val="0"/>
              </a:spcBef>
              <a:spcAft>
                <a:spcPts val="0"/>
              </a:spcAft>
              <a:buNone/>
            </a:pPr>
            <a:r>
              <a:t/>
            </a:r>
            <a:endParaRPr sz="4100">
              <a:latin typeface="Luckiest Guy"/>
              <a:ea typeface="Luckiest Guy"/>
              <a:cs typeface="Luckiest Guy"/>
              <a:sym typeface="Luckiest Guy"/>
            </a:endParaRPr>
          </a:p>
          <a:p>
            <a:pPr indent="0" lvl="0" marL="0" rtl="0" algn="ctr">
              <a:spcBef>
                <a:spcPts val="0"/>
              </a:spcBef>
              <a:spcAft>
                <a:spcPts val="0"/>
              </a:spcAft>
              <a:buNone/>
            </a:pPr>
            <a:r>
              <a:t/>
            </a:r>
            <a:endParaRPr sz="1800">
              <a:highlight>
                <a:srgbClr val="FF00FF"/>
              </a:highlight>
              <a:latin typeface="Luckiest Guy"/>
              <a:ea typeface="Luckiest Guy"/>
              <a:cs typeface="Luckiest Guy"/>
              <a:sym typeface="Luckiest Guy"/>
            </a:endParaRPr>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6" name="Shape 666"/>
        <p:cNvGrpSpPr/>
        <p:nvPr/>
      </p:nvGrpSpPr>
      <p:grpSpPr>
        <a:xfrm>
          <a:off x="0" y="0"/>
          <a:ext cx="0" cy="0"/>
          <a:chOff x="0" y="0"/>
          <a:chExt cx="0" cy="0"/>
        </a:xfrm>
      </p:grpSpPr>
      <p:sp>
        <p:nvSpPr>
          <p:cNvPr id="667" name="Google Shape;667;p81"/>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t/>
            </a:r>
            <a:endParaRPr/>
          </a:p>
        </p:txBody>
      </p:sp>
      <p:sp>
        <p:nvSpPr>
          <p:cNvPr id="668" name="Google Shape;668;p81"/>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t/>
            </a:r>
            <a:endParaRPr/>
          </a:p>
        </p:txBody>
      </p:sp>
      <p:pic>
        <p:nvPicPr>
          <p:cNvPr descr="AC Slides with corner pattern-02.jpeg" id="669" name="Google Shape;669;p81"/>
          <p:cNvPicPr preferRelativeResize="0"/>
          <p:nvPr/>
        </p:nvPicPr>
        <p:blipFill>
          <a:blip r:embed="rId3">
            <a:alphaModFix/>
          </a:blip>
          <a:stretch>
            <a:fillRect/>
          </a:stretch>
        </p:blipFill>
        <p:spPr>
          <a:xfrm>
            <a:off x="0" y="-58300"/>
            <a:ext cx="9144000" cy="5143500"/>
          </a:xfrm>
          <a:prstGeom prst="rect">
            <a:avLst/>
          </a:prstGeom>
          <a:noFill/>
          <a:ln>
            <a:noFill/>
          </a:ln>
        </p:spPr>
      </p:pic>
      <p:cxnSp>
        <p:nvCxnSpPr>
          <p:cNvPr id="670" name="Google Shape;670;p81"/>
          <p:cNvCxnSpPr/>
          <p:nvPr/>
        </p:nvCxnSpPr>
        <p:spPr>
          <a:xfrm>
            <a:off x="402225" y="549400"/>
            <a:ext cx="24600" cy="4343700"/>
          </a:xfrm>
          <a:prstGeom prst="straightConnector1">
            <a:avLst/>
          </a:prstGeom>
          <a:noFill/>
          <a:ln cap="flat" cmpd="sng" w="28575">
            <a:solidFill>
              <a:srgbClr val="D01E38"/>
            </a:solidFill>
            <a:prstDash val="solid"/>
            <a:round/>
            <a:headEnd len="med" w="med" type="none"/>
            <a:tailEnd len="med" w="med" type="none"/>
          </a:ln>
        </p:spPr>
      </p:cxnSp>
      <p:sp>
        <p:nvSpPr>
          <p:cNvPr id="671" name="Google Shape;671;p81"/>
          <p:cNvSpPr txBox="1"/>
          <p:nvPr/>
        </p:nvSpPr>
        <p:spPr>
          <a:xfrm>
            <a:off x="311700" y="178650"/>
            <a:ext cx="8717400" cy="47862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GB" sz="3600">
                <a:latin typeface="Luckiest Guy"/>
                <a:ea typeface="Luckiest Guy"/>
                <a:cs typeface="Luckiest Guy"/>
                <a:sym typeface="Luckiest Guy"/>
              </a:rPr>
              <a:t>Do now</a:t>
            </a:r>
            <a:endParaRPr sz="1800">
              <a:latin typeface="ABeeZee"/>
              <a:ea typeface="ABeeZee"/>
              <a:cs typeface="ABeeZee"/>
              <a:sym typeface="ABeeZee"/>
            </a:endParaRPr>
          </a:p>
          <a:p>
            <a:pPr indent="0" lvl="0" marL="0" rtl="0" algn="l">
              <a:lnSpc>
                <a:spcPct val="115000"/>
              </a:lnSpc>
              <a:spcBef>
                <a:spcPts val="1200"/>
              </a:spcBef>
              <a:spcAft>
                <a:spcPts val="0"/>
              </a:spcAft>
              <a:buNone/>
            </a:pPr>
            <a:r>
              <a:rPr lang="en-GB" sz="1800">
                <a:latin typeface="ABeeZee"/>
                <a:ea typeface="ABeeZee"/>
                <a:cs typeface="ABeeZee"/>
                <a:sym typeface="ABeeZee"/>
              </a:rPr>
              <a:t>Have a discussion about the following:</a:t>
            </a:r>
            <a:endParaRPr sz="1800">
              <a:latin typeface="ABeeZee"/>
              <a:ea typeface="ABeeZee"/>
              <a:cs typeface="ABeeZee"/>
              <a:sym typeface="ABeeZee"/>
            </a:endParaRPr>
          </a:p>
          <a:p>
            <a:pPr indent="-342900" lvl="0" marL="457200" rtl="0" algn="l">
              <a:lnSpc>
                <a:spcPct val="115000"/>
              </a:lnSpc>
              <a:spcBef>
                <a:spcPts val="1200"/>
              </a:spcBef>
              <a:spcAft>
                <a:spcPts val="0"/>
              </a:spcAft>
              <a:buSzPts val="1800"/>
              <a:buFont typeface="ABeeZee"/>
              <a:buChar char="●"/>
            </a:pPr>
            <a:r>
              <a:rPr lang="en-GB" sz="1800">
                <a:latin typeface="ABeeZee"/>
                <a:ea typeface="ABeeZee"/>
                <a:cs typeface="ABeeZee"/>
                <a:sym typeface="ABeeZee"/>
              </a:rPr>
              <a:t>Bedtime and wake up time</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How many hours of sleep you have a night</a:t>
            </a:r>
            <a:endParaRPr sz="1800">
              <a:latin typeface="ABeeZee"/>
              <a:ea typeface="ABeeZee"/>
              <a:cs typeface="ABeeZee"/>
              <a:sym typeface="ABeeZee"/>
            </a:endParaRPr>
          </a:p>
          <a:p>
            <a:pPr indent="-342900" lvl="0" marL="457200" rtl="0" algn="l">
              <a:lnSpc>
                <a:spcPct val="115000"/>
              </a:lnSpc>
              <a:spcBef>
                <a:spcPts val="0"/>
              </a:spcBef>
              <a:spcAft>
                <a:spcPts val="0"/>
              </a:spcAft>
              <a:buSzPts val="1800"/>
              <a:buFont typeface="ABeeZee"/>
              <a:buChar char="●"/>
            </a:pPr>
            <a:r>
              <a:rPr lang="en-GB" sz="1800">
                <a:latin typeface="ABeeZee"/>
                <a:ea typeface="ABeeZee"/>
                <a:cs typeface="ABeeZee"/>
                <a:sym typeface="ABeeZee"/>
              </a:rPr>
              <a:t>What amount is of sleep is recommended </a:t>
            </a:r>
            <a:endParaRPr sz="1800">
              <a:latin typeface="ABeeZee"/>
              <a:ea typeface="ABeeZee"/>
              <a:cs typeface="ABeeZee"/>
              <a:sym typeface="ABeeZee"/>
            </a:endParaRPr>
          </a:p>
          <a:p>
            <a:pPr indent="0" lvl="0" marL="457200" rtl="0" algn="l">
              <a:lnSpc>
                <a:spcPct val="115000"/>
              </a:lnSpc>
              <a:spcBef>
                <a:spcPts val="1200"/>
              </a:spcBef>
              <a:spcAft>
                <a:spcPts val="0"/>
              </a:spcAft>
              <a:buNone/>
            </a:pPr>
            <a:r>
              <a:rPr lang="en-GB" sz="1800">
                <a:latin typeface="ABeeZee"/>
                <a:ea typeface="ABeeZee"/>
                <a:cs typeface="ABeeZee"/>
                <a:sym typeface="ABeeZee"/>
              </a:rPr>
              <a:t>for teenagers?</a:t>
            </a:r>
            <a:endParaRPr sz="1800">
              <a:latin typeface="ABeeZee"/>
              <a:ea typeface="ABeeZee"/>
              <a:cs typeface="ABeeZee"/>
              <a:sym typeface="ABeeZee"/>
            </a:endParaRPr>
          </a:p>
          <a:p>
            <a:pPr indent="0" lvl="0" marL="0" rtl="0" algn="l">
              <a:lnSpc>
                <a:spcPct val="115000"/>
              </a:lnSpc>
              <a:spcBef>
                <a:spcPts val="1200"/>
              </a:spcBef>
              <a:spcAft>
                <a:spcPts val="1200"/>
              </a:spcAft>
              <a:buNone/>
            </a:pPr>
            <a:r>
              <a:t/>
            </a:r>
            <a:endParaRPr sz="2100">
              <a:latin typeface="ABeeZee"/>
              <a:ea typeface="ABeeZee"/>
              <a:cs typeface="ABeeZee"/>
              <a:sym typeface="ABeeZee"/>
            </a:endParaRPr>
          </a:p>
        </p:txBody>
      </p:sp>
      <p:pic>
        <p:nvPicPr>
          <p:cNvPr descr="This timer silently counts down to 0:00, then alerts you that time is up with a gentle beep sound." id="672" name="Google Shape;672;p81" title="15 Minute Timer">
            <a:hlinkClick r:id="rId4"/>
          </p:cNvPr>
          <p:cNvPicPr preferRelativeResize="0"/>
          <p:nvPr/>
        </p:nvPicPr>
        <p:blipFill>
          <a:blip r:embed="rId5">
            <a:alphaModFix/>
          </a:blip>
          <a:stretch>
            <a:fillRect/>
          </a:stretch>
        </p:blipFill>
        <p:spPr>
          <a:xfrm>
            <a:off x="6671550" y="1723125"/>
            <a:ext cx="2448075" cy="137705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72"/>
                                        </p:tgtEl>
                                        <p:attrNameLst>
                                          <p:attrName>style.visibility</p:attrName>
                                        </p:attrNameLst>
                                      </p:cBhvr>
                                      <p:to>
                                        <p:strVal val="visible"/>
                                      </p:to>
                                    </p:set>
                                    <p:animEffect filter="fade" transition="in">
                                      <p:cBhvr>
                                        <p:cTn dur="1000"/>
                                        <p:tgtEl>
                                          <p:spTgt spid="6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6" name="Shape 676"/>
        <p:cNvGrpSpPr/>
        <p:nvPr/>
      </p:nvGrpSpPr>
      <p:grpSpPr>
        <a:xfrm>
          <a:off x="0" y="0"/>
          <a:ext cx="0" cy="0"/>
          <a:chOff x="0" y="0"/>
          <a:chExt cx="0" cy="0"/>
        </a:xfrm>
      </p:grpSpPr>
      <p:pic>
        <p:nvPicPr>
          <p:cNvPr descr="AC Slides-01.jpeg" id="677" name="Google Shape;677;p82"/>
          <p:cNvPicPr preferRelativeResize="0"/>
          <p:nvPr/>
        </p:nvPicPr>
        <p:blipFill>
          <a:blip r:embed="rId3">
            <a:alphaModFix/>
          </a:blip>
          <a:stretch>
            <a:fillRect/>
          </a:stretch>
        </p:blipFill>
        <p:spPr>
          <a:xfrm>
            <a:off x="0" y="0"/>
            <a:ext cx="9144000" cy="5143500"/>
          </a:xfrm>
          <a:prstGeom prst="rect">
            <a:avLst/>
          </a:prstGeom>
          <a:noFill/>
          <a:ln>
            <a:noFill/>
          </a:ln>
        </p:spPr>
      </p:pic>
      <p:sp>
        <p:nvSpPr>
          <p:cNvPr id="678" name="Google Shape;678;p82"/>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9" name="Google Shape;679;p82"/>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80" name="Google Shape;680;p82"/>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What adolescent health issues have we covered this term?</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lnSpc>
                <a:spcPct val="140000"/>
              </a:lnSpc>
              <a:spcBef>
                <a:spcPts val="0"/>
              </a:spcBef>
              <a:spcAft>
                <a:spcPts val="0"/>
              </a:spcAft>
              <a:buNone/>
            </a:pPr>
            <a:r>
              <a:t/>
            </a:r>
            <a:endParaRPr sz="1900">
              <a:solidFill>
                <a:schemeClr val="dk1"/>
              </a:solidFill>
              <a:latin typeface="ABeeZee"/>
              <a:ea typeface="ABeeZee"/>
              <a:cs typeface="ABeeZee"/>
              <a:sym typeface="ABeeZee"/>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45720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Clr>
                <a:schemeClr val="dk1"/>
              </a:buClr>
              <a:buSzPts val="1100"/>
              <a:buFont typeface="Arial"/>
              <a:buNone/>
            </a:pPr>
            <a:r>
              <a:rPr lang="en-GB" sz="2500">
                <a:solidFill>
                  <a:schemeClr val="dk1"/>
                </a:solidFill>
                <a:latin typeface="Luckiest Guy"/>
                <a:ea typeface="Luckiest Guy"/>
                <a:cs typeface="Luckiest Guy"/>
                <a:sym typeface="Luckiest Guy"/>
              </a:rPr>
              <a:t>What knowledge do we have to know in preparation for 2.1 external?</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81" name="Google Shape;681;p82"/>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2" name="Google Shape;682;p82"/>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6" name="Shape 686"/>
        <p:cNvGrpSpPr/>
        <p:nvPr/>
      </p:nvGrpSpPr>
      <p:grpSpPr>
        <a:xfrm>
          <a:off x="0" y="0"/>
          <a:ext cx="0" cy="0"/>
          <a:chOff x="0" y="0"/>
          <a:chExt cx="0" cy="0"/>
        </a:xfrm>
      </p:grpSpPr>
      <p:pic>
        <p:nvPicPr>
          <p:cNvPr descr="AC Slides-01.jpeg" id="687" name="Google Shape;687;p83"/>
          <p:cNvPicPr preferRelativeResize="0"/>
          <p:nvPr/>
        </p:nvPicPr>
        <p:blipFill>
          <a:blip r:embed="rId3">
            <a:alphaModFix/>
          </a:blip>
          <a:stretch>
            <a:fillRect/>
          </a:stretch>
        </p:blipFill>
        <p:spPr>
          <a:xfrm>
            <a:off x="0" y="0"/>
            <a:ext cx="9144000" cy="5143500"/>
          </a:xfrm>
          <a:prstGeom prst="rect">
            <a:avLst/>
          </a:prstGeom>
          <a:noFill/>
          <a:ln>
            <a:noFill/>
          </a:ln>
        </p:spPr>
      </p:pic>
      <p:sp>
        <p:nvSpPr>
          <p:cNvPr id="688" name="Google Shape;688;p83"/>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9" name="Google Shape;689;p83"/>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690" name="Google Shape;690;p83"/>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Sleep issues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lang="en-GB" sz="1800">
                <a:latin typeface="Jost"/>
                <a:ea typeface="Jost"/>
                <a:cs typeface="Jost"/>
                <a:sym typeface="Jost"/>
              </a:rPr>
              <a:t>What are sleep issues?  How are they caused?  Why are they so impactful to teenagers?</a:t>
            </a:r>
            <a:endParaRPr sz="1800">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691" name="Google Shape;691;p83"/>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2" name="Google Shape;692;p83"/>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6" name="Shape 696"/>
        <p:cNvGrpSpPr/>
        <p:nvPr/>
      </p:nvGrpSpPr>
      <p:grpSpPr>
        <a:xfrm>
          <a:off x="0" y="0"/>
          <a:ext cx="0" cy="0"/>
          <a:chOff x="0" y="0"/>
          <a:chExt cx="0" cy="0"/>
        </a:xfrm>
      </p:grpSpPr>
      <p:pic>
        <p:nvPicPr>
          <p:cNvPr descr="AC Slides-01.jpeg" id="697" name="Google Shape;697;p84"/>
          <p:cNvPicPr preferRelativeResize="0"/>
          <p:nvPr/>
        </p:nvPicPr>
        <p:blipFill>
          <a:blip r:embed="rId3">
            <a:alphaModFix/>
          </a:blip>
          <a:stretch>
            <a:fillRect/>
          </a:stretch>
        </p:blipFill>
        <p:spPr>
          <a:xfrm>
            <a:off x="0" y="0"/>
            <a:ext cx="9144000" cy="5143500"/>
          </a:xfrm>
          <a:prstGeom prst="rect">
            <a:avLst/>
          </a:prstGeom>
          <a:noFill/>
          <a:ln>
            <a:noFill/>
          </a:ln>
        </p:spPr>
      </p:pic>
      <p:sp>
        <p:nvSpPr>
          <p:cNvPr id="698" name="Google Shape;698;p84"/>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9" name="Google Shape;699;p84"/>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00" name="Google Shape;700;p84"/>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Sleep issues on hauora</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b="1" lang="en-GB" sz="1800" u="sng">
                <a:latin typeface="Jost"/>
                <a:ea typeface="Jost"/>
                <a:cs typeface="Jost"/>
                <a:sym typeface="Jost"/>
              </a:rPr>
              <a:t>TAHA WAIRUA</a:t>
            </a:r>
            <a:r>
              <a:rPr b="1" lang="en-GB" sz="1800">
                <a:latin typeface="Jost"/>
                <a:ea typeface="Jost"/>
                <a:cs typeface="Jost"/>
                <a:sym typeface="Jost"/>
              </a:rPr>
              <a:t>					</a:t>
            </a:r>
            <a:r>
              <a:rPr b="1" lang="en-GB" sz="1800" u="sng">
                <a:latin typeface="Jost"/>
                <a:ea typeface="Jost"/>
                <a:cs typeface="Jost"/>
                <a:sym typeface="Jost"/>
              </a:rPr>
              <a:t>TAHA WHANAU</a:t>
            </a:r>
            <a:endParaRPr b="1" sz="1800" u="sng">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rPr b="1" lang="en-GB" sz="1800" u="sng">
                <a:latin typeface="Jost"/>
                <a:ea typeface="Jost"/>
                <a:cs typeface="Jost"/>
                <a:sym typeface="Jost"/>
              </a:rPr>
              <a:t>TAHA HINENGARO	</a:t>
            </a:r>
            <a:r>
              <a:rPr b="1" lang="en-GB" sz="1800">
                <a:latin typeface="Jost"/>
                <a:ea typeface="Jost"/>
                <a:cs typeface="Jost"/>
                <a:sym typeface="Jost"/>
              </a:rPr>
              <a:t>			</a:t>
            </a:r>
            <a:r>
              <a:rPr b="1" lang="en-GB" sz="1800" u="sng">
                <a:latin typeface="Jost"/>
                <a:ea typeface="Jost"/>
                <a:cs typeface="Jost"/>
                <a:sym typeface="Jost"/>
              </a:rPr>
              <a:t>TAHA TINANA</a:t>
            </a:r>
            <a:endParaRPr b="1" sz="1800" u="sng">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01" name="Google Shape;701;p84"/>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2" name="Google Shape;702;p84"/>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6" name="Shape 706"/>
        <p:cNvGrpSpPr/>
        <p:nvPr/>
      </p:nvGrpSpPr>
      <p:grpSpPr>
        <a:xfrm>
          <a:off x="0" y="0"/>
          <a:ext cx="0" cy="0"/>
          <a:chOff x="0" y="0"/>
          <a:chExt cx="0" cy="0"/>
        </a:xfrm>
      </p:grpSpPr>
      <p:pic>
        <p:nvPicPr>
          <p:cNvPr descr="AC Slides-01.jpeg" id="707" name="Google Shape;707;p85"/>
          <p:cNvPicPr preferRelativeResize="0"/>
          <p:nvPr/>
        </p:nvPicPr>
        <p:blipFill>
          <a:blip r:embed="rId3">
            <a:alphaModFix/>
          </a:blip>
          <a:stretch>
            <a:fillRect/>
          </a:stretch>
        </p:blipFill>
        <p:spPr>
          <a:xfrm>
            <a:off x="0" y="0"/>
            <a:ext cx="9144000" cy="5143500"/>
          </a:xfrm>
          <a:prstGeom prst="rect">
            <a:avLst/>
          </a:prstGeom>
          <a:noFill/>
          <a:ln>
            <a:noFill/>
          </a:ln>
        </p:spPr>
      </p:pic>
      <p:sp>
        <p:nvSpPr>
          <p:cNvPr id="708" name="Google Shape;708;p85"/>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9" name="Google Shape;709;p85"/>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10" name="Google Shape;710;p85"/>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Sleep issues on p-ip-s</a:t>
            </a:r>
            <a:endParaRPr sz="2500">
              <a:latin typeface="Luckiest Guy"/>
              <a:ea typeface="Luckiest Guy"/>
              <a:cs typeface="Luckiest Guy"/>
              <a:sym typeface="Luckiest Guy"/>
            </a:endParaRPr>
          </a:p>
          <a:p>
            <a:pPr indent="0" lvl="0" marL="0" rtl="0" algn="l">
              <a:spcBef>
                <a:spcPts val="0"/>
              </a:spcBef>
              <a:spcAft>
                <a:spcPts val="0"/>
              </a:spcAft>
              <a:buNone/>
            </a:pPr>
            <a:r>
              <a:t/>
            </a:r>
            <a:endParaRPr sz="2500">
              <a:latin typeface="Luckiest Guy"/>
              <a:ea typeface="Luckiest Guy"/>
              <a:cs typeface="Luckiest Guy"/>
              <a:sym typeface="Luckiest Guy"/>
            </a:endParaRPr>
          </a:p>
          <a:p>
            <a:pPr indent="0" lvl="0" marL="0" rtl="0" algn="l">
              <a:spcBef>
                <a:spcPts val="0"/>
              </a:spcBef>
              <a:spcAft>
                <a:spcPts val="0"/>
              </a:spcAft>
              <a:buNone/>
            </a:pPr>
            <a:r>
              <a:rPr b="1" lang="en-GB" sz="1800" u="sng">
                <a:latin typeface="Jost"/>
                <a:ea typeface="Jost"/>
                <a:cs typeface="Jost"/>
                <a:sym typeface="Jost"/>
              </a:rPr>
              <a:t>PERSONAL</a:t>
            </a:r>
            <a:r>
              <a:rPr b="1" lang="en-GB" sz="1800">
                <a:latin typeface="Jost"/>
                <a:ea typeface="Jost"/>
                <a:cs typeface="Jost"/>
                <a:sym typeface="Jost"/>
              </a:rPr>
              <a:t>					</a:t>
            </a:r>
            <a:r>
              <a:rPr b="1" lang="en-GB" sz="1800" u="sng">
                <a:latin typeface="Jost"/>
                <a:ea typeface="Jost"/>
                <a:cs typeface="Jost"/>
                <a:sym typeface="Jost"/>
              </a:rPr>
              <a:t>INTER-PERSONAL</a:t>
            </a:r>
            <a:endParaRPr b="1" sz="1800" u="sng">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t/>
            </a:r>
            <a:endParaRPr b="1" sz="1800">
              <a:latin typeface="Jost"/>
              <a:ea typeface="Jost"/>
              <a:cs typeface="Jost"/>
              <a:sym typeface="Jost"/>
            </a:endParaRPr>
          </a:p>
          <a:p>
            <a:pPr indent="0" lvl="0" marL="0" rtl="0" algn="l">
              <a:spcBef>
                <a:spcPts val="0"/>
              </a:spcBef>
              <a:spcAft>
                <a:spcPts val="0"/>
              </a:spcAft>
              <a:buNone/>
            </a:pPr>
            <a:r>
              <a:rPr b="1" lang="en-GB" sz="1800" u="sng">
                <a:latin typeface="Jost"/>
                <a:ea typeface="Jost"/>
                <a:cs typeface="Jost"/>
                <a:sym typeface="Jost"/>
              </a:rPr>
              <a:t>SOCIETAL</a:t>
            </a:r>
            <a:endParaRPr b="1" sz="1800" u="sng">
              <a:latin typeface="Jost"/>
              <a:ea typeface="Jost"/>
              <a:cs typeface="Jost"/>
              <a:sym typeface="Jost"/>
            </a:endParaRPr>
          </a:p>
          <a:p>
            <a:pPr indent="0" lvl="0" marL="0" rtl="0" algn="l">
              <a:spcBef>
                <a:spcPts val="0"/>
              </a:spcBef>
              <a:spcAft>
                <a:spcPts val="0"/>
              </a:spcAft>
              <a:buNone/>
            </a:pPr>
            <a:r>
              <a:t/>
            </a:r>
            <a:endParaRPr sz="1800">
              <a:latin typeface="Jost"/>
              <a:ea typeface="Jost"/>
              <a:cs typeface="Jost"/>
              <a:sym typeface="Jost"/>
            </a:endParaRPr>
          </a:p>
        </p:txBody>
      </p:sp>
      <p:sp>
        <p:nvSpPr>
          <p:cNvPr id="711" name="Google Shape;711;p85"/>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2" name="Google Shape;712;p85"/>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6" name="Shape 716"/>
        <p:cNvGrpSpPr/>
        <p:nvPr/>
      </p:nvGrpSpPr>
      <p:grpSpPr>
        <a:xfrm>
          <a:off x="0" y="0"/>
          <a:ext cx="0" cy="0"/>
          <a:chOff x="0" y="0"/>
          <a:chExt cx="0" cy="0"/>
        </a:xfrm>
      </p:grpSpPr>
      <p:pic>
        <p:nvPicPr>
          <p:cNvPr descr="AC Slides-01.jpeg" id="717" name="Google Shape;717;p86"/>
          <p:cNvPicPr preferRelativeResize="0"/>
          <p:nvPr/>
        </p:nvPicPr>
        <p:blipFill>
          <a:blip r:embed="rId3">
            <a:alphaModFix/>
          </a:blip>
          <a:stretch>
            <a:fillRect/>
          </a:stretch>
        </p:blipFill>
        <p:spPr>
          <a:xfrm>
            <a:off x="0" y="0"/>
            <a:ext cx="9144000" cy="5143500"/>
          </a:xfrm>
          <a:prstGeom prst="rect">
            <a:avLst/>
          </a:prstGeom>
          <a:noFill/>
          <a:ln>
            <a:noFill/>
          </a:ln>
        </p:spPr>
      </p:pic>
      <p:sp>
        <p:nvSpPr>
          <p:cNvPr id="718" name="Google Shape;718;p86"/>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9" name="Google Shape;719;p86"/>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20" name="Google Shape;720;p86"/>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Finish the sentence STARTERS</a:t>
            </a:r>
            <a:endParaRPr sz="2500">
              <a:latin typeface="Luckiest Guy"/>
              <a:ea typeface="Luckiest Guy"/>
              <a:cs typeface="Luckiest Guy"/>
              <a:sym typeface="Luckiest Guy"/>
            </a:endParaRPr>
          </a:p>
          <a:p>
            <a:pPr indent="0" lvl="0" marL="0" rtl="0" algn="l">
              <a:spcBef>
                <a:spcPts val="0"/>
              </a:spcBef>
              <a:spcAft>
                <a:spcPts val="0"/>
              </a:spcAft>
              <a:buNone/>
            </a:pPr>
            <a:r>
              <a:rPr lang="en-GB" sz="1800">
                <a:latin typeface="ABeeZee"/>
                <a:ea typeface="ABeeZee"/>
                <a:cs typeface="ABeeZee"/>
                <a:sym typeface="ABeeZee"/>
              </a:rPr>
              <a:t>Topics: Period Poverty, Energy Drinks, Vape, Mental Health issues, Nutrition issues, Cannabis</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800">
                <a:highlight>
                  <a:schemeClr val="accent6"/>
                </a:highlight>
                <a:latin typeface="ABeeZee"/>
                <a:ea typeface="ABeeZee"/>
                <a:cs typeface="ABeeZee"/>
                <a:sym typeface="ABeeZee"/>
              </a:rPr>
              <a:t>Add a resource that supports that factor </a:t>
            </a:r>
            <a:endParaRPr sz="1800">
              <a:highlight>
                <a:schemeClr val="accent6"/>
              </a:highlight>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800">
                <a:latin typeface="ABeeZee"/>
                <a:ea typeface="ABeeZee"/>
                <a:cs typeface="ABeeZee"/>
                <a:sym typeface="ABeeZee"/>
              </a:rPr>
              <a:t>A personal factor that could influence </a:t>
            </a:r>
            <a:r>
              <a:rPr lang="en-GB" sz="1800">
                <a:latin typeface="ABeeZee"/>
                <a:ea typeface="ABeeZee"/>
                <a:cs typeface="ABeeZee"/>
                <a:sym typeface="ABeeZee"/>
              </a:rPr>
              <a:t>someone's/someone to</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800">
                <a:latin typeface="ABeeZee"/>
                <a:ea typeface="ABeeZee"/>
                <a:cs typeface="ABeeZee"/>
                <a:sym typeface="ABeeZee"/>
              </a:rPr>
              <a:t>An interpersonal </a:t>
            </a:r>
            <a:r>
              <a:rPr lang="en-GB" sz="1800">
                <a:latin typeface="ABeeZee"/>
                <a:ea typeface="ABeeZee"/>
                <a:cs typeface="ABeeZee"/>
                <a:sym typeface="ABeeZee"/>
              </a:rPr>
              <a:t>factor </a:t>
            </a:r>
            <a:r>
              <a:rPr lang="en-GB" sz="1800">
                <a:solidFill>
                  <a:schemeClr val="dk1"/>
                </a:solidFill>
                <a:latin typeface="ABeeZee"/>
                <a:ea typeface="ABeeZee"/>
                <a:cs typeface="ABeeZee"/>
                <a:sym typeface="ABeeZee"/>
              </a:rPr>
              <a:t>that could influence someone's/someone to</a:t>
            </a:r>
            <a:endParaRPr sz="18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800">
                <a:solidFill>
                  <a:schemeClr val="dk1"/>
                </a:solidFill>
                <a:latin typeface="ABeeZee"/>
                <a:ea typeface="ABeeZee"/>
                <a:cs typeface="ABeeZee"/>
                <a:sym typeface="ABeeZee"/>
              </a:rPr>
              <a:t>An societal factor that could influence someone's/someone to</a:t>
            </a:r>
            <a:endParaRPr sz="1800">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p:txBody>
      </p:sp>
      <p:sp>
        <p:nvSpPr>
          <p:cNvPr id="721" name="Google Shape;721;p86"/>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2" name="Google Shape;722;p86"/>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6" name="Shape 726"/>
        <p:cNvGrpSpPr/>
        <p:nvPr/>
      </p:nvGrpSpPr>
      <p:grpSpPr>
        <a:xfrm>
          <a:off x="0" y="0"/>
          <a:ext cx="0" cy="0"/>
          <a:chOff x="0" y="0"/>
          <a:chExt cx="0" cy="0"/>
        </a:xfrm>
      </p:grpSpPr>
      <p:pic>
        <p:nvPicPr>
          <p:cNvPr descr="AC Slides-01.jpeg" id="727" name="Google Shape;727;p87"/>
          <p:cNvPicPr preferRelativeResize="0"/>
          <p:nvPr/>
        </p:nvPicPr>
        <p:blipFill>
          <a:blip r:embed="rId3">
            <a:alphaModFix/>
          </a:blip>
          <a:stretch>
            <a:fillRect/>
          </a:stretch>
        </p:blipFill>
        <p:spPr>
          <a:xfrm>
            <a:off x="0" y="0"/>
            <a:ext cx="9144000" cy="5143500"/>
          </a:xfrm>
          <a:prstGeom prst="rect">
            <a:avLst/>
          </a:prstGeom>
          <a:noFill/>
          <a:ln>
            <a:noFill/>
          </a:ln>
        </p:spPr>
      </p:pic>
      <p:sp>
        <p:nvSpPr>
          <p:cNvPr id="728" name="Google Shape;728;p87"/>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9" name="Google Shape;729;p87"/>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30" name="Google Shape;730;p87"/>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Finish the sentence STARTERS - wellbeing</a:t>
            </a:r>
            <a:endParaRPr sz="2500">
              <a:latin typeface="Luckiest Guy"/>
              <a:ea typeface="Luckiest Guy"/>
              <a:cs typeface="Luckiest Guy"/>
              <a:sym typeface="Luckiest Guy"/>
            </a:endParaRPr>
          </a:p>
          <a:p>
            <a:pPr indent="0" lvl="0" marL="0" rtl="0" algn="l">
              <a:spcBef>
                <a:spcPts val="0"/>
              </a:spcBef>
              <a:spcAft>
                <a:spcPts val="0"/>
              </a:spcAft>
              <a:buNone/>
            </a:pPr>
            <a:r>
              <a:rPr lang="en-GB" sz="1800">
                <a:latin typeface="ABeeZee"/>
                <a:ea typeface="ABeeZee"/>
                <a:cs typeface="ABeeZee"/>
                <a:sym typeface="ABeeZee"/>
              </a:rPr>
              <a:t>Topics: Period Poverty, Energy Drinks, Vape, Mental Health issues, Nutrition issues, Cannabis</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800">
                <a:highlight>
                  <a:schemeClr val="accent6"/>
                </a:highlight>
                <a:latin typeface="ABeeZee"/>
                <a:ea typeface="ABeeZee"/>
                <a:cs typeface="ABeeZee"/>
                <a:sym typeface="ABeeZee"/>
              </a:rPr>
              <a:t>Add a resource that supports that consequence</a:t>
            </a:r>
            <a:endParaRPr sz="1800">
              <a:highlight>
                <a:schemeClr val="accent6"/>
              </a:highlight>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A short term consequence of …. I</a:t>
            </a:r>
            <a:r>
              <a:rPr lang="en-GB" sz="1500">
                <a:latin typeface="ABeeZee"/>
                <a:ea typeface="ABeeZee"/>
                <a:cs typeface="ABeeZee"/>
                <a:sym typeface="ABeeZee"/>
              </a:rPr>
              <a:t>s…which leads to their physical wellbeing being impacted because</a:t>
            </a:r>
            <a:endParaRPr sz="15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Social </a:t>
            </a:r>
            <a:r>
              <a:rPr lang="en-GB" sz="1500">
                <a:solidFill>
                  <a:schemeClr val="dk1"/>
                </a:solidFill>
                <a:latin typeface="ABeeZee"/>
                <a:ea typeface="ABeeZee"/>
                <a:cs typeface="ABeeZee"/>
                <a:sym typeface="ABeeZee"/>
              </a:rPr>
              <a:t>wellbeing being impacted because</a:t>
            </a:r>
            <a:endParaRPr sz="15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Spiritual </a:t>
            </a:r>
            <a:r>
              <a:rPr lang="en-GB" sz="1500">
                <a:solidFill>
                  <a:schemeClr val="dk1"/>
                </a:solidFill>
                <a:latin typeface="ABeeZee"/>
                <a:ea typeface="ABeeZee"/>
                <a:cs typeface="ABeeZee"/>
                <a:sym typeface="ABeeZee"/>
              </a:rPr>
              <a:t>wellbeing being impacted because</a:t>
            </a:r>
            <a:endParaRPr sz="15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Mental </a:t>
            </a:r>
            <a:r>
              <a:rPr lang="en-GB" sz="1500">
                <a:solidFill>
                  <a:schemeClr val="dk1"/>
                </a:solidFill>
                <a:latin typeface="ABeeZee"/>
                <a:ea typeface="ABeeZee"/>
                <a:cs typeface="ABeeZee"/>
                <a:sym typeface="ABeeZee"/>
              </a:rPr>
              <a:t>wellbeing being impacted because</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5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500">
                <a:solidFill>
                  <a:schemeClr val="dk1"/>
                </a:solidFill>
                <a:latin typeface="ABeeZee"/>
                <a:ea typeface="ABeeZee"/>
                <a:cs typeface="ABeeZee"/>
                <a:sym typeface="ABeeZee"/>
              </a:rPr>
              <a:t>A long term consequence of …. Is…which leads to their physical wellbeing being impacted because</a:t>
            </a:r>
            <a:endParaRPr sz="15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500">
                <a:solidFill>
                  <a:schemeClr val="dk1"/>
                </a:solidFill>
                <a:latin typeface="ABeeZee"/>
                <a:ea typeface="ABeeZee"/>
                <a:cs typeface="ABeeZee"/>
                <a:sym typeface="ABeeZee"/>
              </a:rPr>
              <a:t>Social wellbeing being impacted because</a:t>
            </a:r>
            <a:endParaRPr sz="15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500">
                <a:solidFill>
                  <a:schemeClr val="dk1"/>
                </a:solidFill>
                <a:latin typeface="ABeeZee"/>
                <a:ea typeface="ABeeZee"/>
                <a:cs typeface="ABeeZee"/>
                <a:sym typeface="ABeeZee"/>
              </a:rPr>
              <a:t>Spiritual wellbeing being impacted because</a:t>
            </a:r>
            <a:endParaRPr sz="1500">
              <a:solidFill>
                <a:schemeClr val="dk1"/>
              </a:solidFill>
              <a:latin typeface="ABeeZee"/>
              <a:ea typeface="ABeeZee"/>
              <a:cs typeface="ABeeZee"/>
              <a:sym typeface="ABeeZee"/>
            </a:endParaRPr>
          </a:p>
          <a:p>
            <a:pPr indent="0" lvl="0" marL="0" rtl="0" algn="l">
              <a:spcBef>
                <a:spcPts val="0"/>
              </a:spcBef>
              <a:spcAft>
                <a:spcPts val="0"/>
              </a:spcAft>
              <a:buClr>
                <a:schemeClr val="dk1"/>
              </a:buClr>
              <a:buSzPts val="1100"/>
              <a:buFont typeface="Arial"/>
              <a:buNone/>
            </a:pPr>
            <a:r>
              <a:rPr lang="en-GB" sz="1500">
                <a:solidFill>
                  <a:schemeClr val="dk1"/>
                </a:solidFill>
                <a:latin typeface="ABeeZee"/>
                <a:ea typeface="ABeeZee"/>
                <a:cs typeface="ABeeZee"/>
                <a:sym typeface="ABeeZee"/>
              </a:rPr>
              <a:t>Mental wellbeing being impacted because</a:t>
            </a:r>
            <a:endParaRPr sz="1500">
              <a:solidFill>
                <a:schemeClr val="dk1"/>
              </a:solidFill>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p:txBody>
      </p:sp>
      <p:sp>
        <p:nvSpPr>
          <p:cNvPr id="731" name="Google Shape;731;p87"/>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2" name="Google Shape;732;p87"/>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6" name="Shape 736"/>
        <p:cNvGrpSpPr/>
        <p:nvPr/>
      </p:nvGrpSpPr>
      <p:grpSpPr>
        <a:xfrm>
          <a:off x="0" y="0"/>
          <a:ext cx="0" cy="0"/>
          <a:chOff x="0" y="0"/>
          <a:chExt cx="0" cy="0"/>
        </a:xfrm>
      </p:grpSpPr>
      <p:pic>
        <p:nvPicPr>
          <p:cNvPr descr="AC Slides-01.jpeg" id="737" name="Google Shape;737;p88"/>
          <p:cNvPicPr preferRelativeResize="0"/>
          <p:nvPr/>
        </p:nvPicPr>
        <p:blipFill>
          <a:blip r:embed="rId3">
            <a:alphaModFix/>
          </a:blip>
          <a:stretch>
            <a:fillRect/>
          </a:stretch>
        </p:blipFill>
        <p:spPr>
          <a:xfrm>
            <a:off x="0" y="0"/>
            <a:ext cx="9144000" cy="5143500"/>
          </a:xfrm>
          <a:prstGeom prst="rect">
            <a:avLst/>
          </a:prstGeom>
          <a:noFill/>
          <a:ln>
            <a:noFill/>
          </a:ln>
        </p:spPr>
      </p:pic>
      <p:sp>
        <p:nvSpPr>
          <p:cNvPr id="738" name="Google Shape;738;p88"/>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9" name="Google Shape;739;p88"/>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40" name="Google Shape;740;p88"/>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Finish the sentence STARTERS - well-being (societal)</a:t>
            </a:r>
            <a:endParaRPr sz="2500">
              <a:latin typeface="Luckiest Guy"/>
              <a:ea typeface="Luckiest Guy"/>
              <a:cs typeface="Luckiest Guy"/>
              <a:sym typeface="Luckiest Guy"/>
            </a:endParaRPr>
          </a:p>
          <a:p>
            <a:pPr indent="0" lvl="0" marL="0" rtl="0" algn="l">
              <a:spcBef>
                <a:spcPts val="0"/>
              </a:spcBef>
              <a:spcAft>
                <a:spcPts val="0"/>
              </a:spcAft>
              <a:buNone/>
            </a:pPr>
            <a:r>
              <a:rPr lang="en-GB" sz="1800">
                <a:latin typeface="ABeeZee"/>
                <a:ea typeface="ABeeZee"/>
                <a:cs typeface="ABeeZee"/>
                <a:sym typeface="ABeeZee"/>
              </a:rPr>
              <a:t>Topics: Period Poverty, Energy Drinks, Vape, Mental Health issues, Nutrition issues, Cannabis</a:t>
            </a:r>
            <a:endParaRPr sz="1800">
              <a:latin typeface="ABeeZee"/>
              <a:ea typeface="ABeeZee"/>
              <a:cs typeface="ABeeZee"/>
              <a:sym typeface="ABeeZee"/>
            </a:endParaRPr>
          </a:p>
          <a:p>
            <a:pPr indent="0" lvl="0" marL="0" rtl="0" algn="l">
              <a:spcBef>
                <a:spcPts val="0"/>
              </a:spcBef>
              <a:spcAft>
                <a:spcPts val="0"/>
              </a:spcAft>
              <a:buNone/>
            </a:pPr>
            <a:r>
              <a:rPr lang="en-GB" sz="1800">
                <a:highlight>
                  <a:schemeClr val="accent6"/>
                </a:highlight>
                <a:latin typeface="ABeeZee"/>
                <a:ea typeface="ABeeZee"/>
                <a:cs typeface="ABeeZee"/>
                <a:sym typeface="ABeeZee"/>
              </a:rPr>
              <a:t>Add a resource that supports that shows evidence of its impact on society </a:t>
            </a:r>
            <a:endParaRPr sz="1800">
              <a:highlight>
                <a:schemeClr val="accent6"/>
              </a:highlight>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Both these short term and long term consequences have impacts on NZ society (list three impacts and explain what it does to society):</a:t>
            </a:r>
            <a:br>
              <a:rPr lang="en-GB" sz="1500">
                <a:latin typeface="ABeeZee"/>
                <a:ea typeface="ABeeZee"/>
                <a:cs typeface="ABeeZee"/>
                <a:sym typeface="ABeeZee"/>
              </a:rPr>
            </a:br>
            <a:r>
              <a:rPr lang="en-GB" sz="1500">
                <a:latin typeface="ABeeZee"/>
                <a:ea typeface="ABeeZee"/>
                <a:cs typeface="ABeeZee"/>
                <a:sym typeface="ABeeZee"/>
              </a:rPr>
              <a:t>IMPACT 1</a:t>
            </a:r>
            <a:endParaRPr sz="1500">
              <a:latin typeface="ABeeZee"/>
              <a:ea typeface="ABeeZee"/>
              <a:cs typeface="ABeeZee"/>
              <a:sym typeface="ABeeZee"/>
            </a:endParaRPr>
          </a:p>
          <a:p>
            <a:pPr indent="0" lvl="0" marL="0" rtl="0" algn="l">
              <a:spcBef>
                <a:spcPts val="0"/>
              </a:spcBef>
              <a:spcAft>
                <a:spcPts val="0"/>
              </a:spcAft>
              <a:buNone/>
            </a:pPr>
            <a:r>
              <a:t/>
            </a:r>
            <a:endParaRPr sz="15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IMPACT 2</a:t>
            </a:r>
            <a:endParaRPr sz="1500">
              <a:latin typeface="ABeeZee"/>
              <a:ea typeface="ABeeZee"/>
              <a:cs typeface="ABeeZee"/>
              <a:sym typeface="ABeeZee"/>
            </a:endParaRPr>
          </a:p>
          <a:p>
            <a:pPr indent="0" lvl="0" marL="0" rtl="0" algn="l">
              <a:spcBef>
                <a:spcPts val="0"/>
              </a:spcBef>
              <a:spcAft>
                <a:spcPts val="0"/>
              </a:spcAft>
              <a:buNone/>
            </a:pPr>
            <a:r>
              <a:t/>
            </a:r>
            <a:endParaRPr sz="1500">
              <a:latin typeface="ABeeZee"/>
              <a:ea typeface="ABeeZee"/>
              <a:cs typeface="ABeeZee"/>
              <a:sym typeface="ABeeZee"/>
            </a:endParaRPr>
          </a:p>
          <a:p>
            <a:pPr indent="0" lvl="0" marL="0" rtl="0" algn="l">
              <a:spcBef>
                <a:spcPts val="0"/>
              </a:spcBef>
              <a:spcAft>
                <a:spcPts val="0"/>
              </a:spcAft>
              <a:buNone/>
            </a:pPr>
            <a:r>
              <a:rPr lang="en-GB" sz="1500">
                <a:latin typeface="ABeeZee"/>
                <a:ea typeface="ABeeZee"/>
                <a:cs typeface="ABeeZee"/>
                <a:sym typeface="ABeeZee"/>
              </a:rPr>
              <a:t>IMPACT 3</a:t>
            </a:r>
            <a:endParaRPr sz="1500">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p:txBody>
      </p:sp>
      <p:sp>
        <p:nvSpPr>
          <p:cNvPr id="741" name="Google Shape;741;p88"/>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2" name="Google Shape;742;p88"/>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6" name="Shape 746"/>
        <p:cNvGrpSpPr/>
        <p:nvPr/>
      </p:nvGrpSpPr>
      <p:grpSpPr>
        <a:xfrm>
          <a:off x="0" y="0"/>
          <a:ext cx="0" cy="0"/>
          <a:chOff x="0" y="0"/>
          <a:chExt cx="0" cy="0"/>
        </a:xfrm>
      </p:grpSpPr>
      <p:pic>
        <p:nvPicPr>
          <p:cNvPr descr="AC Slides-01.jpeg" id="747" name="Google Shape;747;p89"/>
          <p:cNvPicPr preferRelativeResize="0"/>
          <p:nvPr/>
        </p:nvPicPr>
        <p:blipFill>
          <a:blip r:embed="rId3">
            <a:alphaModFix/>
          </a:blip>
          <a:stretch>
            <a:fillRect/>
          </a:stretch>
        </p:blipFill>
        <p:spPr>
          <a:xfrm>
            <a:off x="0" y="0"/>
            <a:ext cx="9144000" cy="5143500"/>
          </a:xfrm>
          <a:prstGeom prst="rect">
            <a:avLst/>
          </a:prstGeom>
          <a:noFill/>
          <a:ln>
            <a:noFill/>
          </a:ln>
        </p:spPr>
      </p:pic>
      <p:sp>
        <p:nvSpPr>
          <p:cNvPr id="748" name="Google Shape;748;p89"/>
          <p:cNvSpPr/>
          <p:nvPr/>
        </p:nvSpPr>
        <p:spPr>
          <a:xfrm flipH="1" rot="10800000">
            <a:off x="218475" y="358875"/>
            <a:ext cx="2153400" cy="4377000"/>
          </a:xfrm>
          <a:prstGeom prst="round2DiagRect">
            <a:avLst>
              <a:gd fmla="val 16667" name="adj1"/>
              <a:gd fmla="val 0" name="adj2"/>
            </a:avLst>
          </a:prstGeom>
          <a:solidFill>
            <a:srgbClr val="D01E3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9" name="Google Shape;749;p89"/>
          <p:cNvSpPr txBox="1"/>
          <p:nvPr/>
        </p:nvSpPr>
        <p:spPr>
          <a:xfrm>
            <a:off x="2694900" y="357025"/>
            <a:ext cx="48114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sz="2300"/>
          </a:p>
        </p:txBody>
      </p:sp>
      <p:sp>
        <p:nvSpPr>
          <p:cNvPr id="750" name="Google Shape;750;p89"/>
          <p:cNvSpPr txBox="1"/>
          <p:nvPr/>
        </p:nvSpPr>
        <p:spPr>
          <a:xfrm>
            <a:off x="2371875" y="357225"/>
            <a:ext cx="6685500" cy="4377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GB" sz="2500">
                <a:latin typeface="Luckiest Guy"/>
                <a:ea typeface="Luckiest Guy"/>
                <a:cs typeface="Luckiest Guy"/>
                <a:sym typeface="Luckiest Guy"/>
              </a:rPr>
              <a:t>Finish the sentence STARTERS - strategies</a:t>
            </a:r>
            <a:endParaRPr sz="2500">
              <a:latin typeface="Luckiest Guy"/>
              <a:ea typeface="Luckiest Guy"/>
              <a:cs typeface="Luckiest Guy"/>
              <a:sym typeface="Luckiest Guy"/>
            </a:endParaRPr>
          </a:p>
          <a:p>
            <a:pPr indent="0" lvl="0" marL="0" rtl="0" algn="l">
              <a:spcBef>
                <a:spcPts val="0"/>
              </a:spcBef>
              <a:spcAft>
                <a:spcPts val="0"/>
              </a:spcAft>
              <a:buNone/>
            </a:pPr>
            <a:r>
              <a:rPr lang="en-GB" sz="1800">
                <a:latin typeface="ABeeZee"/>
                <a:ea typeface="ABeeZee"/>
                <a:cs typeface="ABeeZee"/>
                <a:sym typeface="ABeeZee"/>
              </a:rPr>
              <a:t>Topics: Period Poverty, Energy Drinks, Vape, Mental Health issues, Nutrition issues, Cannabis</a:t>
            </a:r>
            <a:endParaRPr sz="1800">
              <a:latin typeface="ABeeZee"/>
              <a:ea typeface="ABeeZee"/>
              <a:cs typeface="ABeeZee"/>
              <a:sym typeface="ABeeZee"/>
            </a:endParaRPr>
          </a:p>
          <a:p>
            <a:pPr indent="0" lvl="0" marL="0" rtl="0" algn="l">
              <a:spcBef>
                <a:spcPts val="0"/>
              </a:spcBef>
              <a:spcAft>
                <a:spcPts val="0"/>
              </a:spcAft>
              <a:buNone/>
            </a:pPr>
            <a:r>
              <a:rPr lang="en-GB" sz="1800">
                <a:highlight>
                  <a:schemeClr val="accent6"/>
                </a:highlight>
                <a:latin typeface="ABeeZee"/>
                <a:ea typeface="ABeeZee"/>
                <a:cs typeface="ABeeZee"/>
                <a:sym typeface="ABeeZee"/>
              </a:rPr>
              <a:t>Add a resource that supports that shows evidence to support the strategy:</a:t>
            </a:r>
            <a:endParaRPr sz="1800">
              <a:highlight>
                <a:schemeClr val="accent6"/>
              </a:highlight>
              <a:latin typeface="ABeeZee"/>
              <a:ea typeface="ABeeZee"/>
              <a:cs typeface="ABeeZee"/>
              <a:sym typeface="ABeeZee"/>
            </a:endParaRPr>
          </a:p>
          <a:p>
            <a:pPr indent="0" lvl="0" marL="0" rtl="0" algn="l">
              <a:spcBef>
                <a:spcPts val="0"/>
              </a:spcBef>
              <a:spcAft>
                <a:spcPts val="0"/>
              </a:spcAft>
              <a:buNone/>
            </a:pPr>
            <a:r>
              <a:t/>
            </a:r>
            <a:endParaRPr sz="1800">
              <a:highlight>
                <a:schemeClr val="accent6"/>
              </a:highlight>
              <a:latin typeface="ABeeZee"/>
              <a:ea typeface="ABeeZee"/>
              <a:cs typeface="ABeeZee"/>
              <a:sym typeface="ABeeZee"/>
            </a:endParaRPr>
          </a:p>
          <a:p>
            <a:pPr indent="0" lvl="0" marL="0" rtl="0" algn="l">
              <a:spcBef>
                <a:spcPts val="0"/>
              </a:spcBef>
              <a:spcAft>
                <a:spcPts val="0"/>
              </a:spcAft>
              <a:buNone/>
            </a:pPr>
            <a:r>
              <a:rPr lang="en-GB" sz="1800">
                <a:latin typeface="ABeeZee"/>
                <a:ea typeface="ABeeZee"/>
                <a:cs typeface="ABeeZee"/>
                <a:sym typeface="ABeeZee"/>
              </a:rPr>
              <a:t>A personal strategy</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br>
              <a:rPr lang="en-GB" sz="1800">
                <a:latin typeface="ABeeZee"/>
                <a:ea typeface="ABeeZee"/>
                <a:cs typeface="ABeeZee"/>
                <a:sym typeface="ABeeZee"/>
              </a:rPr>
            </a:br>
            <a:r>
              <a:rPr lang="en-GB" sz="1800">
                <a:latin typeface="ABeeZee"/>
                <a:ea typeface="ABeeZee"/>
                <a:cs typeface="ABeeZee"/>
                <a:sym typeface="ABeeZee"/>
              </a:rPr>
              <a:t>A interpersonal strategy </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t/>
            </a:r>
            <a:endParaRPr sz="1800">
              <a:latin typeface="ABeeZee"/>
              <a:ea typeface="ABeeZee"/>
              <a:cs typeface="ABeeZee"/>
              <a:sym typeface="ABeeZee"/>
            </a:endParaRPr>
          </a:p>
          <a:p>
            <a:pPr indent="0" lvl="0" marL="0" rtl="0" algn="l">
              <a:spcBef>
                <a:spcPts val="0"/>
              </a:spcBef>
              <a:spcAft>
                <a:spcPts val="0"/>
              </a:spcAft>
              <a:buNone/>
            </a:pPr>
            <a:r>
              <a:rPr lang="en-GB" sz="1800">
                <a:latin typeface="ABeeZee"/>
                <a:ea typeface="ABeeZee"/>
                <a:cs typeface="ABeeZee"/>
                <a:sym typeface="ABeeZee"/>
              </a:rPr>
              <a:t>A societaly strategy…</a:t>
            </a:r>
            <a:endParaRPr sz="1800">
              <a:latin typeface="ABeeZee"/>
              <a:ea typeface="ABeeZee"/>
              <a:cs typeface="ABeeZee"/>
              <a:sym typeface="ABeeZee"/>
            </a:endParaRPr>
          </a:p>
          <a:p>
            <a:pPr indent="0" lvl="0" marL="0" rtl="0" algn="l">
              <a:spcBef>
                <a:spcPts val="0"/>
              </a:spcBef>
              <a:spcAft>
                <a:spcPts val="0"/>
              </a:spcAft>
              <a:buNone/>
            </a:pPr>
            <a:r>
              <a:t/>
            </a:r>
            <a:endParaRPr sz="1800">
              <a:latin typeface="Jost"/>
              <a:ea typeface="Jost"/>
              <a:cs typeface="Jost"/>
              <a:sym typeface="Jost"/>
            </a:endParaRPr>
          </a:p>
        </p:txBody>
      </p:sp>
      <p:sp>
        <p:nvSpPr>
          <p:cNvPr id="751" name="Google Shape;751;p89"/>
          <p:cNvSpPr/>
          <p:nvPr/>
        </p:nvSpPr>
        <p:spPr>
          <a:xfrm flipH="1" rot="10800000">
            <a:off x="218475" y="358875"/>
            <a:ext cx="2153400" cy="4377000"/>
          </a:xfrm>
          <a:prstGeom prst="round2DiagRect">
            <a:avLst>
              <a:gd fmla="val 16667" name="adj1"/>
              <a:gd fmla="val 0" name="adj2"/>
            </a:avLst>
          </a:prstGeom>
          <a:solidFill>
            <a:srgbClr val="222B6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2" name="Google Shape;752;p89"/>
          <p:cNvSpPr txBox="1"/>
          <p:nvPr/>
        </p:nvSpPr>
        <p:spPr>
          <a:xfrm flipH="1" rot="-5400000">
            <a:off x="-654625" y="2125350"/>
            <a:ext cx="3972600" cy="8928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GB" sz="4600">
                <a:solidFill>
                  <a:srgbClr val="FFFFFF"/>
                </a:solidFill>
                <a:latin typeface="Luckiest Guy"/>
                <a:ea typeface="Luckiest Guy"/>
                <a:cs typeface="Luckiest Guy"/>
                <a:sym typeface="Luckiest Guy"/>
              </a:rPr>
              <a:t>L2 health</a:t>
            </a:r>
            <a:endParaRPr sz="4100">
              <a:solidFill>
                <a:srgbClr val="FFFFFF"/>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