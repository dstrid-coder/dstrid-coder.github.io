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Lst>
  <p:sldSz cy="5143500" cx="9144000"/>
  <p:notesSz cx="6858000" cy="9144000"/>
  <p:embeddedFontLst>
    <p:embeddedFont>
      <p:font typeface="Jost"/>
      <p:regular r:id="rId99"/>
      <p:bold r:id="rId100"/>
      <p:italic r:id="rId101"/>
      <p:boldItalic r:id="rId102"/>
    </p:embeddedFont>
    <p:embeddedFont>
      <p:font typeface="ABeeZee"/>
      <p:regular r:id="rId103"/>
      <p:italic r:id="rId104"/>
    </p:embeddedFont>
    <p:embeddedFont>
      <p:font typeface="Luckiest Guy"/>
      <p:regular r:id="rId10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344CE13-53E3-47EE-8B10-A4E9E377D5A6}">
  <a:tblStyle styleId="{7344CE13-53E3-47EE-8B10-A4E9E377D5A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5" Type="http://schemas.openxmlformats.org/officeDocument/2006/relationships/font" Target="fonts/LuckiestGuy-regular.fntdata"/><Relationship Id="rId104" Type="http://schemas.openxmlformats.org/officeDocument/2006/relationships/font" Target="fonts/ABeeZee-italic.fntdata"/><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font" Target="fonts/ABeeZee-regular.fntdata"/><Relationship Id="rId102" Type="http://schemas.openxmlformats.org/officeDocument/2006/relationships/font" Target="fonts/Jost-boldItalic.fntdata"/><Relationship Id="rId101" Type="http://schemas.openxmlformats.org/officeDocument/2006/relationships/font" Target="fonts/Jost-italic.fntdata"/><Relationship Id="rId100" Type="http://schemas.openxmlformats.org/officeDocument/2006/relationships/font" Target="fonts/Jost-bold.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font" Target="fonts/Jost-regular.fntdata"/><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51527a81f2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51527a81f2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51527a81f2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51527a81f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1527a81f2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51527a81f2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51527a81f2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51527a81f2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51527a81f2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51527a81f2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51527a81f2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51527a81f2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51527a81f2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51527a81f2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51527a81f2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51527a81f2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51527a81f2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51527a81f2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51527a81f2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51527a81f2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51527a81f2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51527a81f2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51527a81f2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51527a81f2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51527a81f2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51527a81f2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51527a81f2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51527a81f2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51527a81f2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51527a81f2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51527a81f2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51527a81f2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51527a81f2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51527a81f2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51527a81f2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51527a81f2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51527a81f2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51527a81f2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51527a81f2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51527a81f2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51527a81f2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51527a81f2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51527a81f2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51527a81f2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51527a81f2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51527a81f2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50a7b01d2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50a7b01d2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51527a81f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51527a81f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50a7b01d2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50a7b01d2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50a7b01d2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50a7b01d2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50a7b01d22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50a7b01d22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50a7b01d2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50a7b01d2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50a7b01d22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50a7b01d22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50a7b01d2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50a7b01d2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50a7b01d22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50a7b01d22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50a7b01d22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50a7b01d22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535d25f89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535d25f89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50a7b01d22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50a7b01d22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535d25f89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535d25f89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535d25f89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535d25f89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535d25f89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535d25f89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50a7b01d22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50a7b01d22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535d25f899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535d25f89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535d25f899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535d25f899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535d25f899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535d25f899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50a7b01d22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50a7b01d22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535d25f899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535d25f899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535d25f899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535d25f899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535d25f899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535d25f899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535d25f899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3535d25f899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535d25f899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535d25f899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54cd7b144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54cd7b144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54cd7b144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354cd7b144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54cd7b144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354cd7b144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54cd7b1441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354cd7b1441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54cd7b1441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354cd7b1441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535d25f899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3535d25f899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535d25f899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3535d25f899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354d004343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354d004343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535d25f899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535d25f899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535d25f899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3535d25f899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54621a1ba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354621a1ba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54621a1ba8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354621a1ba8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54621a1ba8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354621a1ba8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54621a1ba8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354621a1ba8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54621a1ba8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354621a1ba8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54621a1ba8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354621a1ba8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354621a1ba8_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354621a1ba8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354621a1ba8_1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354621a1ba8_1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354621a1ba8_1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3" name="Google Shape;783;g354621a1ba8_1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54621a1b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354621a1b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54621a1ba8_1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354621a1ba8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354621a1ba8_1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354621a1ba8_1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354621a1ba8_1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354621a1ba8_1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54621a1ba8_1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354621a1ba8_1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54621a1ba8_1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354621a1ba8_1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54621a1ba8_1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0" name="Google Shape;860;g354621a1ba8_1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54621a1ba8_1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g354621a1ba8_1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354621a1ba8_1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1" name="Google Shape;881;g354621a1ba8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54621a1ba8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354621a1ba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354621a1ba8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2" name="Google Shape;902;g354621a1ba8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54621a1ba8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5" name="Google Shape;915;g354621a1ba8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354621a1ba8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354621a1ba8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3588d677d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3588d677d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3588d677d7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3588d677d7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3588d677d7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3588d677d7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3588d677d78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3588d677d78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354621a1ba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g354621a1ba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588d677d78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1" name="Google Shape;991;g3588d677d78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5ce9a774b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1" name="Google Shape;1001;g35ce9a774b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5fb821733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35fb82173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35fb821733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2" name="Google Shape;1022;g35fb821733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366c5e6cb9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3" name="Google Shape;1033;g366c5e6cb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361ee18a7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4" name="Google Shape;1044;g361ee18a7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mc:AlternateContent>
    <mc:Choice Requires="p14">
      <p:transition spd="slow" p14:dur="1000">
        <p:push/>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34.png"/><Relationship Id="rId5"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hyperlink" Target="http://www.youtube.com/watch?v=Pm2BvdiZUXA" TargetMode="External"/><Relationship Id="rId5"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hyperlink" Target="http://www.youtube.com/watch?v=4ASKMcdCc3g" TargetMode="External"/><Relationship Id="rId6"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6.jpg"/><Relationship Id="rId4" Type="http://schemas.openxmlformats.org/officeDocument/2006/relationships/hyperlink" Target="http://www.youtube.com/watch?v=Pm2BvdiZUXA" TargetMode="External"/><Relationship Id="rId5" Type="http://schemas.openxmlformats.org/officeDocument/2006/relationships/image" Target="../media/image1.jpg"/><Relationship Id="rId6"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4.jpg"/><Relationship Id="rId4" Type="http://schemas.openxmlformats.org/officeDocument/2006/relationships/hyperlink" Target="http://www.youtube.com/watch?v=qeK3SkxrZRI" TargetMode="External"/><Relationship Id="rId5" Type="http://schemas.openxmlformats.org/officeDocument/2006/relationships/image" Target="../media/image1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4.jpg"/><Relationship Id="rId4" Type="http://schemas.openxmlformats.org/officeDocument/2006/relationships/image" Target="../media/image34.png"/><Relationship Id="rId5" Type="http://schemas.openxmlformats.org/officeDocument/2006/relationships/image" Target="../media/image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6.jpg"/><Relationship Id="rId4" Type="http://schemas.openxmlformats.org/officeDocument/2006/relationships/hyperlink" Target="http://www.youtube.com/watch?v=u_BcMXgws6Y" TargetMode="External"/><Relationship Id="rId5" Type="http://schemas.openxmlformats.org/officeDocument/2006/relationships/image" Target="../media/image1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4.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4.jpg"/><Relationship Id="rId4" Type="http://schemas.openxmlformats.org/officeDocument/2006/relationships/hyperlink" Target="https://insideout.ry.org.nz/ep1"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4.jpg"/><Relationship Id="rId4" Type="http://schemas.openxmlformats.org/officeDocument/2006/relationships/hyperlink" Target="https://insideout.org.nz/wp-content/uploads/2021/06/InsideOUT-rainbow-terminology-.pdf" TargetMode="External"/><Relationship Id="rId5" Type="http://schemas.openxmlformats.org/officeDocument/2006/relationships/hyperlink" Target="http://www.youtube.com/watch?v=_W0bSen8Qjg" TargetMode="External"/><Relationship Id="rId6" Type="http://schemas.openxmlformats.org/officeDocument/2006/relationships/image" Target="../media/image12.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4.jpg"/><Relationship Id="rId4" Type="http://schemas.openxmlformats.org/officeDocument/2006/relationships/image" Target="../media/image34.png"/><Relationship Id="rId5" Type="http://schemas.openxmlformats.org/officeDocument/2006/relationships/image" Target="../media/image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4.jpg"/><Relationship Id="rId4" Type="http://schemas.openxmlformats.org/officeDocument/2006/relationships/hyperlink" Target="http://www.youtube.com/watch?v=Pm2BvdiZUXA" TargetMode="External"/><Relationship Id="rId5"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4.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4.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4.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4.jpg"/><Relationship Id="rId4" Type="http://schemas.openxmlformats.org/officeDocument/2006/relationships/image" Target="../media/image34.png"/><Relationship Id="rId5" Type="http://schemas.openxmlformats.org/officeDocument/2006/relationships/image" Target="../media/image8.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4.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image" Target="../media/image4.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 Id="rId3" Type="http://schemas.openxmlformats.org/officeDocument/2006/relationships/image" Target="../media/image4.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4.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image" Target="../media/image4.jpg"/><Relationship Id="rId4" Type="http://schemas.openxmlformats.org/officeDocument/2006/relationships/hyperlink" Target="http://www.youtube.com/watch?v=_W0bSen8Qjg" TargetMode="External"/><Relationship Id="rId5" Type="http://schemas.openxmlformats.org/officeDocument/2006/relationships/image" Target="../media/image12.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 Id="rId3" Type="http://schemas.openxmlformats.org/officeDocument/2006/relationships/image" Target="../media/image4.jpg"/><Relationship Id="rId4" Type="http://schemas.openxmlformats.org/officeDocument/2006/relationships/hyperlink" Target="http://www.youtube.com/watch?v=_W0bSen8Qjg" TargetMode="External"/><Relationship Id="rId5" Type="http://schemas.openxmlformats.org/officeDocument/2006/relationships/image" Target="../media/image12.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 Id="rId3" Type="http://schemas.openxmlformats.org/officeDocument/2006/relationships/image" Target="../media/image4.jpg"/><Relationship Id="rId4" Type="http://schemas.openxmlformats.org/officeDocument/2006/relationships/hyperlink" Target="http://www.youtube.com/watch?v=_W0bSen8Qjg" TargetMode="External"/><Relationship Id="rId5" Type="http://schemas.openxmlformats.org/officeDocument/2006/relationships/image" Target="../media/image12.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 Id="rId3" Type="http://schemas.openxmlformats.org/officeDocument/2006/relationships/image" Target="../media/image4.jpg"/><Relationship Id="rId4" Type="http://schemas.openxmlformats.org/officeDocument/2006/relationships/hyperlink" Target="http://www.youtube.com/watch?v=_W0bSen8Qjg" TargetMode="External"/><Relationship Id="rId5" Type="http://schemas.openxmlformats.org/officeDocument/2006/relationships/image" Target="../media/image12.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 Id="rId3" Type="http://schemas.openxmlformats.org/officeDocument/2006/relationships/image" Target="../media/image4.jpg"/><Relationship Id="rId4" Type="http://schemas.openxmlformats.org/officeDocument/2006/relationships/image" Target="../media/image34.png"/><Relationship Id="rId5" Type="http://schemas.openxmlformats.org/officeDocument/2006/relationships/image" Target="../media/image8.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4.jpg"/><Relationship Id="rId4" Type="http://schemas.openxmlformats.org/officeDocument/2006/relationships/image" Target="../media/image15.png"/><Relationship Id="rId5" Type="http://schemas.openxmlformats.org/officeDocument/2006/relationships/hyperlink" Target="http://www.youtube.com/watch?v=Pm2BvdiZUXA" TargetMode="External"/><Relationship Id="rId6" Type="http://schemas.openxmlformats.org/officeDocument/2006/relationships/image" Target="../media/image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 Id="rId3" Type="http://schemas.openxmlformats.org/officeDocument/2006/relationships/image" Target="../media/image4.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image" Target="../media/image4.jpg"/><Relationship Id="rId4" Type="http://schemas.openxmlformats.org/officeDocument/2006/relationships/image" Target="../media/image1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 Id="rId3" Type="http://schemas.openxmlformats.org/officeDocument/2006/relationships/image" Target="../media/image4.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image" Target="../media/image4.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image" Target="../media/image4.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4.jpg"/><Relationship Id="rId4" Type="http://schemas.openxmlformats.org/officeDocument/2006/relationships/image" Target="../media/image2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 Id="rId3" Type="http://schemas.openxmlformats.org/officeDocument/2006/relationships/image" Target="../media/image4.jpg"/><Relationship Id="rId4" Type="http://schemas.openxmlformats.org/officeDocument/2006/relationships/image" Target="../media/image2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 Id="rId3" Type="http://schemas.openxmlformats.org/officeDocument/2006/relationships/image" Target="../media/image4.jpg"/><Relationship Id="rId4" Type="http://schemas.openxmlformats.org/officeDocument/2006/relationships/image" Target="../media/image2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 Id="rId3" Type="http://schemas.openxmlformats.org/officeDocument/2006/relationships/image" Target="../media/image4.jpg"/><Relationship Id="rId4" Type="http://schemas.openxmlformats.org/officeDocument/2006/relationships/image" Target="../media/image20.png"/><Relationship Id="rId5" Type="http://schemas.openxmlformats.org/officeDocument/2006/relationships/hyperlink" Target="http://www.youtube.com/watch?v=u_BcMXgws6Y" TargetMode="External"/><Relationship Id="rId6" Type="http://schemas.openxmlformats.org/officeDocument/2006/relationships/image" Target="../media/image18.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 Id="rId3" Type="http://schemas.openxmlformats.org/officeDocument/2006/relationships/image" Target="../media/image4.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 Id="rId3" Type="http://schemas.openxmlformats.org/officeDocument/2006/relationships/image" Target="../media/image4.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 Id="rId3" Type="http://schemas.openxmlformats.org/officeDocument/2006/relationships/image" Target="../media/image4.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 Id="rId3" Type="http://schemas.openxmlformats.org/officeDocument/2006/relationships/image" Target="../media/image4.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 Id="rId3" Type="http://schemas.openxmlformats.org/officeDocument/2006/relationships/image" Target="../media/image4.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 Id="rId3" Type="http://schemas.openxmlformats.org/officeDocument/2006/relationships/image" Target="../media/image4.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 Id="rId3" Type="http://schemas.openxmlformats.org/officeDocument/2006/relationships/image" Target="../media/image4.jpg"/><Relationship Id="rId4" Type="http://schemas.openxmlformats.org/officeDocument/2006/relationships/hyperlink" Target="http://www.youtube.com/watch?v=yyDUC1LUXSU" TargetMode="External"/><Relationship Id="rId9" Type="http://schemas.openxmlformats.org/officeDocument/2006/relationships/image" Target="../media/image24.jpg"/><Relationship Id="rId5" Type="http://schemas.openxmlformats.org/officeDocument/2006/relationships/image" Target="../media/image19.jpg"/><Relationship Id="rId6" Type="http://schemas.openxmlformats.org/officeDocument/2006/relationships/hyperlink" Target="http://www.youtube.com/watch?v=s2M6JUFCCSA" TargetMode="External"/><Relationship Id="rId7" Type="http://schemas.openxmlformats.org/officeDocument/2006/relationships/image" Target="../media/image21.jpg"/><Relationship Id="rId8" Type="http://schemas.openxmlformats.org/officeDocument/2006/relationships/hyperlink" Target="http://www.youtube.com/watch?v=Xk24DMOInnQ"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 Id="rId3" Type="http://schemas.openxmlformats.org/officeDocument/2006/relationships/image" Target="../media/image4.jpg"/><Relationship Id="rId4" Type="http://schemas.openxmlformats.org/officeDocument/2006/relationships/image" Target="../media/image2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 Id="rId3" Type="http://schemas.openxmlformats.org/officeDocument/2006/relationships/image" Target="../media/image4.jpg"/><Relationship Id="rId4" Type="http://schemas.openxmlformats.org/officeDocument/2006/relationships/hyperlink" Target="http://www.youtube.com/watch?v=yyDUC1LUXSU" TargetMode="External"/><Relationship Id="rId5" Type="http://schemas.openxmlformats.org/officeDocument/2006/relationships/image" Target="../media/image19.jpg"/><Relationship Id="rId6" Type="http://schemas.openxmlformats.org/officeDocument/2006/relationships/hyperlink" Target="http://www.youtube.com/watch?v=s2M6JUFCCSA" TargetMode="External"/><Relationship Id="rId7" Type="http://schemas.openxmlformats.org/officeDocument/2006/relationships/image" Target="../media/image21.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 Id="rId3" Type="http://schemas.openxmlformats.org/officeDocument/2006/relationships/image" Target="../media/image4.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0.xml"/><Relationship Id="rId3" Type="http://schemas.openxmlformats.org/officeDocument/2006/relationships/image" Target="../media/image4.jpg"/><Relationship Id="rId4" Type="http://schemas.openxmlformats.org/officeDocument/2006/relationships/image" Target="../media/image2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 Id="rId3" Type="http://schemas.openxmlformats.org/officeDocument/2006/relationships/image" Target="../media/image4.jpg"/><Relationship Id="rId4" Type="http://schemas.openxmlformats.org/officeDocument/2006/relationships/image" Target="../media/image2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2.xml"/><Relationship Id="rId3" Type="http://schemas.openxmlformats.org/officeDocument/2006/relationships/image" Target="../media/image4.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 Id="rId3" Type="http://schemas.openxmlformats.org/officeDocument/2006/relationships/image" Target="../media/image4.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 Id="rId3" Type="http://schemas.openxmlformats.org/officeDocument/2006/relationships/image" Target="../media/image4.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5.xml"/><Relationship Id="rId3" Type="http://schemas.openxmlformats.org/officeDocument/2006/relationships/image" Target="../media/image4.jpg"/><Relationship Id="rId4" Type="http://schemas.openxmlformats.org/officeDocument/2006/relationships/hyperlink" Target="https://www.rnz.co.nz/news/national/414567/report-finds-porn-use-among-young-people-partly-due-to-lack-of-education" TargetMode="External"/><Relationship Id="rId11" Type="http://schemas.openxmlformats.org/officeDocument/2006/relationships/hyperlink" Target="http://www.youtube.com/watch?v=U1vz__vR8hQ" TargetMode="External"/><Relationship Id="rId10" Type="http://schemas.openxmlformats.org/officeDocument/2006/relationships/hyperlink" Target="https://www.classificationoffice.govt.nz/media/documents/Growing_up_with_porn.pdf" TargetMode="External"/><Relationship Id="rId12" Type="http://schemas.openxmlformats.org/officeDocument/2006/relationships/image" Target="../media/image26.jpg"/><Relationship Id="rId9" Type="http://schemas.openxmlformats.org/officeDocument/2006/relationships/hyperlink" Target="https://www.classificationoffice.govt.nz/media/documents/Growing_up_with_porn.pdf" TargetMode="External"/><Relationship Id="rId5" Type="http://schemas.openxmlformats.org/officeDocument/2006/relationships/hyperlink" Target="https://thelightproject.co.nz/the-facts/porn-the-facts-for-youth/" TargetMode="External"/><Relationship Id="rId6" Type="http://schemas.openxmlformats.org/officeDocument/2006/relationships/hyperlink" Target="https://thespinoff.co.nz/porn-week/08-11-2022/what-the-data-shows-about-youth-and-porn" TargetMode="External"/><Relationship Id="rId7" Type="http://schemas.openxmlformats.org/officeDocument/2006/relationships/hyperlink" Target="https://familyfirst.org.nz/2021/05/26/how-does-porn-affect-teenagers/" TargetMode="External"/><Relationship Id="rId8" Type="http://schemas.openxmlformats.org/officeDocument/2006/relationships/hyperlink" Target="https://www.classificationoffice.govt.nz/media/documents/Growing_up_with_porn.pdf"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 Id="rId3" Type="http://schemas.openxmlformats.org/officeDocument/2006/relationships/image" Target="../media/image4.jpg"/><Relationship Id="rId4" Type="http://schemas.openxmlformats.org/officeDocument/2006/relationships/hyperlink" Target="http://www.youtube.com/watch?v=u_BcMXgws6Y" TargetMode="External"/><Relationship Id="rId5" Type="http://schemas.openxmlformats.org/officeDocument/2006/relationships/image" Target="../media/image18.jpg"/><Relationship Id="rId6" Type="http://schemas.openxmlformats.org/officeDocument/2006/relationships/image" Target="../media/image2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7.xml"/><Relationship Id="rId3" Type="http://schemas.openxmlformats.org/officeDocument/2006/relationships/image" Target="../media/image4.jpg"/><Relationship Id="rId4" Type="http://schemas.openxmlformats.org/officeDocument/2006/relationships/image" Target="../media/image3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8.xml"/><Relationship Id="rId3" Type="http://schemas.openxmlformats.org/officeDocument/2006/relationships/image" Target="../media/image4.jpg"/><Relationship Id="rId4" Type="http://schemas.openxmlformats.org/officeDocument/2006/relationships/image" Target="../media/image30.png"/><Relationship Id="rId5" Type="http://schemas.openxmlformats.org/officeDocument/2006/relationships/image" Target="../media/image27.png"/><Relationship Id="rId6" Type="http://schemas.openxmlformats.org/officeDocument/2006/relationships/image" Target="../media/image3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9.xml"/><Relationship Id="rId3" Type="http://schemas.openxmlformats.org/officeDocument/2006/relationships/image" Target="../media/image4.jpg"/><Relationship Id="rId4" Type="http://schemas.openxmlformats.org/officeDocument/2006/relationships/hyperlink" Target="https://www.rnz.co.nz/news/national/414567/report-finds-porn-use-among-young-people-partly-due-to-lack-of-education" TargetMode="External"/><Relationship Id="rId11" Type="http://schemas.openxmlformats.org/officeDocument/2006/relationships/hyperlink" Target="http://www.youtube.com/watch?v=U1vz__vR8hQ" TargetMode="External"/><Relationship Id="rId10" Type="http://schemas.openxmlformats.org/officeDocument/2006/relationships/hyperlink" Target="https://www.classificationoffice.govt.nz/media/documents/Growing_up_with_porn.pdf" TargetMode="External"/><Relationship Id="rId12" Type="http://schemas.openxmlformats.org/officeDocument/2006/relationships/image" Target="../media/image26.jpg"/><Relationship Id="rId9" Type="http://schemas.openxmlformats.org/officeDocument/2006/relationships/hyperlink" Target="https://www.classificationoffice.govt.nz/media/documents/Growing_up_with_porn.pdf" TargetMode="External"/><Relationship Id="rId5" Type="http://schemas.openxmlformats.org/officeDocument/2006/relationships/hyperlink" Target="https://thelightproject.co.nz/the-facts/porn-the-facts-for-youth/" TargetMode="External"/><Relationship Id="rId6" Type="http://schemas.openxmlformats.org/officeDocument/2006/relationships/hyperlink" Target="https://thespinoff.co.nz/porn-week/08-11-2022/what-the-data-shows-about-youth-and-porn" TargetMode="External"/><Relationship Id="rId7" Type="http://schemas.openxmlformats.org/officeDocument/2006/relationships/hyperlink" Target="https://familyfirst.org.nz/2021/05/26/how-does-porn-affect-teenagers/" TargetMode="External"/><Relationship Id="rId8" Type="http://schemas.openxmlformats.org/officeDocument/2006/relationships/hyperlink" Target="https://www.classificationoffice.govt.nz/media/documents/Growing_up_with_porn.pdf"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0.xml"/><Relationship Id="rId3" Type="http://schemas.openxmlformats.org/officeDocument/2006/relationships/image" Target="../media/image4.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1.xml"/><Relationship Id="rId3" Type="http://schemas.openxmlformats.org/officeDocument/2006/relationships/image" Target="../media/image4.jpg"/><Relationship Id="rId4" Type="http://schemas.openxmlformats.org/officeDocument/2006/relationships/hyperlink" Target="http://www.youtube.com/watch?v=u_BcMXgws6Y" TargetMode="External"/><Relationship Id="rId5" Type="http://schemas.openxmlformats.org/officeDocument/2006/relationships/image" Target="../media/image18.jpg"/><Relationship Id="rId6" Type="http://schemas.openxmlformats.org/officeDocument/2006/relationships/image" Target="../media/image3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2.xml"/><Relationship Id="rId3" Type="http://schemas.openxmlformats.org/officeDocument/2006/relationships/image" Target="../media/image4.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3.xml"/><Relationship Id="rId3" Type="http://schemas.openxmlformats.org/officeDocument/2006/relationships/image" Target="../media/image4.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4.xml"/><Relationship Id="rId3" Type="http://schemas.openxmlformats.org/officeDocument/2006/relationships/image" Target="../media/image4.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5.xml"/><Relationship Id="rId3" Type="http://schemas.openxmlformats.org/officeDocument/2006/relationships/image" Target="../media/image4.jpg"/><Relationship Id="rId4" Type="http://schemas.openxmlformats.org/officeDocument/2006/relationships/hyperlink" Target="https://www.menti.com/al6wrcd93mp2" TargetMode="External"/><Relationship Id="rId5" Type="http://schemas.openxmlformats.org/officeDocument/2006/relationships/hyperlink" Target="http://www.youtube.com/watch?v=u_BcMXgws6Y" TargetMode="External"/><Relationship Id="rId6" Type="http://schemas.openxmlformats.org/officeDocument/2006/relationships/image" Target="../media/image18.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6.xml"/><Relationship Id="rId3" Type="http://schemas.openxmlformats.org/officeDocument/2006/relationships/image" Target="../media/image4.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7.xml"/><Relationship Id="rId3" Type="http://schemas.openxmlformats.org/officeDocument/2006/relationships/image" Target="../media/image4.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8.xml"/><Relationship Id="rId3" Type="http://schemas.openxmlformats.org/officeDocument/2006/relationships/image" Target="../media/image4.jpg"/><Relationship Id="rId4" Type="http://schemas.openxmlformats.org/officeDocument/2006/relationships/image" Target="../media/image35.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9.xml"/><Relationship Id="rId3" Type="http://schemas.openxmlformats.org/officeDocument/2006/relationships/image" Target="../media/image4.jpg"/><Relationship Id="rId4" Type="http://schemas.openxmlformats.org/officeDocument/2006/relationships/image" Target="../media/image35.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0.xml"/><Relationship Id="rId3" Type="http://schemas.openxmlformats.org/officeDocument/2006/relationships/image" Target="../media/image4.jpg"/><Relationship Id="rId4" Type="http://schemas.openxmlformats.org/officeDocument/2006/relationships/image" Target="../media/image35.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1.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descr="AC Slides-01.jpeg" id="99" name="Google Shape;99;p25"/>
          <p:cNvPicPr preferRelativeResize="0"/>
          <p:nvPr/>
        </p:nvPicPr>
        <p:blipFill>
          <a:blip r:embed="rId3">
            <a:alphaModFix/>
          </a:blip>
          <a:stretch>
            <a:fillRect/>
          </a:stretch>
        </p:blipFill>
        <p:spPr>
          <a:xfrm>
            <a:off x="0" y="0"/>
            <a:ext cx="9144000" cy="5143500"/>
          </a:xfrm>
          <a:prstGeom prst="rect">
            <a:avLst/>
          </a:prstGeom>
          <a:noFill/>
          <a:ln>
            <a:noFill/>
          </a:ln>
        </p:spPr>
      </p:pic>
      <p:sp>
        <p:nvSpPr>
          <p:cNvPr id="100" name="Google Shape;100;p25"/>
          <p:cNvSpPr txBox="1"/>
          <p:nvPr/>
        </p:nvSpPr>
        <p:spPr>
          <a:xfrm>
            <a:off x="451700" y="2797700"/>
            <a:ext cx="7265100" cy="2143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GB" sz="2200">
                <a:latin typeface="Calibri"/>
                <a:ea typeface="Calibri"/>
                <a:cs typeface="Calibri"/>
                <a:sym typeface="Calibri"/>
              </a:rPr>
              <a:t>Vision</a:t>
            </a:r>
            <a:endParaRPr b="1" sz="2200">
              <a:latin typeface="Calibri"/>
              <a:ea typeface="Calibri"/>
              <a:cs typeface="Calibri"/>
              <a:sym typeface="Calibri"/>
            </a:endParaRPr>
          </a:p>
          <a:p>
            <a:pPr indent="0" lvl="0" marL="0" rtl="0" algn="just">
              <a:spcBef>
                <a:spcPts val="0"/>
              </a:spcBef>
              <a:spcAft>
                <a:spcPts val="0"/>
              </a:spcAft>
              <a:buNone/>
            </a:pPr>
            <a:r>
              <a:rPr lang="en-GB" sz="2200">
                <a:solidFill>
                  <a:srgbClr val="000000"/>
                </a:solidFill>
                <a:latin typeface="Calibri"/>
                <a:ea typeface="Calibri"/>
                <a:cs typeface="Calibri"/>
                <a:sym typeface="Calibri"/>
              </a:rPr>
              <a:t>Alfriston College is a learning community</a:t>
            </a:r>
            <a:r>
              <a:rPr b="1" lang="en-GB" sz="2200">
                <a:solidFill>
                  <a:srgbClr val="000000"/>
                </a:solidFill>
                <a:latin typeface="Calibri"/>
                <a:ea typeface="Calibri"/>
                <a:cs typeface="Calibri"/>
                <a:sym typeface="Calibri"/>
              </a:rPr>
              <a:t> </a:t>
            </a:r>
            <a:r>
              <a:rPr lang="en-GB" sz="2200">
                <a:solidFill>
                  <a:srgbClr val="000000"/>
                </a:solidFill>
                <a:latin typeface="Calibri"/>
                <a:ea typeface="Calibri"/>
                <a:cs typeface="Calibri"/>
                <a:sym typeface="Calibri"/>
              </a:rPr>
              <a:t>dedicated to developing and supporting </a:t>
            </a:r>
            <a:r>
              <a:rPr b="1" lang="en-GB" sz="2200">
                <a:solidFill>
                  <a:srgbClr val="980000"/>
                </a:solidFill>
                <a:latin typeface="Calibri"/>
                <a:ea typeface="Calibri"/>
                <a:cs typeface="Calibri"/>
                <a:sym typeface="Calibri"/>
              </a:rPr>
              <a:t>lifelong independent learners</a:t>
            </a:r>
            <a:r>
              <a:rPr lang="en-GB" sz="2200">
                <a:solidFill>
                  <a:srgbClr val="000000"/>
                </a:solidFill>
                <a:latin typeface="Calibri"/>
                <a:ea typeface="Calibri"/>
                <a:cs typeface="Calibri"/>
                <a:sym typeface="Calibri"/>
              </a:rPr>
              <a:t> by creating an environment that fosters a sense of </a:t>
            </a:r>
            <a:r>
              <a:rPr b="1" lang="en-GB" sz="2200">
                <a:solidFill>
                  <a:srgbClr val="980000"/>
                </a:solidFill>
                <a:latin typeface="Calibri"/>
                <a:ea typeface="Calibri"/>
                <a:cs typeface="Calibri"/>
                <a:sym typeface="Calibri"/>
              </a:rPr>
              <a:t>Belonging</a:t>
            </a:r>
            <a:r>
              <a:rPr lang="en-GB" sz="2200">
                <a:solidFill>
                  <a:srgbClr val="000000"/>
                </a:solidFill>
                <a:latin typeface="Calibri"/>
                <a:ea typeface="Calibri"/>
                <a:cs typeface="Calibri"/>
                <a:sym typeface="Calibri"/>
              </a:rPr>
              <a:t>, values </a:t>
            </a:r>
            <a:r>
              <a:rPr b="1" lang="en-GB" sz="2200">
                <a:solidFill>
                  <a:srgbClr val="980000"/>
                </a:solidFill>
                <a:latin typeface="Calibri"/>
                <a:ea typeface="Calibri"/>
                <a:cs typeface="Calibri"/>
                <a:sym typeface="Calibri"/>
              </a:rPr>
              <a:t>Learning</a:t>
            </a:r>
            <a:r>
              <a:rPr lang="en-GB" sz="2200">
                <a:solidFill>
                  <a:srgbClr val="000000"/>
                </a:solidFill>
                <a:latin typeface="Calibri"/>
                <a:ea typeface="Calibri"/>
                <a:cs typeface="Calibri"/>
                <a:sym typeface="Calibri"/>
              </a:rPr>
              <a:t>, and expects </a:t>
            </a:r>
            <a:r>
              <a:rPr b="1" lang="en-GB" sz="2200">
                <a:solidFill>
                  <a:srgbClr val="980000"/>
                </a:solidFill>
                <a:latin typeface="Calibri"/>
                <a:ea typeface="Calibri"/>
                <a:cs typeface="Calibri"/>
                <a:sym typeface="Calibri"/>
              </a:rPr>
              <a:t>Success</a:t>
            </a:r>
            <a:r>
              <a:rPr lang="en-GB" sz="2200">
                <a:solidFill>
                  <a:srgbClr val="000000"/>
                </a:solidFill>
                <a:latin typeface="Calibri"/>
                <a:ea typeface="Calibri"/>
                <a:cs typeface="Calibri"/>
                <a:sym typeface="Calibri"/>
              </a:rPr>
              <a:t>.</a:t>
            </a:r>
            <a:endParaRPr sz="2200">
              <a:solidFill>
                <a:srgbClr val="000000"/>
              </a:solidFill>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3000">
              <a:solidFill>
                <a:srgbClr val="222B67"/>
              </a:solidFill>
            </a:endParaRPr>
          </a:p>
        </p:txBody>
      </p:sp>
      <p:pic>
        <p:nvPicPr>
          <p:cNvPr descr="Alfriston College Logo-12.png" id="101" name="Google Shape;101;p25"/>
          <p:cNvPicPr preferRelativeResize="0"/>
          <p:nvPr/>
        </p:nvPicPr>
        <p:blipFill>
          <a:blip r:embed="rId4">
            <a:alphaModFix/>
          </a:blip>
          <a:stretch>
            <a:fillRect/>
          </a:stretch>
        </p:blipFill>
        <p:spPr>
          <a:xfrm>
            <a:off x="7997098" y="79002"/>
            <a:ext cx="1092277" cy="1524425"/>
          </a:xfrm>
          <a:prstGeom prst="rect">
            <a:avLst/>
          </a:prstGeom>
          <a:noFill/>
          <a:ln>
            <a:noFill/>
          </a:ln>
        </p:spPr>
      </p:pic>
      <p:pic>
        <p:nvPicPr>
          <p:cNvPr descr="AC Slides with corner pattern-01.jpeg" id="102" name="Google Shape;102;p25"/>
          <p:cNvPicPr preferRelativeResize="0"/>
          <p:nvPr/>
        </p:nvPicPr>
        <p:blipFill>
          <a:blip r:embed="rId5">
            <a:alphaModFix/>
          </a:blip>
          <a:stretch>
            <a:fillRect/>
          </a:stretch>
        </p:blipFill>
        <p:spPr>
          <a:xfrm>
            <a:off x="0" y="0"/>
            <a:ext cx="9144000" cy="5143500"/>
          </a:xfrm>
          <a:prstGeom prst="rect">
            <a:avLst/>
          </a:prstGeom>
          <a:noFill/>
          <a:ln>
            <a:noFill/>
          </a:ln>
        </p:spPr>
      </p:pic>
      <p:pic>
        <p:nvPicPr>
          <p:cNvPr descr="Alfriston College Logo-12.png" id="103" name="Google Shape;103;p25"/>
          <p:cNvPicPr preferRelativeResize="0"/>
          <p:nvPr/>
        </p:nvPicPr>
        <p:blipFill>
          <a:blip r:embed="rId4">
            <a:alphaModFix/>
          </a:blip>
          <a:stretch>
            <a:fillRect/>
          </a:stretch>
        </p:blipFill>
        <p:spPr>
          <a:xfrm>
            <a:off x="7997098" y="79002"/>
            <a:ext cx="1092277" cy="1524425"/>
          </a:xfrm>
          <a:prstGeom prst="rect">
            <a:avLst/>
          </a:prstGeom>
          <a:noFill/>
          <a:ln>
            <a:noFill/>
          </a:ln>
        </p:spPr>
      </p:pic>
      <p:sp>
        <p:nvSpPr>
          <p:cNvPr id="104" name="Google Shape;104;p25"/>
          <p:cNvSpPr txBox="1"/>
          <p:nvPr/>
        </p:nvSpPr>
        <p:spPr>
          <a:xfrm>
            <a:off x="1507600" y="1742275"/>
            <a:ext cx="5711700" cy="133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4100">
                <a:latin typeface="Luckiest Guy"/>
                <a:ea typeface="Luckiest Guy"/>
                <a:cs typeface="Luckiest Guy"/>
                <a:sym typeface="Luckiest Guy"/>
              </a:rPr>
              <a:t>Level 2 health</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Term 2 | week 1</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Mon 28 April</a:t>
            </a:r>
            <a:endParaRPr sz="4100">
              <a:latin typeface="Luckiest Guy"/>
              <a:ea typeface="Luckiest Guy"/>
              <a:cs typeface="Luckiest Guy"/>
              <a:sym typeface="Luckiest Guy"/>
            </a:endParaRPr>
          </a:p>
          <a:p>
            <a:pPr indent="0" lvl="0" marL="0" rtl="0" algn="ctr">
              <a:spcBef>
                <a:spcPts val="0"/>
              </a:spcBef>
              <a:spcAft>
                <a:spcPts val="0"/>
              </a:spcAft>
              <a:buNone/>
            </a:pPr>
            <a:r>
              <a:t/>
            </a:r>
            <a:endParaRPr sz="4100">
              <a:latin typeface="Luckiest Guy"/>
              <a:ea typeface="Luckiest Guy"/>
              <a:cs typeface="Luckiest Guy"/>
              <a:sym typeface="Luckiest Guy"/>
            </a:endParaRPr>
          </a:p>
          <a:p>
            <a:pPr indent="0" lvl="0" marL="0" rtl="0" algn="ctr">
              <a:spcBef>
                <a:spcPts val="0"/>
              </a:spcBef>
              <a:spcAft>
                <a:spcPts val="0"/>
              </a:spcAft>
              <a:buNone/>
            </a:pPr>
            <a:r>
              <a:t/>
            </a:r>
            <a:endParaRPr sz="1800">
              <a:highlight>
                <a:srgbClr val="FF00FF"/>
              </a:highlight>
              <a:latin typeface="Luckiest Guy"/>
              <a:ea typeface="Luckiest Guy"/>
              <a:cs typeface="Luckiest Guy"/>
              <a:sym typeface="Luckiest Gu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AC Slides with corner pattern-02.jpeg" id="111" name="Google Shape;111;p26"/>
          <p:cNvPicPr preferRelativeResize="0"/>
          <p:nvPr/>
        </p:nvPicPr>
        <p:blipFill>
          <a:blip r:embed="rId3">
            <a:alphaModFix/>
          </a:blip>
          <a:stretch>
            <a:fillRect/>
          </a:stretch>
        </p:blipFill>
        <p:spPr>
          <a:xfrm>
            <a:off x="0" y="-58300"/>
            <a:ext cx="9144000" cy="5143500"/>
          </a:xfrm>
          <a:prstGeom prst="rect">
            <a:avLst/>
          </a:prstGeom>
          <a:noFill/>
          <a:ln>
            <a:noFill/>
          </a:ln>
        </p:spPr>
      </p:pic>
      <p:cxnSp>
        <p:nvCxnSpPr>
          <p:cNvPr id="112" name="Google Shape;112;p26"/>
          <p:cNvCxnSpPr/>
          <p:nvPr/>
        </p:nvCxnSpPr>
        <p:spPr>
          <a:xfrm>
            <a:off x="402225" y="549400"/>
            <a:ext cx="24600" cy="4343700"/>
          </a:xfrm>
          <a:prstGeom prst="straightConnector1">
            <a:avLst/>
          </a:prstGeom>
          <a:noFill/>
          <a:ln cap="flat" cmpd="sng" w="28575">
            <a:solidFill>
              <a:srgbClr val="D01E38"/>
            </a:solidFill>
            <a:prstDash val="solid"/>
            <a:round/>
            <a:headEnd len="med" w="med" type="none"/>
            <a:tailEnd len="med" w="med" type="none"/>
          </a:ln>
        </p:spPr>
      </p:cxnSp>
      <p:sp>
        <p:nvSpPr>
          <p:cNvPr id="113" name="Google Shape;113;p26"/>
          <p:cNvSpPr txBox="1"/>
          <p:nvPr/>
        </p:nvSpPr>
        <p:spPr>
          <a:xfrm>
            <a:off x="426825" y="128625"/>
            <a:ext cx="8717400" cy="478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3600">
                <a:latin typeface="Luckiest Guy"/>
                <a:ea typeface="Luckiest Guy"/>
                <a:cs typeface="Luckiest Guy"/>
                <a:sym typeface="Luckiest Guy"/>
              </a:rPr>
              <a:t>Do now</a:t>
            </a:r>
            <a:endParaRPr b="1" sz="3600">
              <a:latin typeface="Jost"/>
              <a:ea typeface="Jost"/>
              <a:cs typeface="Jost"/>
              <a:sym typeface="Jost"/>
            </a:endParaRPr>
          </a:p>
          <a:p>
            <a:pPr indent="0" lvl="0" marL="0" rtl="0" algn="l">
              <a:lnSpc>
                <a:spcPct val="115000"/>
              </a:lnSpc>
              <a:spcBef>
                <a:spcPts val="1200"/>
              </a:spcBef>
              <a:spcAft>
                <a:spcPts val="0"/>
              </a:spcAft>
              <a:buNone/>
            </a:pPr>
            <a:r>
              <a:rPr lang="en-GB" sz="2000">
                <a:latin typeface="ABeeZee"/>
                <a:ea typeface="ABeeZee"/>
                <a:cs typeface="ABeeZee"/>
                <a:sym typeface="ABeeZee"/>
              </a:rPr>
              <a:t>In groups of 4 share the following about your school holidays (they all have to be different):</a:t>
            </a:r>
            <a:endParaRPr sz="2000">
              <a:latin typeface="ABeeZee"/>
              <a:ea typeface="ABeeZee"/>
              <a:cs typeface="ABeeZee"/>
              <a:sym typeface="ABeeZee"/>
            </a:endParaRPr>
          </a:p>
          <a:p>
            <a:pPr indent="-342900" lvl="0" marL="457200" rtl="0" algn="l">
              <a:lnSpc>
                <a:spcPct val="115000"/>
              </a:lnSpc>
              <a:spcBef>
                <a:spcPts val="1200"/>
              </a:spcBef>
              <a:spcAft>
                <a:spcPts val="0"/>
              </a:spcAft>
              <a:buSzPts val="1800"/>
              <a:buFont typeface="ABeeZee"/>
              <a:buChar char="●"/>
            </a:pPr>
            <a:r>
              <a:rPr lang="en-GB" sz="1800">
                <a:latin typeface="ABeeZee"/>
                <a:ea typeface="ABeeZee"/>
                <a:cs typeface="ABeeZee"/>
                <a:sym typeface="ABeeZee"/>
              </a:rPr>
              <a:t>One person you spent to with and what you did</a:t>
            </a:r>
            <a:endParaRPr sz="1800">
              <a:latin typeface="ABeeZee"/>
              <a:ea typeface="ABeeZee"/>
              <a:cs typeface="ABeeZee"/>
              <a:sym typeface="ABeeZee"/>
            </a:endParaRPr>
          </a:p>
          <a:p>
            <a:pPr indent="-342900" lvl="0" marL="457200" rtl="0" algn="l">
              <a:lnSpc>
                <a:spcPct val="115000"/>
              </a:lnSpc>
              <a:spcBef>
                <a:spcPts val="0"/>
              </a:spcBef>
              <a:spcAft>
                <a:spcPts val="0"/>
              </a:spcAft>
              <a:buSzPts val="1800"/>
              <a:buFont typeface="ABeeZee"/>
              <a:buChar char="●"/>
            </a:pPr>
            <a:r>
              <a:rPr lang="en-GB" sz="1800">
                <a:latin typeface="ABeeZee"/>
                <a:ea typeface="ABeeZee"/>
                <a:cs typeface="ABeeZee"/>
                <a:sym typeface="ABeeZee"/>
              </a:rPr>
              <a:t>One way you looked after your physical well-being</a:t>
            </a:r>
            <a:endParaRPr sz="1800">
              <a:latin typeface="ABeeZee"/>
              <a:ea typeface="ABeeZee"/>
              <a:cs typeface="ABeeZee"/>
              <a:sym typeface="ABeeZee"/>
            </a:endParaRPr>
          </a:p>
          <a:p>
            <a:pPr indent="-342900" lvl="0" marL="457200" rtl="0" algn="l">
              <a:lnSpc>
                <a:spcPct val="115000"/>
              </a:lnSpc>
              <a:spcBef>
                <a:spcPts val="0"/>
              </a:spcBef>
              <a:spcAft>
                <a:spcPts val="0"/>
              </a:spcAft>
              <a:buSzPts val="1800"/>
              <a:buFont typeface="ABeeZee"/>
              <a:buChar char="●"/>
            </a:pPr>
            <a:r>
              <a:rPr lang="en-GB" sz="1800">
                <a:latin typeface="ABeeZee"/>
                <a:ea typeface="ABeeZee"/>
                <a:cs typeface="ABeeZee"/>
                <a:sym typeface="ABeeZee"/>
              </a:rPr>
              <a:t>One thing you did to help someone out</a:t>
            </a:r>
            <a:endParaRPr sz="1800">
              <a:latin typeface="ABeeZee"/>
              <a:ea typeface="ABeeZee"/>
              <a:cs typeface="ABeeZee"/>
              <a:sym typeface="ABeeZee"/>
            </a:endParaRPr>
          </a:p>
          <a:p>
            <a:pPr indent="-342900" lvl="0" marL="457200" rtl="0" algn="l">
              <a:lnSpc>
                <a:spcPct val="115000"/>
              </a:lnSpc>
              <a:spcBef>
                <a:spcPts val="0"/>
              </a:spcBef>
              <a:spcAft>
                <a:spcPts val="0"/>
              </a:spcAft>
              <a:buSzPts val="1800"/>
              <a:buFont typeface="ABeeZee"/>
              <a:buChar char="●"/>
            </a:pPr>
            <a:r>
              <a:rPr lang="en-GB" sz="1800">
                <a:latin typeface="ABeeZee"/>
                <a:ea typeface="ABeeZee"/>
                <a:cs typeface="ABeeZee"/>
                <a:sym typeface="ABeeZee"/>
              </a:rPr>
              <a:t>The highlight of my school holidays was…</a:t>
            </a:r>
            <a:endParaRPr sz="1800">
              <a:latin typeface="ABeeZee"/>
              <a:ea typeface="ABeeZee"/>
              <a:cs typeface="ABeeZee"/>
              <a:sym typeface="ABeeZee"/>
            </a:endParaRPr>
          </a:p>
          <a:p>
            <a:pPr indent="0" lvl="0" marL="0" rtl="0" algn="l">
              <a:lnSpc>
                <a:spcPct val="115000"/>
              </a:lnSpc>
              <a:spcBef>
                <a:spcPts val="1200"/>
              </a:spcBef>
              <a:spcAft>
                <a:spcPts val="1200"/>
              </a:spcAft>
              <a:buNone/>
            </a:pPr>
            <a:r>
              <a:t/>
            </a:r>
            <a:endParaRPr sz="2100">
              <a:latin typeface="ABeeZee"/>
              <a:ea typeface="ABeeZee"/>
              <a:cs typeface="ABeeZee"/>
              <a:sym typeface="ABeeZee"/>
            </a:endParaRPr>
          </a:p>
        </p:txBody>
      </p:sp>
      <p:pic>
        <p:nvPicPr>
          <p:cNvPr descr="This timer silently counts down to 0:00, then alerts you that time is up with a gentle beep sound." id="114" name="Google Shape;114;p26" title="10 Minute Timer">
            <a:hlinkClick r:id="rId4"/>
          </p:cNvPr>
          <p:cNvPicPr preferRelativeResize="0"/>
          <p:nvPr/>
        </p:nvPicPr>
        <p:blipFill>
          <a:blip r:embed="rId5">
            <a:alphaModFix/>
          </a:blip>
          <a:stretch>
            <a:fillRect/>
          </a:stretch>
        </p:blipFill>
        <p:spPr>
          <a:xfrm>
            <a:off x="7423388" y="-48025"/>
            <a:ext cx="1409062" cy="79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1000"/>
                                        <p:tgtEl>
                                          <p:spTgt spid="1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2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AC Slides with corner pattern-02.jpeg" id="121" name="Google Shape;121;p27"/>
          <p:cNvPicPr preferRelativeResize="0"/>
          <p:nvPr/>
        </p:nvPicPr>
        <p:blipFill>
          <a:blip r:embed="rId3">
            <a:alphaModFix/>
          </a:blip>
          <a:stretch>
            <a:fillRect/>
          </a:stretch>
        </p:blipFill>
        <p:spPr>
          <a:xfrm>
            <a:off x="0" y="-58300"/>
            <a:ext cx="9144000" cy="5143500"/>
          </a:xfrm>
          <a:prstGeom prst="rect">
            <a:avLst/>
          </a:prstGeom>
          <a:noFill/>
          <a:ln>
            <a:noFill/>
          </a:ln>
        </p:spPr>
      </p:pic>
      <p:cxnSp>
        <p:nvCxnSpPr>
          <p:cNvPr id="122" name="Google Shape;122;p27"/>
          <p:cNvCxnSpPr/>
          <p:nvPr/>
        </p:nvCxnSpPr>
        <p:spPr>
          <a:xfrm>
            <a:off x="402225" y="549400"/>
            <a:ext cx="24600" cy="4343700"/>
          </a:xfrm>
          <a:prstGeom prst="straightConnector1">
            <a:avLst/>
          </a:prstGeom>
          <a:noFill/>
          <a:ln cap="flat" cmpd="sng" w="28575">
            <a:solidFill>
              <a:srgbClr val="D01E38"/>
            </a:solidFill>
            <a:prstDash val="solid"/>
            <a:round/>
            <a:headEnd len="med" w="med" type="none"/>
            <a:tailEnd len="med" w="med" type="none"/>
          </a:ln>
        </p:spPr>
      </p:cxnSp>
      <p:sp>
        <p:nvSpPr>
          <p:cNvPr id="123" name="Google Shape;123;p27"/>
          <p:cNvSpPr txBox="1"/>
          <p:nvPr/>
        </p:nvSpPr>
        <p:spPr>
          <a:xfrm>
            <a:off x="426825" y="128625"/>
            <a:ext cx="8717400" cy="478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3600">
                <a:latin typeface="Luckiest Guy"/>
                <a:ea typeface="Luckiest Guy"/>
                <a:cs typeface="Luckiest Guy"/>
                <a:sym typeface="Luckiest Guy"/>
              </a:rPr>
              <a:t>My resilient role model</a:t>
            </a:r>
            <a:endParaRPr sz="3600">
              <a:latin typeface="Luckiest Guy"/>
              <a:ea typeface="Luckiest Guy"/>
              <a:cs typeface="Luckiest Guy"/>
              <a:sym typeface="Luckiest Guy"/>
            </a:endParaRPr>
          </a:p>
          <a:p>
            <a:pPr indent="0" lvl="0" marL="0" rtl="0" algn="ctr">
              <a:spcBef>
                <a:spcPts val="0"/>
              </a:spcBef>
              <a:spcAft>
                <a:spcPts val="0"/>
              </a:spcAft>
              <a:buNone/>
            </a:pPr>
            <a:r>
              <a:t/>
            </a:r>
            <a:endParaRPr sz="3600">
              <a:latin typeface="Luckiest Guy"/>
              <a:ea typeface="Luckiest Guy"/>
              <a:cs typeface="Luckiest Guy"/>
              <a:sym typeface="Luckiest Guy"/>
            </a:endParaRPr>
          </a:p>
          <a:p>
            <a:pPr indent="-342900" lvl="0" marL="457200" rtl="0" algn="l">
              <a:lnSpc>
                <a:spcPct val="115000"/>
              </a:lnSpc>
              <a:spcBef>
                <a:spcPts val="1200"/>
              </a:spcBef>
              <a:spcAft>
                <a:spcPts val="0"/>
              </a:spcAft>
              <a:buSzPts val="1800"/>
              <a:buFont typeface="ABeeZee"/>
              <a:buChar char="●"/>
            </a:pPr>
            <a:r>
              <a:rPr lang="en-GB" sz="1800">
                <a:latin typeface="ABeeZee"/>
                <a:ea typeface="ABeeZee"/>
                <a:cs typeface="ABeeZee"/>
                <a:sym typeface="ABeeZee"/>
              </a:rPr>
              <a:t>Awaiting moderation</a:t>
            </a:r>
            <a:endParaRPr sz="1800">
              <a:latin typeface="ABeeZee"/>
              <a:ea typeface="ABeeZee"/>
              <a:cs typeface="ABeeZee"/>
              <a:sym typeface="ABeeZee"/>
            </a:endParaRPr>
          </a:p>
          <a:p>
            <a:pPr indent="-342900" lvl="0" marL="457200" rtl="0" algn="l">
              <a:lnSpc>
                <a:spcPct val="115000"/>
              </a:lnSpc>
              <a:spcBef>
                <a:spcPts val="0"/>
              </a:spcBef>
              <a:spcAft>
                <a:spcPts val="0"/>
              </a:spcAft>
              <a:buSzPts val="1800"/>
              <a:buFont typeface="ABeeZee"/>
              <a:buChar char="●"/>
            </a:pPr>
            <a:r>
              <a:rPr lang="en-GB" sz="1800">
                <a:latin typeface="ABeeZee"/>
                <a:ea typeface="ABeeZee"/>
                <a:cs typeface="ABeeZee"/>
                <a:sym typeface="ABeeZee"/>
              </a:rPr>
              <a:t>Learners who did not submit have been emailed to have this handed in today - please see me to discuss</a:t>
            </a:r>
            <a:endParaRPr sz="1800">
              <a:latin typeface="ABeeZee"/>
              <a:ea typeface="ABeeZee"/>
              <a:cs typeface="ABeeZee"/>
              <a:sym typeface="ABeeZee"/>
            </a:endParaRPr>
          </a:p>
          <a:p>
            <a:pPr indent="-342900" lvl="0" marL="457200" rtl="0" algn="l">
              <a:lnSpc>
                <a:spcPct val="115000"/>
              </a:lnSpc>
              <a:spcBef>
                <a:spcPts val="0"/>
              </a:spcBef>
              <a:spcAft>
                <a:spcPts val="0"/>
              </a:spcAft>
              <a:buSzPts val="1800"/>
              <a:buFont typeface="ABeeZee"/>
              <a:buChar char="●"/>
            </a:pPr>
            <a:r>
              <a:rPr lang="en-GB" sz="1800">
                <a:latin typeface="ABeeZee"/>
                <a:ea typeface="ABeeZee"/>
                <a:cs typeface="ABeeZee"/>
                <a:sym typeface="ABeeZee"/>
              </a:rPr>
              <a:t>80% have been marked</a:t>
            </a:r>
            <a:endParaRPr sz="1800">
              <a:latin typeface="ABeeZee"/>
              <a:ea typeface="ABeeZee"/>
              <a:cs typeface="ABeeZee"/>
              <a:sym typeface="ABeeZee"/>
            </a:endParaRPr>
          </a:p>
          <a:p>
            <a:pPr indent="-342900" lvl="0" marL="457200" rtl="0" algn="l">
              <a:lnSpc>
                <a:spcPct val="115000"/>
              </a:lnSpc>
              <a:spcBef>
                <a:spcPts val="0"/>
              </a:spcBef>
              <a:spcAft>
                <a:spcPts val="0"/>
              </a:spcAft>
              <a:buSzPts val="1800"/>
              <a:buFont typeface="ABeeZee"/>
              <a:buChar char="●"/>
            </a:pPr>
            <a:r>
              <a:rPr lang="en-GB" sz="1800">
                <a:latin typeface="ABeeZee"/>
                <a:ea typeface="ABeeZee"/>
                <a:cs typeface="ABeeZee"/>
                <a:sym typeface="ABeeZee"/>
              </a:rPr>
              <a:t>Resubmissions to be completed by end of the week - please see me to discuss</a:t>
            </a:r>
            <a:endParaRPr sz="1800">
              <a:latin typeface="ABeeZee"/>
              <a:ea typeface="ABeeZee"/>
              <a:cs typeface="ABeeZee"/>
              <a:sym typeface="ABeeZe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descr="AC Slides-01.jpeg" id="128" name="Google Shape;128;p28"/>
          <p:cNvPicPr preferRelativeResize="0"/>
          <p:nvPr/>
        </p:nvPicPr>
        <p:blipFill>
          <a:blip r:embed="rId3">
            <a:alphaModFix/>
          </a:blip>
          <a:stretch>
            <a:fillRect/>
          </a:stretch>
        </p:blipFill>
        <p:spPr>
          <a:xfrm>
            <a:off x="0" y="0"/>
            <a:ext cx="9144000" cy="5143500"/>
          </a:xfrm>
          <a:prstGeom prst="rect">
            <a:avLst/>
          </a:prstGeom>
          <a:noFill/>
          <a:ln>
            <a:noFill/>
          </a:ln>
        </p:spPr>
      </p:pic>
      <p:sp>
        <p:nvSpPr>
          <p:cNvPr id="129" name="Google Shape;129;p28"/>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8"/>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131" name="Google Shape;131;p28"/>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Learning intention</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600">
                <a:solidFill>
                  <a:schemeClr val="dk1"/>
                </a:solidFill>
                <a:latin typeface="ABeeZee"/>
                <a:ea typeface="ABeeZee"/>
                <a:cs typeface="ABeeZee"/>
                <a:sym typeface="ABeeZee"/>
              </a:rPr>
              <a:t>To build knowledge of hauora</a:t>
            </a:r>
            <a:endParaRPr sz="2300">
              <a:latin typeface="Luckiest Guy"/>
              <a:ea typeface="Luckiest Guy"/>
              <a:cs typeface="Luckiest Guy"/>
              <a:sym typeface="Luckiest Guy"/>
            </a:endParaRPr>
          </a:p>
          <a:p>
            <a:pPr indent="0" lvl="0" marL="0" rtl="0" algn="l">
              <a:spcBef>
                <a:spcPts val="1200"/>
              </a:spcBef>
              <a:spcAft>
                <a:spcPts val="0"/>
              </a:spcAft>
              <a:buNone/>
            </a:pPr>
            <a:r>
              <a:t/>
            </a:r>
            <a:endParaRPr b="1" sz="2300">
              <a:latin typeface="Jost"/>
              <a:ea typeface="Jost"/>
              <a:cs typeface="Jost"/>
              <a:sym typeface="Jost"/>
            </a:endParaRPr>
          </a:p>
          <a:p>
            <a:pPr indent="0" lvl="0" marL="0" rtl="0" algn="l">
              <a:spcBef>
                <a:spcPts val="0"/>
              </a:spcBef>
              <a:spcAft>
                <a:spcPts val="0"/>
              </a:spcAft>
              <a:buNone/>
            </a:pPr>
            <a:r>
              <a:rPr lang="en-GB" sz="2500">
                <a:solidFill>
                  <a:schemeClr val="dk1"/>
                </a:solidFill>
                <a:latin typeface="Luckiest Guy"/>
                <a:ea typeface="Luckiest Guy"/>
                <a:cs typeface="Luckiest Guy"/>
                <a:sym typeface="Luckiest Guy"/>
              </a:rPr>
              <a:t>Success criteria</a:t>
            </a:r>
            <a:endParaRPr sz="1700">
              <a:solidFill>
                <a:schemeClr val="dk1"/>
              </a:solidFill>
              <a:latin typeface="Jost"/>
              <a:ea typeface="Jost"/>
              <a:cs typeface="Jost"/>
              <a:sym typeface="Jost"/>
            </a:endParaRPr>
          </a:p>
          <a:p>
            <a:pPr indent="-336550" lvl="0" marL="457200" rtl="0" algn="l">
              <a:lnSpc>
                <a:spcPct val="115000"/>
              </a:lnSpc>
              <a:spcBef>
                <a:spcPts val="1200"/>
              </a:spcBef>
              <a:spcAft>
                <a:spcPts val="0"/>
              </a:spcAft>
              <a:buClr>
                <a:schemeClr val="dk1"/>
              </a:buClr>
              <a:buSzPts val="1700"/>
              <a:buFont typeface="ABeeZee"/>
              <a:buChar char="●"/>
            </a:pPr>
            <a:r>
              <a:rPr lang="en-GB" sz="1700">
                <a:solidFill>
                  <a:schemeClr val="dk1"/>
                </a:solidFill>
                <a:latin typeface="ABeeZee"/>
                <a:ea typeface="ABeeZee"/>
                <a:cs typeface="ABeeZee"/>
                <a:sym typeface="ABeeZee"/>
              </a:rPr>
              <a:t>Identify and explain the four dimensions of hauora</a:t>
            </a:r>
            <a:endParaRPr sz="1700">
              <a:solidFill>
                <a:schemeClr val="dk1"/>
              </a:solidFill>
              <a:latin typeface="ABeeZee"/>
              <a:ea typeface="ABeeZee"/>
              <a:cs typeface="ABeeZee"/>
              <a:sym typeface="ABeeZee"/>
            </a:endParaRPr>
          </a:p>
          <a:p>
            <a:pPr indent="-336550" lvl="0" marL="457200" rtl="0" algn="l">
              <a:lnSpc>
                <a:spcPct val="115000"/>
              </a:lnSpc>
              <a:spcBef>
                <a:spcPts val="0"/>
              </a:spcBef>
              <a:spcAft>
                <a:spcPts val="0"/>
              </a:spcAft>
              <a:buClr>
                <a:schemeClr val="dk1"/>
              </a:buClr>
              <a:buSzPts val="1700"/>
              <a:buFont typeface="ABeeZee"/>
              <a:buChar char="●"/>
            </a:pPr>
            <a:r>
              <a:rPr lang="en-GB" sz="1700">
                <a:solidFill>
                  <a:schemeClr val="dk1"/>
                </a:solidFill>
                <a:latin typeface="ABeeZee"/>
                <a:ea typeface="ABeeZee"/>
                <a:cs typeface="ABeeZee"/>
                <a:sym typeface="ABeeZee"/>
              </a:rPr>
              <a:t>Identify strengths and challenges I have with my own hauora</a:t>
            </a:r>
            <a:endParaRPr sz="1700">
              <a:solidFill>
                <a:schemeClr val="dk1"/>
              </a:solidFill>
              <a:latin typeface="ABeeZee"/>
              <a:ea typeface="ABeeZee"/>
              <a:cs typeface="ABeeZee"/>
              <a:sym typeface="ABeeZee"/>
            </a:endParaRPr>
          </a:p>
          <a:p>
            <a:pPr indent="-336550" lvl="0" marL="457200" rtl="0" algn="l">
              <a:lnSpc>
                <a:spcPct val="115000"/>
              </a:lnSpc>
              <a:spcBef>
                <a:spcPts val="0"/>
              </a:spcBef>
              <a:spcAft>
                <a:spcPts val="0"/>
              </a:spcAft>
              <a:buClr>
                <a:schemeClr val="dk1"/>
              </a:buClr>
              <a:buSzPts val="1700"/>
              <a:buFont typeface="ABeeZee"/>
              <a:buChar char="●"/>
            </a:pPr>
            <a:r>
              <a:rPr lang="en-GB" sz="1700">
                <a:solidFill>
                  <a:schemeClr val="dk1"/>
                </a:solidFill>
                <a:latin typeface="ABeeZee"/>
                <a:ea typeface="ABeeZee"/>
                <a:cs typeface="ABeeZee"/>
                <a:sym typeface="ABeeZee"/>
              </a:rPr>
              <a:t>Create a SMART goal centred around your hauora for this term</a:t>
            </a:r>
            <a:endParaRPr sz="17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132" name="Google Shape;132;p28"/>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8"/>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descr="AC Slides-01.jpeg" id="138" name="Google Shape;138;p29"/>
          <p:cNvPicPr preferRelativeResize="0"/>
          <p:nvPr/>
        </p:nvPicPr>
        <p:blipFill>
          <a:blip r:embed="rId3">
            <a:alphaModFix/>
          </a:blip>
          <a:stretch>
            <a:fillRect/>
          </a:stretch>
        </p:blipFill>
        <p:spPr>
          <a:xfrm>
            <a:off x="0" y="0"/>
            <a:ext cx="9144000" cy="5143500"/>
          </a:xfrm>
          <a:prstGeom prst="rect">
            <a:avLst/>
          </a:prstGeom>
          <a:noFill/>
          <a:ln>
            <a:noFill/>
          </a:ln>
        </p:spPr>
      </p:pic>
      <p:sp>
        <p:nvSpPr>
          <p:cNvPr id="139" name="Google Shape;139;p29"/>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9"/>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141" name="Google Shape;141;p29"/>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What is hauora?</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600">
                <a:solidFill>
                  <a:schemeClr val="dk1"/>
                </a:solidFill>
                <a:latin typeface="ABeeZee"/>
                <a:ea typeface="ABeeZee"/>
                <a:cs typeface="ABeeZee"/>
                <a:sym typeface="ABeeZee"/>
              </a:rPr>
              <a:t>To build knowledge of hauora</a:t>
            </a:r>
            <a:endParaRPr sz="2300">
              <a:latin typeface="Luckiest Guy"/>
              <a:ea typeface="Luckiest Guy"/>
              <a:cs typeface="Luckiest Guy"/>
              <a:sym typeface="Luckiest Guy"/>
            </a:endParaRPr>
          </a:p>
          <a:p>
            <a:pPr indent="0" lvl="0" marL="0" rtl="0" algn="l">
              <a:spcBef>
                <a:spcPts val="1200"/>
              </a:spcBef>
              <a:spcAft>
                <a:spcPts val="0"/>
              </a:spcAft>
              <a:buNone/>
            </a:pPr>
            <a:r>
              <a:t/>
            </a:r>
            <a:endParaRPr b="1" sz="2300">
              <a:latin typeface="Jost"/>
              <a:ea typeface="Jost"/>
              <a:cs typeface="Jost"/>
              <a:sym typeface="Jost"/>
            </a:endParaRPr>
          </a:p>
          <a:p>
            <a:pPr indent="0" lvl="0" marL="0" rtl="0" algn="l">
              <a:spcBef>
                <a:spcPts val="0"/>
              </a:spcBef>
              <a:spcAft>
                <a:spcPts val="0"/>
              </a:spcAft>
              <a:buNone/>
            </a:pPr>
            <a:r>
              <a:rPr lang="en-GB" sz="2500">
                <a:solidFill>
                  <a:schemeClr val="dk1"/>
                </a:solidFill>
                <a:latin typeface="Luckiest Guy"/>
                <a:ea typeface="Luckiest Guy"/>
                <a:cs typeface="Luckiest Guy"/>
                <a:sym typeface="Luckiest Guy"/>
              </a:rPr>
              <a:t>Te whare tapa wha</a:t>
            </a:r>
            <a:endParaRPr sz="1700">
              <a:solidFill>
                <a:schemeClr val="dk1"/>
              </a:solidFill>
              <a:latin typeface="Jost"/>
              <a:ea typeface="Jost"/>
              <a:cs typeface="Jost"/>
              <a:sym typeface="Jost"/>
            </a:endParaRPr>
          </a:p>
          <a:p>
            <a:pPr indent="0" lvl="0" marL="0" rtl="0" algn="l">
              <a:lnSpc>
                <a:spcPct val="115000"/>
              </a:lnSpc>
              <a:spcBef>
                <a:spcPts val="1200"/>
              </a:spcBef>
              <a:spcAft>
                <a:spcPts val="0"/>
              </a:spcAft>
              <a:buNone/>
            </a:pPr>
            <a:r>
              <a:t/>
            </a:r>
            <a:endParaRPr sz="17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142" name="Google Shape;142;p29"/>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9"/>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hauora</a:t>
            </a:r>
            <a:endParaRPr sz="4100">
              <a:solidFill>
                <a:srgbClr val="FFFFFF"/>
              </a:solidFill>
            </a:endParaRPr>
          </a:p>
        </p:txBody>
      </p:sp>
      <p:pic>
        <p:nvPicPr>
          <p:cNvPr id="144" name="Google Shape;144;p29"/>
          <p:cNvPicPr preferRelativeResize="0"/>
          <p:nvPr/>
        </p:nvPicPr>
        <p:blipFill rotWithShape="1">
          <a:blip r:embed="rId4">
            <a:alphaModFix/>
          </a:blip>
          <a:srcRect b="2410" l="20595" r="20001" t="0"/>
          <a:stretch/>
        </p:blipFill>
        <p:spPr>
          <a:xfrm>
            <a:off x="2694901" y="2350375"/>
            <a:ext cx="3579873" cy="21164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descr="AC Slides-01.jpeg" id="149" name="Google Shape;149;p30"/>
          <p:cNvPicPr preferRelativeResize="0"/>
          <p:nvPr/>
        </p:nvPicPr>
        <p:blipFill>
          <a:blip r:embed="rId3">
            <a:alphaModFix/>
          </a:blip>
          <a:stretch>
            <a:fillRect/>
          </a:stretch>
        </p:blipFill>
        <p:spPr>
          <a:xfrm>
            <a:off x="0" y="0"/>
            <a:ext cx="9144000" cy="5143500"/>
          </a:xfrm>
          <a:prstGeom prst="rect">
            <a:avLst/>
          </a:prstGeom>
          <a:noFill/>
          <a:ln>
            <a:noFill/>
          </a:ln>
        </p:spPr>
      </p:pic>
      <p:sp>
        <p:nvSpPr>
          <p:cNvPr id="150" name="Google Shape;150;p30"/>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0"/>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152" name="Google Shape;152;p30"/>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Group task</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600">
                <a:solidFill>
                  <a:schemeClr val="dk1"/>
                </a:solidFill>
                <a:latin typeface="ABeeZee"/>
                <a:ea typeface="ABeeZee"/>
                <a:cs typeface="ABeeZee"/>
                <a:sym typeface="ABeeZee"/>
              </a:rPr>
              <a:t>In groups of 4, come up with a </a:t>
            </a:r>
            <a:r>
              <a:rPr lang="en-GB" sz="1600">
                <a:solidFill>
                  <a:schemeClr val="dk1"/>
                </a:solidFill>
                <a:latin typeface="ABeeZee"/>
                <a:ea typeface="ABeeZee"/>
                <a:cs typeface="ABeeZee"/>
                <a:sym typeface="ABeeZee"/>
              </a:rPr>
              <a:t>definition or a way to explain each of the four dimensions.  Be prepared to share these back with the rest of the class</a:t>
            </a:r>
            <a:endParaRPr b="1" sz="2300">
              <a:latin typeface="Jost"/>
              <a:ea typeface="Jost"/>
              <a:cs typeface="Jost"/>
              <a:sym typeface="Jost"/>
            </a:endParaRPr>
          </a:p>
          <a:p>
            <a:pPr indent="0" lvl="0" marL="0" rtl="0" algn="l">
              <a:spcBef>
                <a:spcPts val="1200"/>
              </a:spcBef>
              <a:spcAft>
                <a:spcPts val="0"/>
              </a:spcAft>
              <a:buNone/>
            </a:pPr>
            <a:r>
              <a:rPr lang="en-GB" sz="2500">
                <a:solidFill>
                  <a:schemeClr val="dk1"/>
                </a:solidFill>
                <a:latin typeface="Luckiest Guy"/>
                <a:ea typeface="Luckiest Guy"/>
                <a:cs typeface="Luckiest Guy"/>
                <a:sym typeface="Luckiest Guy"/>
              </a:rPr>
              <a:t>Te whare tapa wha</a:t>
            </a:r>
            <a:endParaRPr sz="1700">
              <a:solidFill>
                <a:schemeClr val="dk1"/>
              </a:solidFill>
              <a:latin typeface="Jost"/>
              <a:ea typeface="Jost"/>
              <a:cs typeface="Jost"/>
              <a:sym typeface="Jost"/>
            </a:endParaRPr>
          </a:p>
          <a:p>
            <a:pPr indent="0" lvl="0" marL="0" rtl="0" algn="l">
              <a:lnSpc>
                <a:spcPct val="115000"/>
              </a:lnSpc>
              <a:spcBef>
                <a:spcPts val="1200"/>
              </a:spcBef>
              <a:spcAft>
                <a:spcPts val="0"/>
              </a:spcAft>
              <a:buNone/>
            </a:pPr>
            <a:r>
              <a:t/>
            </a:r>
            <a:endParaRPr sz="17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153" name="Google Shape;153;p30"/>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0"/>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hauora</a:t>
            </a:r>
            <a:endParaRPr sz="4100">
              <a:solidFill>
                <a:srgbClr val="FFFFFF"/>
              </a:solidFill>
            </a:endParaRPr>
          </a:p>
        </p:txBody>
      </p:sp>
      <p:pic>
        <p:nvPicPr>
          <p:cNvPr id="155" name="Google Shape;155;p30"/>
          <p:cNvPicPr preferRelativeResize="0"/>
          <p:nvPr/>
        </p:nvPicPr>
        <p:blipFill rotWithShape="1">
          <a:blip r:embed="rId4">
            <a:alphaModFix/>
          </a:blip>
          <a:srcRect b="2410" l="20595" r="20001" t="0"/>
          <a:stretch/>
        </p:blipFill>
        <p:spPr>
          <a:xfrm>
            <a:off x="2694901" y="2350375"/>
            <a:ext cx="3579873" cy="2116474"/>
          </a:xfrm>
          <a:prstGeom prst="rect">
            <a:avLst/>
          </a:prstGeom>
          <a:noFill/>
          <a:ln>
            <a:noFill/>
          </a:ln>
        </p:spPr>
      </p:pic>
      <p:pic>
        <p:nvPicPr>
          <p:cNvPr descr="This timer counts down silently until it reaches 0:00, then a police siren sounds to alert you that time is up." id="156" name="Google Shape;156;p30" title="10 Minute Timer">
            <a:hlinkClick r:id="rId5"/>
          </p:cNvPr>
          <p:cNvPicPr preferRelativeResize="0"/>
          <p:nvPr/>
        </p:nvPicPr>
        <p:blipFill>
          <a:blip r:embed="rId6">
            <a:alphaModFix/>
          </a:blip>
          <a:stretch>
            <a:fillRect/>
          </a:stretch>
        </p:blipFill>
        <p:spPr>
          <a:xfrm>
            <a:off x="7010400" y="3609600"/>
            <a:ext cx="1524000" cy="857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1000"/>
                                        <p:tgtEl>
                                          <p:spTgt spid="1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descr="AC Slides-01.jpeg" id="161" name="Google Shape;161;p31"/>
          <p:cNvPicPr preferRelativeResize="0"/>
          <p:nvPr/>
        </p:nvPicPr>
        <p:blipFill>
          <a:blip r:embed="rId3">
            <a:alphaModFix/>
          </a:blip>
          <a:stretch>
            <a:fillRect/>
          </a:stretch>
        </p:blipFill>
        <p:spPr>
          <a:xfrm>
            <a:off x="0" y="0"/>
            <a:ext cx="9144000" cy="5143500"/>
          </a:xfrm>
          <a:prstGeom prst="rect">
            <a:avLst/>
          </a:prstGeom>
          <a:noFill/>
          <a:ln>
            <a:noFill/>
          </a:ln>
        </p:spPr>
      </p:pic>
      <p:sp>
        <p:nvSpPr>
          <p:cNvPr id="162" name="Google Shape;162;p31"/>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1"/>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164" name="Google Shape;164;p31"/>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500">
                <a:latin typeface="Luckiest Guy"/>
                <a:ea typeface="Luckiest Guy"/>
                <a:cs typeface="Luckiest Guy"/>
                <a:sym typeface="Luckiest Guy"/>
              </a:rPr>
              <a:t>Te whare tapa wha</a:t>
            </a:r>
            <a:endParaRPr sz="2500">
              <a:latin typeface="Luckiest Guy"/>
              <a:ea typeface="Luckiest Guy"/>
              <a:cs typeface="Luckiest Guy"/>
              <a:sym typeface="Luckiest Guy"/>
            </a:endParaRPr>
          </a:p>
          <a:p>
            <a:pPr indent="0" lvl="0" marL="0" rtl="0" algn="ctr">
              <a:spcBef>
                <a:spcPts val="0"/>
              </a:spcBef>
              <a:spcAft>
                <a:spcPts val="0"/>
              </a:spcAft>
              <a:buNone/>
            </a:pPr>
            <a:r>
              <a:t/>
            </a:r>
            <a:endParaRPr sz="2500">
              <a:latin typeface="Luckiest Guy"/>
              <a:ea typeface="Luckiest Guy"/>
              <a:cs typeface="Luckiest Guy"/>
              <a:sym typeface="Luckiest Guy"/>
            </a:endParaRPr>
          </a:p>
          <a:p>
            <a:pPr indent="0" lvl="0" marL="0" rtl="0" algn="l">
              <a:spcBef>
                <a:spcPts val="0"/>
              </a:spcBef>
              <a:spcAft>
                <a:spcPts val="0"/>
              </a:spcAft>
              <a:buNone/>
            </a:pPr>
            <a:r>
              <a:rPr lang="en-GB" sz="2500">
                <a:latin typeface="Luckiest Guy"/>
                <a:ea typeface="Luckiest Guy"/>
                <a:cs typeface="Luckiest Guy"/>
                <a:sym typeface="Luckiest Guy"/>
              </a:rPr>
              <a:t>Taha tinana					taha whanau</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0" lvl="0" marL="0" rtl="0" algn="l">
              <a:spcBef>
                <a:spcPts val="0"/>
              </a:spcBef>
              <a:spcAft>
                <a:spcPts val="0"/>
              </a:spcAft>
              <a:buNone/>
            </a:pPr>
            <a:r>
              <a:rPr lang="en-GB" sz="2500">
                <a:latin typeface="Luckiest Guy"/>
                <a:ea typeface="Luckiest Guy"/>
                <a:cs typeface="Luckiest Guy"/>
                <a:sym typeface="Luckiest Guy"/>
              </a:rPr>
              <a:t>Taha wairua				     taha hinengaro</a:t>
            </a:r>
            <a:endParaRPr sz="2500">
              <a:latin typeface="Luckiest Guy"/>
              <a:ea typeface="Luckiest Guy"/>
              <a:cs typeface="Luckiest Guy"/>
              <a:sym typeface="Luckiest Guy"/>
            </a:endParaRPr>
          </a:p>
          <a:p>
            <a:pPr indent="0" lvl="0" marL="0" rtl="0" algn="l">
              <a:lnSpc>
                <a:spcPct val="115000"/>
              </a:lnSpc>
              <a:spcBef>
                <a:spcPts val="1200"/>
              </a:spcBef>
              <a:spcAft>
                <a:spcPts val="0"/>
              </a:spcAft>
              <a:buNone/>
            </a:pPr>
            <a:r>
              <a:t/>
            </a:r>
            <a:endParaRPr sz="17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165" name="Google Shape;165;p31"/>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1"/>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hauora</a:t>
            </a:r>
            <a:endParaRPr sz="4100">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descr="AC Slides-01.jpeg" id="171" name="Google Shape;171;p32"/>
          <p:cNvPicPr preferRelativeResize="0"/>
          <p:nvPr/>
        </p:nvPicPr>
        <p:blipFill>
          <a:blip r:embed="rId3">
            <a:alphaModFix/>
          </a:blip>
          <a:stretch>
            <a:fillRect/>
          </a:stretch>
        </p:blipFill>
        <p:spPr>
          <a:xfrm>
            <a:off x="0" y="0"/>
            <a:ext cx="9144000" cy="5143500"/>
          </a:xfrm>
          <a:prstGeom prst="rect">
            <a:avLst/>
          </a:prstGeom>
          <a:noFill/>
          <a:ln>
            <a:noFill/>
          </a:ln>
        </p:spPr>
      </p:pic>
      <p:sp>
        <p:nvSpPr>
          <p:cNvPr id="172" name="Google Shape;172;p32"/>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2"/>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174" name="Google Shape;174;p32"/>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Independent</a:t>
            </a:r>
            <a:r>
              <a:rPr lang="en-GB" sz="2500">
                <a:latin typeface="Luckiest Guy"/>
                <a:ea typeface="Luckiest Guy"/>
                <a:cs typeface="Luckiest Guy"/>
                <a:sym typeface="Luckiest Guy"/>
              </a:rPr>
              <a:t> task</a:t>
            </a:r>
            <a:endParaRPr sz="18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Complete the independent worksheet and self-assess your current </a:t>
            </a:r>
            <a:r>
              <a:rPr b="1" lang="en-GB" sz="1600">
                <a:solidFill>
                  <a:schemeClr val="dk1"/>
                </a:solidFill>
                <a:latin typeface="ABeeZee"/>
                <a:ea typeface="ABeeZee"/>
                <a:cs typeface="ABeeZee"/>
                <a:sym typeface="ABeeZee"/>
              </a:rPr>
              <a:t>hauora</a:t>
            </a:r>
            <a:r>
              <a:rPr lang="en-GB" sz="1600">
                <a:solidFill>
                  <a:schemeClr val="dk1"/>
                </a:solidFill>
                <a:latin typeface="ABeeZee"/>
                <a:ea typeface="ABeeZee"/>
                <a:cs typeface="ABeeZee"/>
                <a:sym typeface="ABeeZee"/>
              </a:rPr>
              <a:t> </a:t>
            </a:r>
            <a:endParaRPr sz="17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t/>
            </a:r>
            <a:endParaRPr sz="17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175" name="Google Shape;175;p32"/>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2"/>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hauora</a:t>
            </a:r>
            <a:endParaRPr sz="4100">
              <a:solidFill>
                <a:srgbClr val="FFFFFF"/>
              </a:solidFill>
            </a:endParaRPr>
          </a:p>
        </p:txBody>
      </p:sp>
      <p:pic>
        <p:nvPicPr>
          <p:cNvPr id="177" name="Google Shape;177;p32"/>
          <p:cNvPicPr preferRelativeResize="0"/>
          <p:nvPr/>
        </p:nvPicPr>
        <p:blipFill>
          <a:blip r:embed="rId4">
            <a:alphaModFix/>
          </a:blip>
          <a:stretch>
            <a:fillRect/>
          </a:stretch>
        </p:blipFill>
        <p:spPr>
          <a:xfrm>
            <a:off x="2802625" y="1370775"/>
            <a:ext cx="5157226" cy="3500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descr="AC Slides-01.jpeg" id="182" name="Google Shape;182;p33"/>
          <p:cNvPicPr preferRelativeResize="0"/>
          <p:nvPr/>
        </p:nvPicPr>
        <p:blipFill>
          <a:blip r:embed="rId3">
            <a:alphaModFix/>
          </a:blip>
          <a:stretch>
            <a:fillRect/>
          </a:stretch>
        </p:blipFill>
        <p:spPr>
          <a:xfrm>
            <a:off x="0" y="0"/>
            <a:ext cx="9144000" cy="5143500"/>
          </a:xfrm>
          <a:prstGeom prst="rect">
            <a:avLst/>
          </a:prstGeom>
          <a:noFill/>
          <a:ln>
            <a:noFill/>
          </a:ln>
        </p:spPr>
      </p:pic>
      <p:sp>
        <p:nvSpPr>
          <p:cNvPr id="183" name="Google Shape;183;p33"/>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3"/>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185" name="Google Shape;185;p33"/>
          <p:cNvSpPr txBox="1"/>
          <p:nvPr/>
        </p:nvSpPr>
        <p:spPr>
          <a:xfrm>
            <a:off x="2371875" y="357225"/>
            <a:ext cx="36333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What is a smart goal?</a:t>
            </a:r>
            <a:br>
              <a:rPr lang="en-GB" sz="1800">
                <a:solidFill>
                  <a:schemeClr val="dk1"/>
                </a:solidFill>
                <a:latin typeface="ABeeZee"/>
                <a:ea typeface="ABeeZee"/>
                <a:cs typeface="ABeeZee"/>
                <a:sym typeface="ABeeZee"/>
              </a:rPr>
            </a:br>
            <a:endParaRPr sz="1800">
              <a:solidFill>
                <a:schemeClr val="dk1"/>
              </a:solidFill>
              <a:latin typeface="ABeeZee"/>
              <a:ea typeface="ABeeZee"/>
              <a:cs typeface="ABeeZee"/>
              <a:sym typeface="ABeeZee"/>
            </a:endParaRPr>
          </a:p>
          <a:p>
            <a:pPr indent="0" lvl="0" marL="0" rtl="0" algn="l">
              <a:spcBef>
                <a:spcPts val="0"/>
              </a:spcBef>
              <a:spcAft>
                <a:spcPts val="0"/>
              </a:spcAft>
              <a:buNone/>
            </a:pPr>
            <a:r>
              <a:rPr b="1" lang="en-GB" sz="1600">
                <a:solidFill>
                  <a:schemeClr val="dk1"/>
                </a:solidFill>
                <a:latin typeface="ABeeZee"/>
                <a:ea typeface="ABeeZee"/>
                <a:cs typeface="ABeeZee"/>
                <a:sym typeface="ABeeZee"/>
              </a:rPr>
              <a:t>Specific</a:t>
            </a:r>
            <a:endParaRPr b="1"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latin typeface="ABeeZee"/>
                <a:ea typeface="ABeeZee"/>
                <a:cs typeface="ABeeZee"/>
                <a:sym typeface="ABeeZee"/>
              </a:rPr>
              <a:t>I want to get fit</a:t>
            </a:r>
            <a:endParaRPr sz="1600">
              <a:latin typeface="ABeeZee"/>
              <a:ea typeface="ABeeZee"/>
              <a:cs typeface="ABeeZee"/>
              <a:sym typeface="ABeeZee"/>
            </a:endParaRPr>
          </a:p>
          <a:p>
            <a:pPr indent="0" lvl="0" marL="0" rtl="0" algn="l">
              <a:spcBef>
                <a:spcPts val="0"/>
              </a:spcBef>
              <a:spcAft>
                <a:spcPts val="0"/>
              </a:spcAft>
              <a:buNone/>
            </a:pPr>
            <a:r>
              <a:rPr lang="en-GB" sz="1600">
                <a:highlight>
                  <a:schemeClr val="accent1"/>
                </a:highlight>
                <a:latin typeface="ABeeZee"/>
                <a:ea typeface="ABeeZee"/>
                <a:cs typeface="ABeeZee"/>
                <a:sym typeface="ABeeZee"/>
              </a:rPr>
              <a:t>I am going to start running to improve my fitness</a:t>
            </a:r>
            <a:endParaRPr sz="1600">
              <a:highlight>
                <a:schemeClr val="accent1"/>
              </a:highlight>
              <a:latin typeface="ABeeZee"/>
              <a:ea typeface="ABeeZee"/>
              <a:cs typeface="ABeeZee"/>
              <a:sym typeface="ABeeZee"/>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Clr>
                <a:schemeClr val="dk1"/>
              </a:buClr>
              <a:buSzPts val="1100"/>
              <a:buFont typeface="Arial"/>
              <a:buNone/>
            </a:pPr>
            <a:r>
              <a:rPr b="1" lang="en-GB" sz="1600">
                <a:solidFill>
                  <a:schemeClr val="dk1"/>
                </a:solidFill>
                <a:latin typeface="ABeeZee"/>
                <a:ea typeface="ABeeZee"/>
                <a:cs typeface="ABeeZee"/>
                <a:sym typeface="ABeeZee"/>
              </a:rPr>
              <a:t>Measurable</a:t>
            </a:r>
            <a:endParaRPr b="1" sz="1600">
              <a:solidFill>
                <a:schemeClr val="dk1"/>
              </a:solidFill>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rPr lang="en-GB" sz="1600">
                <a:solidFill>
                  <a:schemeClr val="dk1"/>
                </a:solidFill>
                <a:latin typeface="ABeeZee"/>
                <a:ea typeface="ABeeZee"/>
                <a:cs typeface="ABeeZee"/>
                <a:sym typeface="ABeeZee"/>
              </a:rPr>
              <a:t>I will run as much as possible</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highlight>
                  <a:schemeClr val="accent1"/>
                </a:highlight>
                <a:latin typeface="ABeeZee"/>
                <a:ea typeface="ABeeZee"/>
                <a:cs typeface="ABeeZee"/>
                <a:sym typeface="ABeeZee"/>
              </a:rPr>
              <a:t>I will run 3x per week for 8 weeks</a:t>
            </a:r>
            <a:endParaRPr sz="1600">
              <a:solidFill>
                <a:schemeClr val="dk1"/>
              </a:solidFill>
              <a:highlight>
                <a:schemeClr val="accent1"/>
              </a:highlight>
              <a:latin typeface="ABeeZee"/>
              <a:ea typeface="ABeeZee"/>
              <a:cs typeface="ABeeZee"/>
              <a:sym typeface="ABeeZee"/>
            </a:endParaRPr>
          </a:p>
          <a:p>
            <a:pPr indent="0" lvl="0" marL="0" rtl="0" algn="l">
              <a:spcBef>
                <a:spcPts val="0"/>
              </a:spcBef>
              <a:spcAft>
                <a:spcPts val="0"/>
              </a:spcAft>
              <a:buNone/>
            </a:pPr>
            <a:r>
              <a:t/>
            </a:r>
            <a:endParaRPr sz="1600">
              <a:solidFill>
                <a:schemeClr val="dk1"/>
              </a:solidFill>
              <a:highlight>
                <a:schemeClr val="accent1"/>
              </a:highlight>
              <a:latin typeface="ABeeZee"/>
              <a:ea typeface="ABeeZee"/>
              <a:cs typeface="ABeeZee"/>
              <a:sym typeface="ABeeZee"/>
            </a:endParaRPr>
          </a:p>
          <a:p>
            <a:pPr indent="0" lvl="0" marL="0" rtl="0" algn="l">
              <a:spcBef>
                <a:spcPts val="0"/>
              </a:spcBef>
              <a:spcAft>
                <a:spcPts val="0"/>
              </a:spcAft>
              <a:buNone/>
            </a:pPr>
            <a:r>
              <a:rPr b="1" lang="en-GB" sz="1600">
                <a:solidFill>
                  <a:schemeClr val="dk1"/>
                </a:solidFill>
                <a:latin typeface="ABeeZee"/>
                <a:ea typeface="ABeeZee"/>
                <a:cs typeface="ABeeZee"/>
                <a:sym typeface="ABeeZee"/>
              </a:rPr>
              <a:t>Achievable</a:t>
            </a:r>
            <a:endParaRPr b="1"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I will run for at least 20 minutes</a:t>
            </a:r>
            <a:endParaRPr sz="1600">
              <a:solidFill>
                <a:schemeClr val="dk1"/>
              </a:solidFill>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rPr lang="en-GB" sz="1600">
                <a:solidFill>
                  <a:schemeClr val="dk1"/>
                </a:solidFill>
                <a:highlight>
                  <a:schemeClr val="accent1"/>
                </a:highlight>
                <a:latin typeface="ABeeZee"/>
                <a:ea typeface="ABeeZee"/>
                <a:cs typeface="ABeeZee"/>
                <a:sym typeface="ABeeZee"/>
              </a:rPr>
              <a:t>I will start running 1.5km in wk 1, then run 2km and keeping adding more distance each week until I can run..</a:t>
            </a:r>
            <a:endParaRPr sz="1600">
              <a:solidFill>
                <a:schemeClr val="dk1"/>
              </a:solidFill>
              <a:highlight>
                <a:schemeClr val="accent1"/>
              </a:highlight>
              <a:latin typeface="ABeeZee"/>
              <a:ea typeface="ABeeZee"/>
              <a:cs typeface="ABeeZee"/>
              <a:sym typeface="ABeeZee"/>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186" name="Google Shape;186;p33"/>
          <p:cNvSpPr/>
          <p:nvPr/>
        </p:nvSpPr>
        <p:spPr>
          <a:xfrm flipH="1" rot="10800000">
            <a:off x="218475" y="358875"/>
            <a:ext cx="21177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3"/>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Smart goals</a:t>
            </a:r>
            <a:endParaRPr sz="4100">
              <a:solidFill>
                <a:srgbClr val="FFFFFF"/>
              </a:solidFill>
            </a:endParaRPr>
          </a:p>
        </p:txBody>
      </p:sp>
      <p:pic>
        <p:nvPicPr>
          <p:cNvPr id="188" name="Google Shape;188;p33"/>
          <p:cNvPicPr preferRelativeResize="0"/>
          <p:nvPr/>
        </p:nvPicPr>
        <p:blipFill>
          <a:blip r:embed="rId4">
            <a:alphaModFix/>
          </a:blip>
          <a:stretch>
            <a:fillRect/>
          </a:stretch>
        </p:blipFill>
        <p:spPr>
          <a:xfrm>
            <a:off x="6005049" y="472600"/>
            <a:ext cx="3215150" cy="41458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descr="AC Slides-01.jpeg" id="193" name="Google Shape;193;p34"/>
          <p:cNvPicPr preferRelativeResize="0"/>
          <p:nvPr/>
        </p:nvPicPr>
        <p:blipFill>
          <a:blip r:embed="rId3">
            <a:alphaModFix/>
          </a:blip>
          <a:stretch>
            <a:fillRect/>
          </a:stretch>
        </p:blipFill>
        <p:spPr>
          <a:xfrm>
            <a:off x="0" y="0"/>
            <a:ext cx="9144000" cy="5143500"/>
          </a:xfrm>
          <a:prstGeom prst="rect">
            <a:avLst/>
          </a:prstGeom>
          <a:noFill/>
          <a:ln>
            <a:noFill/>
          </a:ln>
        </p:spPr>
      </p:pic>
      <p:sp>
        <p:nvSpPr>
          <p:cNvPr id="194" name="Google Shape;194;p34"/>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4"/>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196" name="Google Shape;196;p34"/>
          <p:cNvSpPr txBox="1"/>
          <p:nvPr/>
        </p:nvSpPr>
        <p:spPr>
          <a:xfrm>
            <a:off x="2371875" y="357225"/>
            <a:ext cx="36333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What is a smart goal?</a:t>
            </a:r>
            <a:br>
              <a:rPr lang="en-GB" sz="1800">
                <a:solidFill>
                  <a:schemeClr val="dk1"/>
                </a:solidFill>
                <a:latin typeface="ABeeZee"/>
                <a:ea typeface="ABeeZee"/>
                <a:cs typeface="ABeeZee"/>
                <a:sym typeface="ABeeZee"/>
              </a:rPr>
            </a:br>
            <a:endParaRPr sz="1800">
              <a:solidFill>
                <a:schemeClr val="dk1"/>
              </a:solidFill>
              <a:latin typeface="ABeeZee"/>
              <a:ea typeface="ABeeZee"/>
              <a:cs typeface="ABeeZee"/>
              <a:sym typeface="ABeeZee"/>
            </a:endParaRPr>
          </a:p>
          <a:p>
            <a:pPr indent="0" lvl="0" marL="0" rtl="0" algn="l">
              <a:spcBef>
                <a:spcPts val="0"/>
              </a:spcBef>
              <a:spcAft>
                <a:spcPts val="0"/>
              </a:spcAft>
              <a:buNone/>
            </a:pPr>
            <a:r>
              <a:rPr b="1" lang="en-GB" sz="1600">
                <a:solidFill>
                  <a:schemeClr val="dk1"/>
                </a:solidFill>
                <a:latin typeface="ABeeZee"/>
                <a:ea typeface="ABeeZee"/>
                <a:cs typeface="ABeeZee"/>
                <a:sym typeface="ABeeZee"/>
              </a:rPr>
              <a:t>Relevant</a:t>
            </a:r>
            <a:endParaRPr b="1"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latin typeface="ABeeZee"/>
                <a:ea typeface="ABeeZee"/>
                <a:cs typeface="ABeeZee"/>
                <a:sym typeface="ABeeZee"/>
              </a:rPr>
              <a:t>I want to be able to run a as far as possible…</a:t>
            </a:r>
            <a:endParaRPr sz="1600">
              <a:latin typeface="ABeeZee"/>
              <a:ea typeface="ABeeZee"/>
              <a:cs typeface="ABeeZee"/>
              <a:sym typeface="ABeeZee"/>
            </a:endParaRPr>
          </a:p>
          <a:p>
            <a:pPr indent="0" lvl="0" marL="0" rtl="0" algn="l">
              <a:spcBef>
                <a:spcPts val="0"/>
              </a:spcBef>
              <a:spcAft>
                <a:spcPts val="0"/>
              </a:spcAft>
              <a:buNone/>
            </a:pPr>
            <a:r>
              <a:rPr lang="en-GB" sz="1600">
                <a:highlight>
                  <a:schemeClr val="accent1"/>
                </a:highlight>
                <a:latin typeface="ABeeZee"/>
                <a:ea typeface="ABeeZee"/>
                <a:cs typeface="ABeeZee"/>
                <a:sym typeface="ABeeZee"/>
              </a:rPr>
              <a:t>I want to be able to run 5km at a running event </a:t>
            </a:r>
            <a:endParaRPr sz="1600">
              <a:highlight>
                <a:schemeClr val="accent1"/>
              </a:highlight>
              <a:latin typeface="ABeeZee"/>
              <a:ea typeface="ABeeZee"/>
              <a:cs typeface="ABeeZee"/>
              <a:sym typeface="ABeeZee"/>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rPr b="1" lang="en-GB" sz="1600">
                <a:solidFill>
                  <a:schemeClr val="dk1"/>
                </a:solidFill>
                <a:latin typeface="ABeeZee"/>
                <a:ea typeface="ABeeZee"/>
                <a:cs typeface="ABeeZee"/>
                <a:sym typeface="ABeeZee"/>
              </a:rPr>
              <a:t>Timely</a:t>
            </a:r>
            <a:endParaRPr b="1"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I want to run as much as possible as often as I can</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highlight>
                  <a:schemeClr val="accent1"/>
                </a:highlight>
                <a:latin typeface="ABeeZee"/>
                <a:ea typeface="ABeeZee"/>
                <a:cs typeface="ABeeZee"/>
                <a:sym typeface="ABeeZee"/>
              </a:rPr>
              <a:t>I want to be able to run 5km in under 30mins by the end of 8 weeks of training</a:t>
            </a:r>
            <a:endParaRPr sz="1600">
              <a:solidFill>
                <a:schemeClr val="dk1"/>
              </a:solidFill>
              <a:highlight>
                <a:schemeClr val="accent1"/>
              </a:highlight>
              <a:latin typeface="ABeeZee"/>
              <a:ea typeface="ABeeZee"/>
              <a:cs typeface="ABeeZee"/>
              <a:sym typeface="ABeeZee"/>
            </a:endParaRPr>
          </a:p>
          <a:p>
            <a:pPr indent="0" lvl="0" marL="0" rtl="0" algn="l">
              <a:spcBef>
                <a:spcPts val="0"/>
              </a:spcBef>
              <a:spcAft>
                <a:spcPts val="0"/>
              </a:spcAft>
              <a:buNone/>
            </a:pPr>
            <a:r>
              <a:t/>
            </a:r>
            <a:endParaRPr sz="1600">
              <a:solidFill>
                <a:schemeClr val="dk1"/>
              </a:solidFill>
              <a:highlight>
                <a:schemeClr val="accent1"/>
              </a:highlight>
              <a:latin typeface="ABeeZee"/>
              <a:ea typeface="ABeeZee"/>
              <a:cs typeface="ABeeZee"/>
              <a:sym typeface="ABeeZee"/>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197" name="Google Shape;197;p34"/>
          <p:cNvSpPr/>
          <p:nvPr/>
        </p:nvSpPr>
        <p:spPr>
          <a:xfrm flipH="1" rot="10800000">
            <a:off x="218475" y="358875"/>
            <a:ext cx="21177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4"/>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Smart goals</a:t>
            </a:r>
            <a:endParaRPr sz="4100">
              <a:solidFill>
                <a:srgbClr val="FFFFFF"/>
              </a:solidFill>
            </a:endParaRPr>
          </a:p>
        </p:txBody>
      </p:sp>
      <p:pic>
        <p:nvPicPr>
          <p:cNvPr id="199" name="Google Shape;199;p34"/>
          <p:cNvPicPr preferRelativeResize="0"/>
          <p:nvPr/>
        </p:nvPicPr>
        <p:blipFill>
          <a:blip r:embed="rId4">
            <a:alphaModFix/>
          </a:blip>
          <a:stretch>
            <a:fillRect/>
          </a:stretch>
        </p:blipFill>
        <p:spPr>
          <a:xfrm>
            <a:off x="6005049" y="472600"/>
            <a:ext cx="3215150" cy="41458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descr="AC Slides-01.jpeg" id="204" name="Google Shape;204;p35"/>
          <p:cNvPicPr preferRelativeResize="0"/>
          <p:nvPr/>
        </p:nvPicPr>
        <p:blipFill>
          <a:blip r:embed="rId3">
            <a:alphaModFix/>
          </a:blip>
          <a:stretch>
            <a:fillRect/>
          </a:stretch>
        </p:blipFill>
        <p:spPr>
          <a:xfrm>
            <a:off x="0" y="0"/>
            <a:ext cx="9144000" cy="5143500"/>
          </a:xfrm>
          <a:prstGeom prst="rect">
            <a:avLst/>
          </a:prstGeom>
          <a:noFill/>
          <a:ln>
            <a:noFill/>
          </a:ln>
        </p:spPr>
      </p:pic>
      <p:sp>
        <p:nvSpPr>
          <p:cNvPr id="205" name="Google Shape;205;p35"/>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5"/>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207" name="Google Shape;207;p35"/>
          <p:cNvSpPr txBox="1"/>
          <p:nvPr/>
        </p:nvSpPr>
        <p:spPr>
          <a:xfrm>
            <a:off x="2371875" y="357225"/>
            <a:ext cx="36678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Create a smart goal</a:t>
            </a:r>
            <a:br>
              <a:rPr lang="en-GB" sz="1800">
                <a:solidFill>
                  <a:schemeClr val="dk1"/>
                </a:solidFill>
                <a:latin typeface="ABeeZee"/>
                <a:ea typeface="ABeeZee"/>
                <a:cs typeface="ABeeZee"/>
                <a:sym typeface="ABeeZee"/>
              </a:rPr>
            </a:br>
            <a:r>
              <a:rPr lang="en-GB" sz="1600">
                <a:solidFill>
                  <a:schemeClr val="dk1"/>
                </a:solidFill>
                <a:latin typeface="ABeeZee"/>
                <a:ea typeface="ABeeZee"/>
                <a:cs typeface="ABeeZee"/>
                <a:sym typeface="ABeeZee"/>
              </a:rPr>
              <a:t>Think of a goal you would like to achieve to improve a dimension(s) of your hauora</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330200" lvl="0" marL="457200" rtl="0" algn="l">
              <a:spcBef>
                <a:spcPts val="0"/>
              </a:spcBef>
              <a:spcAft>
                <a:spcPts val="0"/>
              </a:spcAft>
              <a:buClr>
                <a:schemeClr val="dk1"/>
              </a:buClr>
              <a:buSzPts val="1600"/>
              <a:buFont typeface="ABeeZee"/>
              <a:buAutoNum type="arabicPeriod"/>
            </a:pPr>
            <a:r>
              <a:rPr lang="en-GB" sz="1600">
                <a:solidFill>
                  <a:schemeClr val="dk1"/>
                </a:solidFill>
                <a:latin typeface="ABeeZee"/>
                <a:ea typeface="ABeeZee"/>
                <a:cs typeface="ABeeZee"/>
                <a:sym typeface="ABeeZee"/>
              </a:rPr>
              <a:t>Complete the worksheet </a:t>
            </a:r>
            <a:r>
              <a:rPr b="1" lang="en-GB" sz="1600">
                <a:solidFill>
                  <a:schemeClr val="dk1"/>
                </a:solidFill>
                <a:latin typeface="ABeeZee"/>
                <a:ea typeface="ABeeZee"/>
                <a:cs typeface="ABeeZee"/>
                <a:sym typeface="ABeeZee"/>
              </a:rPr>
              <a:t>⏩</a:t>
            </a:r>
            <a:endParaRPr b="1" sz="1600">
              <a:solidFill>
                <a:schemeClr val="dk1"/>
              </a:solidFill>
              <a:latin typeface="ABeeZee"/>
              <a:ea typeface="ABeeZee"/>
              <a:cs typeface="ABeeZee"/>
              <a:sym typeface="ABeeZee"/>
            </a:endParaRPr>
          </a:p>
          <a:p>
            <a:pPr indent="-330200" lvl="0" marL="457200" rtl="0" algn="l">
              <a:spcBef>
                <a:spcPts val="0"/>
              </a:spcBef>
              <a:spcAft>
                <a:spcPts val="0"/>
              </a:spcAft>
              <a:buClr>
                <a:schemeClr val="dk1"/>
              </a:buClr>
              <a:buSzPts val="1600"/>
              <a:buFont typeface="ABeeZee"/>
              <a:buAutoNum type="arabicPeriod"/>
            </a:pPr>
            <a:r>
              <a:rPr lang="en-GB" sz="1600">
                <a:solidFill>
                  <a:schemeClr val="dk1"/>
                </a:solidFill>
                <a:latin typeface="ABeeZee"/>
                <a:ea typeface="ABeeZee"/>
                <a:cs typeface="ABeeZee"/>
                <a:sym typeface="ABeeZee"/>
              </a:rPr>
              <a:t>Get this checked by LL</a:t>
            </a:r>
            <a:endParaRPr sz="1600">
              <a:solidFill>
                <a:schemeClr val="dk1"/>
              </a:solidFill>
              <a:latin typeface="ABeeZee"/>
              <a:ea typeface="ABeeZee"/>
              <a:cs typeface="ABeeZee"/>
              <a:sym typeface="ABeeZee"/>
            </a:endParaRPr>
          </a:p>
          <a:p>
            <a:pPr indent="-330200" lvl="0" marL="457200" rtl="0" algn="l">
              <a:spcBef>
                <a:spcPts val="0"/>
              </a:spcBef>
              <a:spcAft>
                <a:spcPts val="0"/>
              </a:spcAft>
              <a:buClr>
                <a:schemeClr val="dk1"/>
              </a:buClr>
              <a:buSzPts val="1600"/>
              <a:buFont typeface="ABeeZee"/>
              <a:buAutoNum type="arabicPeriod"/>
            </a:pPr>
            <a:r>
              <a:rPr lang="en-GB" sz="1600">
                <a:solidFill>
                  <a:schemeClr val="dk1"/>
                </a:solidFill>
                <a:latin typeface="ABeeZee"/>
                <a:ea typeface="ABeeZee"/>
                <a:cs typeface="ABeeZee"/>
                <a:sym typeface="ABeeZee"/>
              </a:rPr>
              <a:t>Collect a Heart piece of paper</a:t>
            </a:r>
            <a:endParaRPr sz="1600">
              <a:solidFill>
                <a:schemeClr val="dk1"/>
              </a:solidFill>
              <a:latin typeface="ABeeZee"/>
              <a:ea typeface="ABeeZee"/>
              <a:cs typeface="ABeeZee"/>
              <a:sym typeface="ABeeZee"/>
            </a:endParaRPr>
          </a:p>
          <a:p>
            <a:pPr indent="-330200" lvl="0" marL="457200" rtl="0" algn="l">
              <a:spcBef>
                <a:spcPts val="0"/>
              </a:spcBef>
              <a:spcAft>
                <a:spcPts val="0"/>
              </a:spcAft>
              <a:buClr>
                <a:schemeClr val="dk1"/>
              </a:buClr>
              <a:buSzPts val="1600"/>
              <a:buFont typeface="ABeeZee"/>
              <a:buAutoNum type="arabicPeriod"/>
            </a:pPr>
            <a:r>
              <a:rPr lang="en-GB" sz="1600">
                <a:solidFill>
                  <a:schemeClr val="dk1"/>
                </a:solidFill>
                <a:latin typeface="ABeeZee"/>
                <a:ea typeface="ABeeZee"/>
                <a:cs typeface="ABeeZee"/>
                <a:sym typeface="ABeeZee"/>
              </a:rPr>
              <a:t>Write your SMART goal inside the heart, colour this and make sure your name is visible on the front</a:t>
            </a:r>
            <a:endParaRPr sz="1600">
              <a:solidFill>
                <a:schemeClr val="dk1"/>
              </a:solidFill>
              <a:latin typeface="ABeeZee"/>
              <a:ea typeface="ABeeZee"/>
              <a:cs typeface="ABeeZee"/>
              <a:sym typeface="ABeeZee"/>
            </a:endParaRPr>
          </a:p>
          <a:p>
            <a:pPr indent="-330200" lvl="0" marL="457200" rtl="0" algn="l">
              <a:spcBef>
                <a:spcPts val="0"/>
              </a:spcBef>
              <a:spcAft>
                <a:spcPts val="0"/>
              </a:spcAft>
              <a:buClr>
                <a:schemeClr val="dk1"/>
              </a:buClr>
              <a:buSzPts val="1600"/>
              <a:buFont typeface="ABeeZee"/>
              <a:buAutoNum type="arabicPeriod"/>
            </a:pPr>
            <a:r>
              <a:rPr lang="en-GB" sz="1600">
                <a:solidFill>
                  <a:schemeClr val="dk1"/>
                </a:solidFill>
                <a:latin typeface="ABeeZee"/>
                <a:ea typeface="ABeeZee"/>
                <a:cs typeface="ABeeZee"/>
                <a:sym typeface="ABeeZee"/>
              </a:rPr>
              <a:t>Laminate for our wall</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highlight>
                <a:schemeClr val="accent1"/>
              </a:highlight>
              <a:latin typeface="ABeeZee"/>
              <a:ea typeface="ABeeZee"/>
              <a:cs typeface="ABeeZee"/>
              <a:sym typeface="ABeeZee"/>
            </a:endParaRPr>
          </a:p>
          <a:p>
            <a:pPr indent="0" lvl="0" marL="0" rtl="0" algn="l">
              <a:spcBef>
                <a:spcPts val="0"/>
              </a:spcBef>
              <a:spcAft>
                <a:spcPts val="0"/>
              </a:spcAft>
              <a:buNone/>
            </a:pPr>
            <a:r>
              <a:t/>
            </a:r>
            <a:endParaRPr sz="1600">
              <a:solidFill>
                <a:schemeClr val="dk1"/>
              </a:solidFill>
              <a:highlight>
                <a:schemeClr val="accent1"/>
              </a:highlight>
              <a:latin typeface="ABeeZee"/>
              <a:ea typeface="ABeeZee"/>
              <a:cs typeface="ABeeZee"/>
              <a:sym typeface="ABeeZee"/>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208" name="Google Shape;208;p35"/>
          <p:cNvSpPr/>
          <p:nvPr/>
        </p:nvSpPr>
        <p:spPr>
          <a:xfrm flipH="1" rot="10800000">
            <a:off x="218475" y="358875"/>
            <a:ext cx="21177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5"/>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Smart goals</a:t>
            </a:r>
            <a:endParaRPr sz="4100">
              <a:solidFill>
                <a:srgbClr val="FFFFFF"/>
              </a:solidFill>
            </a:endParaRPr>
          </a:p>
        </p:txBody>
      </p:sp>
      <p:pic>
        <p:nvPicPr>
          <p:cNvPr id="210" name="Google Shape;210;p35"/>
          <p:cNvPicPr preferRelativeResize="0"/>
          <p:nvPr/>
        </p:nvPicPr>
        <p:blipFill>
          <a:blip r:embed="rId4">
            <a:alphaModFix/>
          </a:blip>
          <a:stretch>
            <a:fillRect/>
          </a:stretch>
        </p:blipFill>
        <p:spPr>
          <a:xfrm>
            <a:off x="5928849" y="357025"/>
            <a:ext cx="3215150" cy="41458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3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AC Slides with corner pattern-02.jpeg" id="217" name="Google Shape;217;p36"/>
          <p:cNvPicPr preferRelativeResize="0"/>
          <p:nvPr/>
        </p:nvPicPr>
        <p:blipFill>
          <a:blip r:embed="rId3">
            <a:alphaModFix/>
          </a:blip>
          <a:stretch>
            <a:fillRect/>
          </a:stretch>
        </p:blipFill>
        <p:spPr>
          <a:xfrm>
            <a:off x="0" y="-58300"/>
            <a:ext cx="9144000" cy="5143500"/>
          </a:xfrm>
          <a:prstGeom prst="rect">
            <a:avLst/>
          </a:prstGeom>
          <a:noFill/>
          <a:ln>
            <a:noFill/>
          </a:ln>
        </p:spPr>
      </p:pic>
      <p:cxnSp>
        <p:nvCxnSpPr>
          <p:cNvPr id="218" name="Google Shape;218;p36"/>
          <p:cNvCxnSpPr/>
          <p:nvPr/>
        </p:nvCxnSpPr>
        <p:spPr>
          <a:xfrm>
            <a:off x="402225" y="549400"/>
            <a:ext cx="24600" cy="4343700"/>
          </a:xfrm>
          <a:prstGeom prst="straightConnector1">
            <a:avLst/>
          </a:prstGeom>
          <a:noFill/>
          <a:ln cap="flat" cmpd="sng" w="28575">
            <a:solidFill>
              <a:srgbClr val="D01E38"/>
            </a:solidFill>
            <a:prstDash val="solid"/>
            <a:round/>
            <a:headEnd len="med" w="med" type="none"/>
            <a:tailEnd len="med" w="med" type="none"/>
          </a:ln>
        </p:spPr>
      </p:cxnSp>
      <p:sp>
        <p:nvSpPr>
          <p:cNvPr id="219" name="Google Shape;219;p36"/>
          <p:cNvSpPr txBox="1"/>
          <p:nvPr/>
        </p:nvSpPr>
        <p:spPr>
          <a:xfrm>
            <a:off x="426825" y="128625"/>
            <a:ext cx="8717400" cy="478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3600">
                <a:latin typeface="Luckiest Guy"/>
                <a:ea typeface="Luckiest Guy"/>
                <a:cs typeface="Luckiest Guy"/>
                <a:sym typeface="Luckiest Guy"/>
              </a:rPr>
              <a:t>Do now - lesson 2</a:t>
            </a:r>
            <a:endParaRPr b="1" sz="3600">
              <a:latin typeface="Jost"/>
              <a:ea typeface="Jost"/>
              <a:cs typeface="Jost"/>
              <a:sym typeface="Jost"/>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ABeeZee"/>
              <a:ea typeface="ABeeZee"/>
              <a:cs typeface="ABeeZee"/>
              <a:sym typeface="ABeeZee"/>
            </a:endParaRPr>
          </a:p>
          <a:p>
            <a:pPr indent="0" lvl="0" marL="0" rtl="0" algn="l">
              <a:spcBef>
                <a:spcPts val="0"/>
              </a:spcBef>
              <a:spcAft>
                <a:spcPts val="0"/>
              </a:spcAft>
              <a:buNone/>
            </a:pPr>
            <a:r>
              <a:rPr lang="en-GB" sz="1800">
                <a:solidFill>
                  <a:schemeClr val="dk1"/>
                </a:solidFill>
                <a:latin typeface="ABeeZee"/>
                <a:ea typeface="ABeeZee"/>
                <a:cs typeface="ABeeZee"/>
                <a:sym typeface="ABeeZee"/>
              </a:rPr>
              <a:t>In groups discuss what you think this whakatauki means</a:t>
            </a:r>
            <a:endParaRPr sz="1800">
              <a:solidFill>
                <a:schemeClr val="dk1"/>
              </a:solidFill>
              <a:latin typeface="ABeeZee"/>
              <a:ea typeface="ABeeZee"/>
              <a:cs typeface="ABeeZee"/>
              <a:sym typeface="ABeeZee"/>
            </a:endParaRPr>
          </a:p>
          <a:p>
            <a:pPr indent="0" lvl="0" marL="0" rtl="0" algn="l">
              <a:spcBef>
                <a:spcPts val="0"/>
              </a:spcBef>
              <a:spcAft>
                <a:spcPts val="0"/>
              </a:spcAft>
              <a:buNone/>
            </a:pPr>
            <a:r>
              <a:t/>
            </a:r>
            <a:endParaRPr sz="1800">
              <a:solidFill>
                <a:schemeClr val="dk1"/>
              </a:solidFill>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t/>
            </a:r>
            <a:endParaRPr sz="2100">
              <a:latin typeface="Jost"/>
              <a:ea typeface="Jost"/>
              <a:cs typeface="Jost"/>
              <a:sym typeface="Jost"/>
            </a:endParaRPr>
          </a:p>
        </p:txBody>
      </p:sp>
      <p:pic>
        <p:nvPicPr>
          <p:cNvPr descr="This timer silently counts down to 0:00, then alerts you that time is up with a gentle beep sound." id="220" name="Google Shape;220;p36" title="10 Minute Timer">
            <a:hlinkClick r:id="rId4"/>
          </p:cNvPr>
          <p:cNvPicPr preferRelativeResize="0"/>
          <p:nvPr/>
        </p:nvPicPr>
        <p:blipFill>
          <a:blip r:embed="rId5">
            <a:alphaModFix/>
          </a:blip>
          <a:stretch>
            <a:fillRect/>
          </a:stretch>
        </p:blipFill>
        <p:spPr>
          <a:xfrm>
            <a:off x="6545563" y="2175450"/>
            <a:ext cx="1409062" cy="792600"/>
          </a:xfrm>
          <a:prstGeom prst="rect">
            <a:avLst/>
          </a:prstGeom>
          <a:noFill/>
          <a:ln>
            <a:noFill/>
          </a:ln>
        </p:spPr>
      </p:pic>
      <p:pic>
        <p:nvPicPr>
          <p:cNvPr id="221" name="Google Shape;221;p36"/>
          <p:cNvPicPr preferRelativeResize="0"/>
          <p:nvPr/>
        </p:nvPicPr>
        <p:blipFill>
          <a:blip r:embed="rId6">
            <a:alphaModFix/>
          </a:blip>
          <a:stretch>
            <a:fillRect/>
          </a:stretch>
        </p:blipFill>
        <p:spPr>
          <a:xfrm>
            <a:off x="1022058" y="1797325"/>
            <a:ext cx="3961425" cy="2967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descr="AC Slides-01.jpeg" id="226" name="Google Shape;226;p37"/>
          <p:cNvPicPr preferRelativeResize="0"/>
          <p:nvPr/>
        </p:nvPicPr>
        <p:blipFill>
          <a:blip r:embed="rId3">
            <a:alphaModFix/>
          </a:blip>
          <a:stretch>
            <a:fillRect/>
          </a:stretch>
        </p:blipFill>
        <p:spPr>
          <a:xfrm>
            <a:off x="0" y="0"/>
            <a:ext cx="9144000" cy="5143500"/>
          </a:xfrm>
          <a:prstGeom prst="rect">
            <a:avLst/>
          </a:prstGeom>
          <a:noFill/>
          <a:ln>
            <a:noFill/>
          </a:ln>
        </p:spPr>
      </p:pic>
      <p:sp>
        <p:nvSpPr>
          <p:cNvPr id="227" name="Google Shape;227;p37"/>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7"/>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229" name="Google Shape;229;p37"/>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Learning intention</a:t>
            </a:r>
            <a:endParaRPr sz="1800">
              <a:solidFill>
                <a:schemeClr val="dk1"/>
              </a:solidFill>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rPr lang="en-GB" sz="1800">
                <a:solidFill>
                  <a:schemeClr val="dk1"/>
                </a:solidFill>
                <a:latin typeface="ABeeZee"/>
                <a:ea typeface="ABeeZee"/>
                <a:cs typeface="ABeeZee"/>
                <a:sym typeface="ABeeZee"/>
              </a:rPr>
              <a:t>Build knowledge of mana to enhance your self-identity</a:t>
            </a:r>
            <a:endParaRPr sz="2900">
              <a:latin typeface="ABeeZee"/>
              <a:ea typeface="ABeeZee"/>
              <a:cs typeface="ABeeZee"/>
              <a:sym typeface="ABeeZee"/>
            </a:endParaRPr>
          </a:p>
          <a:p>
            <a:pPr indent="0" lvl="0" marL="0" rtl="0" algn="l">
              <a:spcBef>
                <a:spcPts val="0"/>
              </a:spcBef>
              <a:spcAft>
                <a:spcPts val="0"/>
              </a:spcAft>
              <a:buNone/>
            </a:pPr>
            <a:r>
              <a:t/>
            </a:r>
            <a:endParaRPr b="1" sz="2300">
              <a:latin typeface="Jost"/>
              <a:ea typeface="Jost"/>
              <a:cs typeface="Jost"/>
              <a:sym typeface="Jost"/>
            </a:endParaRPr>
          </a:p>
          <a:p>
            <a:pPr indent="0" lvl="0" marL="0" rtl="0" algn="l">
              <a:spcBef>
                <a:spcPts val="0"/>
              </a:spcBef>
              <a:spcAft>
                <a:spcPts val="0"/>
              </a:spcAft>
              <a:buNone/>
            </a:pPr>
            <a:r>
              <a:t/>
            </a:r>
            <a:endParaRPr b="1" sz="2300">
              <a:latin typeface="Jost"/>
              <a:ea typeface="Jost"/>
              <a:cs typeface="Jost"/>
              <a:sym typeface="Jost"/>
            </a:endParaRPr>
          </a:p>
          <a:p>
            <a:pPr indent="0" lvl="0" marL="0" rtl="0" algn="l">
              <a:spcBef>
                <a:spcPts val="0"/>
              </a:spcBef>
              <a:spcAft>
                <a:spcPts val="0"/>
              </a:spcAft>
              <a:buNone/>
            </a:pPr>
            <a:r>
              <a:rPr lang="en-GB" sz="2500">
                <a:solidFill>
                  <a:schemeClr val="dk1"/>
                </a:solidFill>
                <a:latin typeface="Luckiest Guy"/>
                <a:ea typeface="Luckiest Guy"/>
                <a:cs typeface="Luckiest Guy"/>
                <a:sym typeface="Luckiest Guy"/>
              </a:rPr>
              <a:t>Success criteria</a:t>
            </a:r>
            <a:endParaRPr sz="1700">
              <a:solidFill>
                <a:schemeClr val="dk1"/>
              </a:solidFill>
              <a:latin typeface="Jost"/>
              <a:ea typeface="Jost"/>
              <a:cs typeface="Jost"/>
              <a:sym typeface="Jost"/>
            </a:endParaRPr>
          </a:p>
          <a:p>
            <a:pPr indent="0" lvl="0" marL="0" rtl="0" algn="l">
              <a:spcBef>
                <a:spcPts val="0"/>
              </a:spcBef>
              <a:spcAft>
                <a:spcPts val="0"/>
              </a:spcAft>
              <a:buNone/>
            </a:pPr>
            <a:r>
              <a:rPr lang="en-GB" sz="1800">
                <a:solidFill>
                  <a:schemeClr val="dk1"/>
                </a:solidFill>
                <a:latin typeface="ABeeZee"/>
                <a:ea typeface="ABeeZee"/>
                <a:cs typeface="ABeeZee"/>
                <a:sym typeface="ABeeZee"/>
              </a:rPr>
              <a:t>Identify how you or someone else demonstrates mana</a:t>
            </a:r>
            <a:endParaRPr sz="2300">
              <a:solidFill>
                <a:schemeClr val="dk1"/>
              </a:solidFill>
              <a:latin typeface="ABeeZee"/>
              <a:ea typeface="ABeeZee"/>
              <a:cs typeface="ABeeZee"/>
              <a:sym typeface="ABeeZee"/>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230" name="Google Shape;230;p37"/>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7"/>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descr="AC Slides-01.jpeg" id="236" name="Google Shape;236;p38"/>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7" name="Google Shape;237;p38"/>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8"/>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239" name="Google Shape;239;p38"/>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What is mana?</a:t>
            </a:r>
            <a:endParaRPr sz="18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Mana can be defined in English as a person’s authority, control, influence, prestige, self-concept, or power.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It is also about honour, integrity, and social standing. It can be a source of both personal and collective strength, pride, and identity. </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There are two things that we can be certain of mana: </a:t>
            </a:r>
            <a:br>
              <a:rPr lang="en-GB" sz="1600">
                <a:solidFill>
                  <a:schemeClr val="dk1"/>
                </a:solidFill>
                <a:latin typeface="ABeeZee"/>
                <a:ea typeface="ABeeZee"/>
                <a:cs typeface="ABeeZee"/>
                <a:sym typeface="ABeeZee"/>
              </a:rPr>
            </a:br>
            <a:r>
              <a:rPr lang="en-GB" sz="1600">
                <a:solidFill>
                  <a:schemeClr val="dk1"/>
                </a:solidFill>
                <a:latin typeface="ABeeZee"/>
                <a:ea typeface="ABeeZee"/>
                <a:cs typeface="ABeeZee"/>
                <a:sym typeface="ABeeZee"/>
              </a:rPr>
              <a:t>(1) it is something that can be felt when you’re in the presence of it, (2) it goes hand in hand with respect and honour. </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The best way to think of mana is to think of a person who has that air of importance about them. When that person walks into a room, speaks, or starts to do “their thing”, even if you have never met the person before, you will instantly be alert to their presence. </a:t>
            </a:r>
            <a:endParaRPr sz="2100">
              <a:solidFill>
                <a:schemeClr val="dk1"/>
              </a:solidFill>
              <a:latin typeface="ABeeZee"/>
              <a:ea typeface="ABeeZee"/>
              <a:cs typeface="ABeeZee"/>
              <a:sym typeface="ABeeZee"/>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240" name="Google Shape;240;p38"/>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8"/>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mana</a:t>
            </a:r>
            <a:endParaRPr sz="4100">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descr="AC Slides-01.jpeg" id="246" name="Google Shape;246;p39"/>
          <p:cNvPicPr preferRelativeResize="0"/>
          <p:nvPr/>
        </p:nvPicPr>
        <p:blipFill>
          <a:blip r:embed="rId3">
            <a:alphaModFix/>
          </a:blip>
          <a:stretch>
            <a:fillRect/>
          </a:stretch>
        </p:blipFill>
        <p:spPr>
          <a:xfrm>
            <a:off x="0" y="0"/>
            <a:ext cx="9144000" cy="5143500"/>
          </a:xfrm>
          <a:prstGeom prst="rect">
            <a:avLst/>
          </a:prstGeom>
          <a:noFill/>
          <a:ln>
            <a:noFill/>
          </a:ln>
        </p:spPr>
      </p:pic>
      <p:sp>
        <p:nvSpPr>
          <p:cNvPr id="247" name="Google Shape;247;p39"/>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9"/>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249" name="Google Shape;249;p39"/>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Types of mana</a:t>
            </a:r>
            <a:endParaRPr sz="18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Traditionally, there are three kinds of mana.</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b="1" lang="en-GB" sz="1600">
                <a:solidFill>
                  <a:schemeClr val="dk1"/>
                </a:solidFill>
                <a:latin typeface="ABeeZee"/>
                <a:ea typeface="ABeeZee"/>
                <a:cs typeface="ABeeZee"/>
                <a:sym typeface="ABeeZee"/>
              </a:rPr>
              <a:t>Mana whakaheke</a:t>
            </a:r>
            <a:endParaRPr b="1"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The mana a person is born with This mana comes from the whakapapa, or the genealogy, of the person. This could be the status/ reputation of the parents, grandparents, great-grandparents right back to the people who came across on the waka (canoes), or those who descend from royalty or well-known families.</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There is also mana from being descendants of tūpuna (ancestors) who are well known for their deeds. Some whānau (families) are known for certain skills, traits, and abilities which come from their tūpuna. This is similar to how there are families today who are known for their sporting, business, musical, or political skills.</a:t>
            </a:r>
            <a:endParaRPr sz="1600">
              <a:solidFill>
                <a:schemeClr val="dk1"/>
              </a:solidFill>
              <a:latin typeface="ABeeZee"/>
              <a:ea typeface="ABeeZee"/>
              <a:cs typeface="ABeeZee"/>
              <a:sym typeface="ABeeZee"/>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250" name="Google Shape;250;p39"/>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9"/>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mana</a:t>
            </a:r>
            <a:endParaRPr sz="4100">
              <a:solidFill>
                <a:srgbClr val="FFFF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descr="AC Slides-01.jpeg" id="256" name="Google Shape;256;p40"/>
          <p:cNvPicPr preferRelativeResize="0"/>
          <p:nvPr/>
        </p:nvPicPr>
        <p:blipFill>
          <a:blip r:embed="rId3">
            <a:alphaModFix/>
          </a:blip>
          <a:stretch>
            <a:fillRect/>
          </a:stretch>
        </p:blipFill>
        <p:spPr>
          <a:xfrm>
            <a:off x="0" y="0"/>
            <a:ext cx="9144000" cy="5143500"/>
          </a:xfrm>
          <a:prstGeom prst="rect">
            <a:avLst/>
          </a:prstGeom>
          <a:noFill/>
          <a:ln>
            <a:noFill/>
          </a:ln>
        </p:spPr>
      </p:pic>
      <p:sp>
        <p:nvSpPr>
          <p:cNvPr id="257" name="Google Shape;257;p40"/>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40"/>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259" name="Google Shape;259;p40"/>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Types of mana</a:t>
            </a:r>
            <a:endParaRPr sz="18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b="1" lang="en-GB" sz="1600">
                <a:solidFill>
                  <a:schemeClr val="dk1"/>
                </a:solidFill>
                <a:latin typeface="ABeeZee"/>
                <a:ea typeface="ABeeZee"/>
                <a:cs typeface="ABeeZee"/>
                <a:sym typeface="ABeeZee"/>
              </a:rPr>
              <a:t>Mana tuku</a:t>
            </a:r>
            <a:endParaRPr b="1" sz="1600">
              <a:solidFill>
                <a:schemeClr val="dk1"/>
              </a:solidFill>
              <a:latin typeface="ABeeZee"/>
              <a:ea typeface="ABeeZee"/>
              <a:cs typeface="ABeeZee"/>
              <a:sym typeface="ABeeZee"/>
            </a:endParaRPr>
          </a:p>
          <a:p>
            <a:pPr indent="0" lvl="0" marL="0" rtl="0" algn="l">
              <a:spcBef>
                <a:spcPts val="0"/>
              </a:spcBef>
              <a:spcAft>
                <a:spcPts val="0"/>
              </a:spcAft>
              <a:buNone/>
            </a:pPr>
            <a:r>
              <a:rPr lang="en-GB" sz="1500">
                <a:solidFill>
                  <a:schemeClr val="dk1"/>
                </a:solidFill>
                <a:latin typeface="ABeeZee"/>
                <a:ea typeface="ABeeZee"/>
                <a:cs typeface="ABeeZee"/>
                <a:sym typeface="ABeeZee"/>
              </a:rPr>
              <a:t>The mana that the people give you This is the recognition that people give for your deeds and actions. Just because a person is born from a great descent line, it does not necessarily mean that they will have great mana amongst other people. The mana a person is born with sets them off, but the way they conduct themselves throughout life will either strengthen their own personal mana—and by association the mana of their tūpuna—or weaken their own personal mana. Humility is a very highly valued trait in the Māori world. Many great leaders are very humble people, which is part of why they are revered. Other people sing their praises, thereby heightening their mana. From a Māori worldview, great leaders never sing their own praises. It is not that they are trying to be humble, it is that they just are. Mana is attributed to someone by others—not by themselves. It is not appropriate to seek mana by telling people about how important you think you are. </a:t>
            </a:r>
            <a:endParaRPr sz="1700">
              <a:latin typeface="Jost"/>
              <a:ea typeface="Jost"/>
              <a:cs typeface="Jost"/>
              <a:sym typeface="Jost"/>
            </a:endParaRPr>
          </a:p>
        </p:txBody>
      </p:sp>
      <p:sp>
        <p:nvSpPr>
          <p:cNvPr id="260" name="Google Shape;260;p40"/>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40"/>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mana</a:t>
            </a:r>
            <a:endParaRPr sz="4100">
              <a:solidFill>
                <a:srgbClr val="FFFF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descr="AC Slides-01.jpeg" id="266" name="Google Shape;266;p41"/>
          <p:cNvPicPr preferRelativeResize="0"/>
          <p:nvPr/>
        </p:nvPicPr>
        <p:blipFill>
          <a:blip r:embed="rId3">
            <a:alphaModFix/>
          </a:blip>
          <a:stretch>
            <a:fillRect/>
          </a:stretch>
        </p:blipFill>
        <p:spPr>
          <a:xfrm>
            <a:off x="0" y="0"/>
            <a:ext cx="9144000" cy="5143500"/>
          </a:xfrm>
          <a:prstGeom prst="rect">
            <a:avLst/>
          </a:prstGeom>
          <a:noFill/>
          <a:ln>
            <a:noFill/>
          </a:ln>
        </p:spPr>
      </p:pic>
      <p:sp>
        <p:nvSpPr>
          <p:cNvPr id="267" name="Google Shape;267;p41"/>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41"/>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269" name="Google Shape;269;p41"/>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Types of mana</a:t>
            </a:r>
            <a:endParaRPr sz="18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Mana ā-rōpu—group mana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This is the mana that a group has; for example, the mana of a marae, church, or group (for example, the kapa haka teams that win Te Matatini each year). This is often enhanced by mana tuku. When people stay on a marae, and are well looked after and are given great food, those manuhiri when they leave will tell everyone about the great experience, how well they were looked after, and the great food, which builds the mana of that marae and of the tangata whenua there. On the other hand, if the manuhiri were not looked after well, they would be fast to tell everyone about that also, hence weakening the mana of the particular marae involved and the tangata whenua there. Other forms of mana ā-rōpu are the mana of a whānau, a hapū, and an iwi. </a:t>
            </a:r>
            <a:endParaRPr sz="1700">
              <a:latin typeface="Jost"/>
              <a:ea typeface="Jost"/>
              <a:cs typeface="Jost"/>
              <a:sym typeface="Jost"/>
            </a:endParaRPr>
          </a:p>
        </p:txBody>
      </p:sp>
      <p:sp>
        <p:nvSpPr>
          <p:cNvPr id="270" name="Google Shape;270;p41"/>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41"/>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mana</a:t>
            </a:r>
            <a:endParaRPr sz="4100">
              <a:solidFill>
                <a:srgbClr val="FFFFF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descr="AC Slides-01.jpeg" id="276" name="Google Shape;276;p42"/>
          <p:cNvPicPr preferRelativeResize="0"/>
          <p:nvPr/>
        </p:nvPicPr>
        <p:blipFill>
          <a:blip r:embed="rId3">
            <a:alphaModFix/>
          </a:blip>
          <a:stretch>
            <a:fillRect/>
          </a:stretch>
        </p:blipFill>
        <p:spPr>
          <a:xfrm>
            <a:off x="0" y="0"/>
            <a:ext cx="9144000" cy="5143500"/>
          </a:xfrm>
          <a:prstGeom prst="rect">
            <a:avLst/>
          </a:prstGeom>
          <a:noFill/>
          <a:ln>
            <a:noFill/>
          </a:ln>
        </p:spPr>
      </p:pic>
      <p:sp>
        <p:nvSpPr>
          <p:cNvPr id="277" name="Google Shape;277;p42"/>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42"/>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279" name="Google Shape;279;p42"/>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Tama iti</a:t>
            </a:r>
            <a:endParaRPr sz="18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700">
              <a:latin typeface="Jost"/>
              <a:ea typeface="Jost"/>
              <a:cs typeface="Jost"/>
              <a:sym typeface="Jost"/>
            </a:endParaRPr>
          </a:p>
        </p:txBody>
      </p:sp>
      <p:sp>
        <p:nvSpPr>
          <p:cNvPr id="280" name="Google Shape;280;p42"/>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2"/>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mana</a:t>
            </a:r>
            <a:endParaRPr sz="4100">
              <a:solidFill>
                <a:srgbClr val="FFFFFF"/>
              </a:solidFill>
            </a:endParaRPr>
          </a:p>
        </p:txBody>
      </p:sp>
      <p:pic>
        <p:nvPicPr>
          <p:cNvPr descr="Tame explores how the old saying of &quot;Te ka nohi ki te ka nohi&quot; (Dealing with it eye to eye) creates a far more productive space for open dialogue around any issue.&#10;&#10;Tame Iti (Ngai Tuhoe/Waikato/Te Arawa) is known as many things... Activist, Artist, Terrorist and Cyclist. Literally wearing his Tuhoe heritage on his face, Iti is hard to miss in a crowd despite being just 5ft 4&quot; tall. His 40 year history of controversial and theatrical displays of political expression have included pitching a tent on parliament grounds and calling it the Maori embassy, shooting a national flag in front of government officials and the curious spate of public meetings where he appeared with a ladder so as to speak eye to eye with officials who were seated on stage. Iti explores how the old saying of &quot;Te ka nohi ki te ka nohi&quot; (Dealing with it eye to eye) creates a far more productive space for open dialogue around any issue. &quot;No one can tell you that you are not important and your experience does not matter and if they do... I challenge them to say it to your face... where they can see your eyes and feel your breath.&quot;&#10;&#10;This talk was given at a TEDx event using the TED conference format but independently organized by a local community. Learn more at http://ted.com/tedx" id="282" name="Google Shape;282;p42" title="Mana: The power in knowing who you are | Tame Iti | TEDxAuckland">
            <a:hlinkClick r:id="rId4"/>
          </p:cNvPr>
          <p:cNvPicPr preferRelativeResize="0"/>
          <p:nvPr/>
        </p:nvPicPr>
        <p:blipFill>
          <a:blip r:embed="rId5">
            <a:alphaModFix/>
          </a:blip>
          <a:stretch>
            <a:fillRect/>
          </a:stretch>
        </p:blipFill>
        <p:spPr>
          <a:xfrm>
            <a:off x="3238538" y="1392230"/>
            <a:ext cx="3724125" cy="209482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1000"/>
                                        <p:tgtEl>
                                          <p:spTgt spid="2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descr="AC Slides-01.jpeg" id="287" name="Google Shape;287;p43"/>
          <p:cNvPicPr preferRelativeResize="0"/>
          <p:nvPr/>
        </p:nvPicPr>
        <p:blipFill>
          <a:blip r:embed="rId3">
            <a:alphaModFix/>
          </a:blip>
          <a:stretch>
            <a:fillRect/>
          </a:stretch>
        </p:blipFill>
        <p:spPr>
          <a:xfrm>
            <a:off x="0" y="0"/>
            <a:ext cx="9144000" cy="5143500"/>
          </a:xfrm>
          <a:prstGeom prst="rect">
            <a:avLst/>
          </a:prstGeom>
          <a:noFill/>
          <a:ln>
            <a:noFill/>
          </a:ln>
        </p:spPr>
      </p:pic>
      <p:sp>
        <p:nvSpPr>
          <p:cNvPr id="288" name="Google Shape;288;p43"/>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43"/>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290" name="Google Shape;290;p43"/>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700">
                <a:solidFill>
                  <a:schemeClr val="dk1"/>
                </a:solidFill>
                <a:latin typeface="ABeeZee"/>
                <a:ea typeface="ABeeZee"/>
                <a:cs typeface="ABeeZee"/>
                <a:sym typeface="ABeeZee"/>
              </a:rPr>
              <a:t>Make a copy of the next three slides and answer the questions:</a:t>
            </a:r>
            <a:endParaRPr b="1" sz="1700">
              <a:solidFill>
                <a:schemeClr val="dk1"/>
              </a:solidFill>
              <a:latin typeface="ABeeZee"/>
              <a:ea typeface="ABeeZee"/>
              <a:cs typeface="ABeeZee"/>
              <a:sym typeface="ABeeZee"/>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ABeeZee"/>
              <a:ea typeface="ABeeZee"/>
              <a:cs typeface="ABeeZee"/>
              <a:sym typeface="ABeeZee"/>
            </a:endParaRPr>
          </a:p>
          <a:p>
            <a:pPr indent="0" lvl="0" marL="0" rtl="0" algn="l">
              <a:spcBef>
                <a:spcPts val="0"/>
              </a:spcBef>
              <a:spcAft>
                <a:spcPts val="0"/>
              </a:spcAft>
              <a:buNone/>
            </a:pPr>
            <a:r>
              <a:t/>
            </a:r>
            <a:endParaRPr sz="1800">
              <a:solidFill>
                <a:schemeClr val="dk1"/>
              </a:solidFill>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rPr lang="en-GB" sz="1800">
                <a:solidFill>
                  <a:schemeClr val="dk1"/>
                </a:solidFill>
                <a:latin typeface="ABeeZee"/>
                <a:ea typeface="ABeeZee"/>
                <a:cs typeface="ABeeZee"/>
                <a:sym typeface="ABeeZee"/>
              </a:rPr>
              <a:t>Think of someone in your whakapapa, family, or local community who you admire because they have mana. Record and then discuss the following questions in a small group.</a:t>
            </a:r>
            <a:endParaRPr sz="1800">
              <a:solidFill>
                <a:schemeClr val="dk1"/>
              </a:solidFill>
              <a:latin typeface="ABeeZee"/>
              <a:ea typeface="ABeeZee"/>
              <a:cs typeface="ABeeZee"/>
              <a:sym typeface="ABeeZee"/>
            </a:endParaRPr>
          </a:p>
          <a:p>
            <a:pPr indent="0" lvl="0" marL="0" rtl="0" algn="l">
              <a:spcBef>
                <a:spcPts val="0"/>
              </a:spcBef>
              <a:spcAft>
                <a:spcPts val="0"/>
              </a:spcAft>
              <a:buNone/>
            </a:pPr>
            <a:r>
              <a:t/>
            </a:r>
            <a:endParaRPr sz="1800">
              <a:solidFill>
                <a:schemeClr val="dk1"/>
              </a:solidFill>
              <a:latin typeface="ABeeZee"/>
              <a:ea typeface="ABeeZee"/>
              <a:cs typeface="ABeeZee"/>
              <a:sym typeface="ABeeZee"/>
            </a:endParaRPr>
          </a:p>
        </p:txBody>
      </p:sp>
      <p:sp>
        <p:nvSpPr>
          <p:cNvPr id="291" name="Google Shape;291;p43"/>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43"/>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mana</a:t>
            </a:r>
            <a:endParaRPr sz="4100">
              <a:solidFill>
                <a:srgbClr val="FFFF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descr="AC Slides-01.jpeg" id="297" name="Google Shape;297;p44"/>
          <p:cNvPicPr preferRelativeResize="0"/>
          <p:nvPr/>
        </p:nvPicPr>
        <p:blipFill>
          <a:blip r:embed="rId3">
            <a:alphaModFix/>
          </a:blip>
          <a:stretch>
            <a:fillRect/>
          </a:stretch>
        </p:blipFill>
        <p:spPr>
          <a:xfrm>
            <a:off x="0" y="0"/>
            <a:ext cx="9144000" cy="5143500"/>
          </a:xfrm>
          <a:prstGeom prst="rect">
            <a:avLst/>
          </a:prstGeom>
          <a:noFill/>
          <a:ln>
            <a:noFill/>
          </a:ln>
        </p:spPr>
      </p:pic>
      <p:sp>
        <p:nvSpPr>
          <p:cNvPr id="298" name="Google Shape;298;p44"/>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44"/>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300" name="Google Shape;300;p44"/>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uckiest Guy"/>
                <a:ea typeface="Luckiest Guy"/>
                <a:cs typeface="Luckiest Guy"/>
                <a:sym typeface="Luckiest Guy"/>
              </a:rPr>
              <a:t>Mana whakaheke</a:t>
            </a:r>
            <a:endParaRPr sz="1800">
              <a:solidFill>
                <a:schemeClr val="dk1"/>
              </a:solidFill>
              <a:latin typeface="Luckiest Guy"/>
              <a:ea typeface="Luckiest Guy"/>
              <a:cs typeface="Luckiest Guy"/>
              <a:sym typeface="Luckiest Guy"/>
            </a:endParaRPr>
          </a:p>
          <a:p>
            <a:pPr indent="0" lvl="0" marL="0" rtl="0" algn="l">
              <a:spcBef>
                <a:spcPts val="0"/>
              </a:spcBef>
              <a:spcAft>
                <a:spcPts val="0"/>
              </a:spcAft>
              <a:buNone/>
            </a:pPr>
            <a:r>
              <a:t/>
            </a:r>
            <a:endParaRPr sz="1800">
              <a:solidFill>
                <a:schemeClr val="dk1"/>
              </a:solidFill>
              <a:latin typeface="Luckiest Guy"/>
              <a:ea typeface="Luckiest Guy"/>
              <a:cs typeface="Luckiest Guy"/>
              <a:sym typeface="Luckiest Guy"/>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(a) What does this person do that causes you to admire him/her?</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(b) How do their behaviours/actions benefit others?</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(c) If you could describe this person in five words, what would they be?</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(d) Do you have any of these same qualities? </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800">
              <a:solidFill>
                <a:schemeClr val="dk1"/>
              </a:solidFill>
              <a:latin typeface="ABeeZee"/>
              <a:ea typeface="ABeeZee"/>
              <a:cs typeface="ABeeZee"/>
              <a:sym typeface="ABeeZee"/>
            </a:endParaRPr>
          </a:p>
          <a:p>
            <a:pPr indent="0" lvl="0" marL="0" rtl="0" algn="l">
              <a:spcBef>
                <a:spcPts val="0"/>
              </a:spcBef>
              <a:spcAft>
                <a:spcPts val="0"/>
              </a:spcAft>
              <a:buNone/>
            </a:pPr>
            <a:r>
              <a:t/>
            </a:r>
            <a:endParaRPr b="1"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500">
              <a:solidFill>
                <a:schemeClr val="dk1"/>
              </a:solidFill>
              <a:latin typeface="ABeeZee"/>
              <a:ea typeface="ABeeZee"/>
              <a:cs typeface="ABeeZee"/>
              <a:sym typeface="ABeeZee"/>
            </a:endParaRPr>
          </a:p>
        </p:txBody>
      </p:sp>
      <p:sp>
        <p:nvSpPr>
          <p:cNvPr id="301" name="Google Shape;301;p44"/>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44"/>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mana</a:t>
            </a:r>
            <a:endParaRPr sz="4100">
              <a:solidFill>
                <a:srgbClr val="FFFF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pic>
        <p:nvPicPr>
          <p:cNvPr descr="AC Slides-01.jpeg" id="307" name="Google Shape;307;p45"/>
          <p:cNvPicPr preferRelativeResize="0"/>
          <p:nvPr/>
        </p:nvPicPr>
        <p:blipFill>
          <a:blip r:embed="rId3">
            <a:alphaModFix/>
          </a:blip>
          <a:stretch>
            <a:fillRect/>
          </a:stretch>
        </p:blipFill>
        <p:spPr>
          <a:xfrm>
            <a:off x="0" y="0"/>
            <a:ext cx="9144000" cy="5143500"/>
          </a:xfrm>
          <a:prstGeom prst="rect">
            <a:avLst/>
          </a:prstGeom>
          <a:noFill/>
          <a:ln>
            <a:noFill/>
          </a:ln>
        </p:spPr>
      </p:pic>
      <p:sp>
        <p:nvSpPr>
          <p:cNvPr id="308" name="Google Shape;308;p45"/>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45"/>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310" name="Google Shape;310;p45"/>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uckiest Guy"/>
                <a:ea typeface="Luckiest Guy"/>
                <a:cs typeface="Luckiest Guy"/>
                <a:sym typeface="Luckiest Guy"/>
              </a:rPr>
              <a:t>Mana tuku</a:t>
            </a:r>
            <a:endParaRPr sz="1800">
              <a:solidFill>
                <a:schemeClr val="dk1"/>
              </a:solidFill>
              <a:latin typeface="Luckiest Guy"/>
              <a:ea typeface="Luckiest Guy"/>
              <a:cs typeface="Luckiest Guy"/>
              <a:sym typeface="Luckiest Guy"/>
            </a:endParaRPr>
          </a:p>
          <a:p>
            <a:pPr indent="0" lvl="0" marL="0" rtl="0" algn="l">
              <a:spcBef>
                <a:spcPts val="0"/>
              </a:spcBef>
              <a:spcAft>
                <a:spcPts val="0"/>
              </a:spcAft>
              <a:buNone/>
            </a:pPr>
            <a:r>
              <a:t/>
            </a:r>
            <a:endParaRPr sz="1800">
              <a:solidFill>
                <a:schemeClr val="dk1"/>
              </a:solidFill>
              <a:latin typeface="Luckiest Guy"/>
              <a:ea typeface="Luckiest Guy"/>
              <a:cs typeface="Luckiest Guy"/>
              <a:sym typeface="Luckiest Guy"/>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(a) Why are the qualities/skills described above important or useful?</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(b) How might these qualities help people to be successful in life?</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(c) How might you develop these qualities/skills? </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p:txBody>
      </p:sp>
      <p:sp>
        <p:nvSpPr>
          <p:cNvPr id="311" name="Google Shape;311;p45"/>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45"/>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mana</a:t>
            </a:r>
            <a:endParaRPr sz="4100">
              <a:solidFill>
                <a:srgbClr val="FFFFF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pic>
        <p:nvPicPr>
          <p:cNvPr descr="AC Slides-01.jpeg" id="317" name="Google Shape;317;p46"/>
          <p:cNvPicPr preferRelativeResize="0"/>
          <p:nvPr/>
        </p:nvPicPr>
        <p:blipFill>
          <a:blip r:embed="rId3">
            <a:alphaModFix/>
          </a:blip>
          <a:stretch>
            <a:fillRect/>
          </a:stretch>
        </p:blipFill>
        <p:spPr>
          <a:xfrm>
            <a:off x="0" y="0"/>
            <a:ext cx="9144000" cy="5143500"/>
          </a:xfrm>
          <a:prstGeom prst="rect">
            <a:avLst/>
          </a:prstGeom>
          <a:noFill/>
          <a:ln>
            <a:noFill/>
          </a:ln>
        </p:spPr>
      </p:pic>
      <p:sp>
        <p:nvSpPr>
          <p:cNvPr id="318" name="Google Shape;318;p46"/>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46"/>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320" name="Google Shape;320;p46"/>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uckiest Guy"/>
                <a:ea typeface="Luckiest Guy"/>
                <a:cs typeface="Luckiest Guy"/>
                <a:sym typeface="Luckiest Guy"/>
              </a:rPr>
              <a:t>Mana ā-rōpu</a:t>
            </a:r>
            <a:endParaRPr sz="1800">
              <a:solidFill>
                <a:schemeClr val="dk1"/>
              </a:solidFill>
              <a:latin typeface="Luckiest Guy"/>
              <a:ea typeface="Luckiest Guy"/>
              <a:cs typeface="Luckiest Guy"/>
              <a:sym typeface="Luckiest Guy"/>
            </a:endParaRPr>
          </a:p>
          <a:p>
            <a:pPr indent="0" lvl="0" marL="0" rtl="0" algn="l">
              <a:spcBef>
                <a:spcPts val="0"/>
              </a:spcBef>
              <a:spcAft>
                <a:spcPts val="0"/>
              </a:spcAft>
              <a:buClr>
                <a:schemeClr val="dk1"/>
              </a:buClr>
              <a:buSzPts val="1100"/>
              <a:buFont typeface="Arial"/>
              <a:buNone/>
            </a:pPr>
            <a:r>
              <a:t/>
            </a:r>
            <a:endParaRPr sz="1800">
              <a:solidFill>
                <a:schemeClr val="dk1"/>
              </a:solidFill>
              <a:latin typeface="Luckiest Guy"/>
              <a:ea typeface="Luckiest Guy"/>
              <a:cs typeface="Luckiest Guy"/>
              <a:sym typeface="Luckiest Guy"/>
            </a:endParaRPr>
          </a:p>
          <a:p>
            <a:pPr indent="0" lvl="0" marL="0" rtl="0" algn="l">
              <a:spcBef>
                <a:spcPts val="0"/>
              </a:spcBef>
              <a:spcAft>
                <a:spcPts val="0"/>
              </a:spcAft>
              <a:buClr>
                <a:schemeClr val="dk1"/>
              </a:buClr>
              <a:buSzPts val="1100"/>
              <a:buFont typeface="Arial"/>
              <a:buNone/>
            </a:pPr>
            <a:r>
              <a:rPr lang="en-GB" sz="1600">
                <a:solidFill>
                  <a:schemeClr val="dk1"/>
                </a:solidFill>
                <a:latin typeface="ABeeZee"/>
                <a:ea typeface="ABeeZee"/>
                <a:cs typeface="ABeeZee"/>
                <a:sym typeface="ABeeZee"/>
              </a:rPr>
              <a:t>(a) How do qualities like this help you to build and sustain relationships with others?</a:t>
            </a:r>
            <a:endParaRPr sz="1600">
              <a:solidFill>
                <a:schemeClr val="dk1"/>
              </a:solidFill>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rPr lang="en-GB" sz="1600">
                <a:solidFill>
                  <a:schemeClr val="dk1"/>
                </a:solidFill>
                <a:latin typeface="ABeeZee"/>
                <a:ea typeface="ABeeZee"/>
                <a:cs typeface="ABeeZee"/>
                <a:sym typeface="ABeeZee"/>
              </a:rPr>
              <a:t>(b) How might these qualities/skills be used to help/be of service to your whānau/community?</a:t>
            </a:r>
            <a:endParaRPr sz="1600">
              <a:solidFill>
                <a:schemeClr val="dk1"/>
              </a:solidFill>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rPr lang="en-GB" sz="1600">
                <a:solidFill>
                  <a:schemeClr val="dk1"/>
                </a:solidFill>
                <a:latin typeface="ABeeZee"/>
                <a:ea typeface="ABeeZee"/>
                <a:cs typeface="ABeeZee"/>
                <a:sym typeface="ABeeZee"/>
              </a:rPr>
              <a:t>(c) Collate all of the qualities identified by members of your group and consider which of these qualities you possess. In what contexts/places do you get a chance to practise/show them? How do they help you in life?</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800">
              <a:solidFill>
                <a:schemeClr val="dk1"/>
              </a:solidFill>
              <a:latin typeface="Luckiest Guy"/>
              <a:ea typeface="Luckiest Guy"/>
              <a:cs typeface="Luckiest Guy"/>
              <a:sym typeface="Luckiest Guy"/>
            </a:endParaRPr>
          </a:p>
        </p:txBody>
      </p:sp>
      <p:sp>
        <p:nvSpPr>
          <p:cNvPr id="321" name="Google Shape;321;p46"/>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46"/>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mana</a:t>
            </a:r>
            <a:endParaRPr sz="4100">
              <a:solidFill>
                <a:srgbClr val="FFFFF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pic>
        <p:nvPicPr>
          <p:cNvPr descr="AC Slides-01.jpeg" id="327" name="Google Shape;327;p47"/>
          <p:cNvPicPr preferRelativeResize="0"/>
          <p:nvPr/>
        </p:nvPicPr>
        <p:blipFill>
          <a:blip r:embed="rId3">
            <a:alphaModFix/>
          </a:blip>
          <a:stretch>
            <a:fillRect/>
          </a:stretch>
        </p:blipFill>
        <p:spPr>
          <a:xfrm>
            <a:off x="0" y="0"/>
            <a:ext cx="9144000" cy="5143500"/>
          </a:xfrm>
          <a:prstGeom prst="rect">
            <a:avLst/>
          </a:prstGeom>
          <a:noFill/>
          <a:ln>
            <a:noFill/>
          </a:ln>
        </p:spPr>
      </p:pic>
      <p:sp>
        <p:nvSpPr>
          <p:cNvPr id="328" name="Google Shape;328;p47"/>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7"/>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330" name="Google Shape;330;p47"/>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uckiest Guy"/>
                <a:ea typeface="Luckiest Guy"/>
                <a:cs typeface="Luckiest Guy"/>
                <a:sym typeface="Luckiest Guy"/>
              </a:rPr>
              <a:t>Extension - manaakitanga</a:t>
            </a:r>
            <a:endParaRPr sz="1800">
              <a:solidFill>
                <a:schemeClr val="dk1"/>
              </a:solidFill>
              <a:latin typeface="Luckiest Guy"/>
              <a:ea typeface="Luckiest Guy"/>
              <a:cs typeface="Luckiest Guy"/>
              <a:sym typeface="Luckiest Guy"/>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Manaakitanga is a commonly used word in schools in Aotearoa. It is usually used to refer to the importance of “hospitality” and/or caring for others. However, the word manaaki is made up of two words: “mana” (pride/positive self-concept) and “aki” (to cherish or nurture). Therefore, to manaaki others is to do things that cherish their mana. We might manaaki our grandmother by doing chores for her, or manaaki our best friend by helping them prepare for an important social event. The point is that we do these things because we want to show them that we care and affirm their importance in our life. </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How do you manaaki those around you?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To what effect?</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How do others manaaki you?</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What does this mean to you?</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800">
              <a:solidFill>
                <a:schemeClr val="dk1"/>
              </a:solidFill>
              <a:latin typeface="Luckiest Guy"/>
              <a:ea typeface="Luckiest Guy"/>
              <a:cs typeface="Luckiest Guy"/>
              <a:sym typeface="Luckiest Guy"/>
            </a:endParaRPr>
          </a:p>
        </p:txBody>
      </p:sp>
      <p:sp>
        <p:nvSpPr>
          <p:cNvPr id="331" name="Google Shape;331;p47"/>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7"/>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mana</a:t>
            </a:r>
            <a:endParaRPr sz="4100">
              <a:solidFill>
                <a:srgbClr val="FFFF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descr="AC Slides-01.jpeg" id="337" name="Google Shape;337;p48"/>
          <p:cNvPicPr preferRelativeResize="0"/>
          <p:nvPr/>
        </p:nvPicPr>
        <p:blipFill>
          <a:blip r:embed="rId3">
            <a:alphaModFix/>
          </a:blip>
          <a:stretch>
            <a:fillRect/>
          </a:stretch>
        </p:blipFill>
        <p:spPr>
          <a:xfrm>
            <a:off x="0" y="0"/>
            <a:ext cx="9144000" cy="5143500"/>
          </a:xfrm>
          <a:prstGeom prst="rect">
            <a:avLst/>
          </a:prstGeom>
          <a:noFill/>
          <a:ln>
            <a:noFill/>
          </a:ln>
        </p:spPr>
      </p:pic>
      <p:sp>
        <p:nvSpPr>
          <p:cNvPr id="338" name="Google Shape;338;p48"/>
          <p:cNvSpPr txBox="1"/>
          <p:nvPr/>
        </p:nvSpPr>
        <p:spPr>
          <a:xfrm>
            <a:off x="451700" y="2797700"/>
            <a:ext cx="7265100" cy="2143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GB" sz="2200">
                <a:latin typeface="Calibri"/>
                <a:ea typeface="Calibri"/>
                <a:cs typeface="Calibri"/>
                <a:sym typeface="Calibri"/>
              </a:rPr>
              <a:t>Vision</a:t>
            </a:r>
            <a:endParaRPr b="1" sz="2200">
              <a:latin typeface="Calibri"/>
              <a:ea typeface="Calibri"/>
              <a:cs typeface="Calibri"/>
              <a:sym typeface="Calibri"/>
            </a:endParaRPr>
          </a:p>
          <a:p>
            <a:pPr indent="0" lvl="0" marL="0" rtl="0" algn="just">
              <a:spcBef>
                <a:spcPts val="0"/>
              </a:spcBef>
              <a:spcAft>
                <a:spcPts val="0"/>
              </a:spcAft>
              <a:buNone/>
            </a:pPr>
            <a:r>
              <a:rPr lang="en-GB" sz="2200">
                <a:solidFill>
                  <a:srgbClr val="000000"/>
                </a:solidFill>
                <a:latin typeface="Calibri"/>
                <a:ea typeface="Calibri"/>
                <a:cs typeface="Calibri"/>
                <a:sym typeface="Calibri"/>
              </a:rPr>
              <a:t>Alfriston College is a learning community</a:t>
            </a:r>
            <a:r>
              <a:rPr b="1" lang="en-GB" sz="2200">
                <a:solidFill>
                  <a:srgbClr val="000000"/>
                </a:solidFill>
                <a:latin typeface="Calibri"/>
                <a:ea typeface="Calibri"/>
                <a:cs typeface="Calibri"/>
                <a:sym typeface="Calibri"/>
              </a:rPr>
              <a:t> </a:t>
            </a:r>
            <a:r>
              <a:rPr lang="en-GB" sz="2200">
                <a:solidFill>
                  <a:srgbClr val="000000"/>
                </a:solidFill>
                <a:latin typeface="Calibri"/>
                <a:ea typeface="Calibri"/>
                <a:cs typeface="Calibri"/>
                <a:sym typeface="Calibri"/>
              </a:rPr>
              <a:t>dedicated to developing and supporting </a:t>
            </a:r>
            <a:r>
              <a:rPr b="1" lang="en-GB" sz="2200">
                <a:solidFill>
                  <a:srgbClr val="980000"/>
                </a:solidFill>
                <a:latin typeface="Calibri"/>
                <a:ea typeface="Calibri"/>
                <a:cs typeface="Calibri"/>
                <a:sym typeface="Calibri"/>
              </a:rPr>
              <a:t>lifelong independent learners</a:t>
            </a:r>
            <a:r>
              <a:rPr lang="en-GB" sz="2200">
                <a:solidFill>
                  <a:srgbClr val="000000"/>
                </a:solidFill>
                <a:latin typeface="Calibri"/>
                <a:ea typeface="Calibri"/>
                <a:cs typeface="Calibri"/>
                <a:sym typeface="Calibri"/>
              </a:rPr>
              <a:t> by creating an environment that fosters a sense of </a:t>
            </a:r>
            <a:r>
              <a:rPr b="1" lang="en-GB" sz="2200">
                <a:solidFill>
                  <a:srgbClr val="980000"/>
                </a:solidFill>
                <a:latin typeface="Calibri"/>
                <a:ea typeface="Calibri"/>
                <a:cs typeface="Calibri"/>
                <a:sym typeface="Calibri"/>
              </a:rPr>
              <a:t>Belonging</a:t>
            </a:r>
            <a:r>
              <a:rPr lang="en-GB" sz="2200">
                <a:solidFill>
                  <a:srgbClr val="000000"/>
                </a:solidFill>
                <a:latin typeface="Calibri"/>
                <a:ea typeface="Calibri"/>
                <a:cs typeface="Calibri"/>
                <a:sym typeface="Calibri"/>
              </a:rPr>
              <a:t>, values </a:t>
            </a:r>
            <a:r>
              <a:rPr b="1" lang="en-GB" sz="2200">
                <a:solidFill>
                  <a:srgbClr val="980000"/>
                </a:solidFill>
                <a:latin typeface="Calibri"/>
                <a:ea typeface="Calibri"/>
                <a:cs typeface="Calibri"/>
                <a:sym typeface="Calibri"/>
              </a:rPr>
              <a:t>Learning</a:t>
            </a:r>
            <a:r>
              <a:rPr lang="en-GB" sz="2200">
                <a:solidFill>
                  <a:srgbClr val="000000"/>
                </a:solidFill>
                <a:latin typeface="Calibri"/>
                <a:ea typeface="Calibri"/>
                <a:cs typeface="Calibri"/>
                <a:sym typeface="Calibri"/>
              </a:rPr>
              <a:t>, and expects </a:t>
            </a:r>
            <a:r>
              <a:rPr b="1" lang="en-GB" sz="2200">
                <a:solidFill>
                  <a:srgbClr val="980000"/>
                </a:solidFill>
                <a:latin typeface="Calibri"/>
                <a:ea typeface="Calibri"/>
                <a:cs typeface="Calibri"/>
                <a:sym typeface="Calibri"/>
              </a:rPr>
              <a:t>Success</a:t>
            </a:r>
            <a:r>
              <a:rPr lang="en-GB" sz="2200">
                <a:solidFill>
                  <a:srgbClr val="000000"/>
                </a:solidFill>
                <a:latin typeface="Calibri"/>
                <a:ea typeface="Calibri"/>
                <a:cs typeface="Calibri"/>
                <a:sym typeface="Calibri"/>
              </a:rPr>
              <a:t>.</a:t>
            </a:r>
            <a:endParaRPr sz="2200">
              <a:solidFill>
                <a:srgbClr val="000000"/>
              </a:solidFill>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3000">
              <a:solidFill>
                <a:srgbClr val="222B67"/>
              </a:solidFill>
            </a:endParaRPr>
          </a:p>
        </p:txBody>
      </p:sp>
      <p:pic>
        <p:nvPicPr>
          <p:cNvPr descr="Alfriston College Logo-12.png" id="339" name="Google Shape;339;p48"/>
          <p:cNvPicPr preferRelativeResize="0"/>
          <p:nvPr/>
        </p:nvPicPr>
        <p:blipFill>
          <a:blip r:embed="rId4">
            <a:alphaModFix/>
          </a:blip>
          <a:stretch>
            <a:fillRect/>
          </a:stretch>
        </p:blipFill>
        <p:spPr>
          <a:xfrm>
            <a:off x="7997098" y="79002"/>
            <a:ext cx="1092277" cy="1524425"/>
          </a:xfrm>
          <a:prstGeom prst="rect">
            <a:avLst/>
          </a:prstGeom>
          <a:noFill/>
          <a:ln>
            <a:noFill/>
          </a:ln>
        </p:spPr>
      </p:pic>
      <p:pic>
        <p:nvPicPr>
          <p:cNvPr descr="AC Slides with corner pattern-01.jpeg" id="340" name="Google Shape;340;p48"/>
          <p:cNvPicPr preferRelativeResize="0"/>
          <p:nvPr/>
        </p:nvPicPr>
        <p:blipFill>
          <a:blip r:embed="rId5">
            <a:alphaModFix/>
          </a:blip>
          <a:stretch>
            <a:fillRect/>
          </a:stretch>
        </p:blipFill>
        <p:spPr>
          <a:xfrm>
            <a:off x="0" y="0"/>
            <a:ext cx="9144000" cy="5143500"/>
          </a:xfrm>
          <a:prstGeom prst="rect">
            <a:avLst/>
          </a:prstGeom>
          <a:noFill/>
          <a:ln>
            <a:noFill/>
          </a:ln>
        </p:spPr>
      </p:pic>
      <p:pic>
        <p:nvPicPr>
          <p:cNvPr descr="Alfriston College Logo-12.png" id="341" name="Google Shape;341;p48"/>
          <p:cNvPicPr preferRelativeResize="0"/>
          <p:nvPr/>
        </p:nvPicPr>
        <p:blipFill>
          <a:blip r:embed="rId4">
            <a:alphaModFix/>
          </a:blip>
          <a:stretch>
            <a:fillRect/>
          </a:stretch>
        </p:blipFill>
        <p:spPr>
          <a:xfrm>
            <a:off x="7997098" y="79002"/>
            <a:ext cx="1092277" cy="1524425"/>
          </a:xfrm>
          <a:prstGeom prst="rect">
            <a:avLst/>
          </a:prstGeom>
          <a:noFill/>
          <a:ln>
            <a:noFill/>
          </a:ln>
        </p:spPr>
      </p:pic>
      <p:sp>
        <p:nvSpPr>
          <p:cNvPr id="342" name="Google Shape;342;p48"/>
          <p:cNvSpPr txBox="1"/>
          <p:nvPr/>
        </p:nvSpPr>
        <p:spPr>
          <a:xfrm>
            <a:off x="1507600" y="1742275"/>
            <a:ext cx="5711700" cy="133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4100">
                <a:latin typeface="Luckiest Guy"/>
                <a:ea typeface="Luckiest Guy"/>
                <a:cs typeface="Luckiest Guy"/>
                <a:sym typeface="Luckiest Guy"/>
              </a:rPr>
              <a:t>Level 2 health</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Term 2 | week 1</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Mon 28 April</a:t>
            </a:r>
            <a:endParaRPr sz="4100">
              <a:latin typeface="Luckiest Guy"/>
              <a:ea typeface="Luckiest Guy"/>
              <a:cs typeface="Luckiest Guy"/>
              <a:sym typeface="Luckiest Guy"/>
            </a:endParaRPr>
          </a:p>
          <a:p>
            <a:pPr indent="0" lvl="0" marL="0" rtl="0" algn="ctr">
              <a:spcBef>
                <a:spcPts val="0"/>
              </a:spcBef>
              <a:spcAft>
                <a:spcPts val="0"/>
              </a:spcAft>
              <a:buNone/>
            </a:pPr>
            <a:r>
              <a:t/>
            </a:r>
            <a:endParaRPr sz="4100">
              <a:latin typeface="Luckiest Guy"/>
              <a:ea typeface="Luckiest Guy"/>
              <a:cs typeface="Luckiest Guy"/>
              <a:sym typeface="Luckiest Guy"/>
            </a:endParaRPr>
          </a:p>
          <a:p>
            <a:pPr indent="0" lvl="0" marL="0" rtl="0" algn="ctr">
              <a:spcBef>
                <a:spcPts val="0"/>
              </a:spcBef>
              <a:spcAft>
                <a:spcPts val="0"/>
              </a:spcAft>
              <a:buNone/>
            </a:pPr>
            <a:r>
              <a:t/>
            </a:r>
            <a:endParaRPr sz="1800">
              <a:highlight>
                <a:srgbClr val="FF00FF"/>
              </a:highlight>
              <a:latin typeface="Luckiest Guy"/>
              <a:ea typeface="Luckiest Guy"/>
              <a:cs typeface="Luckiest Guy"/>
              <a:sym typeface="Luckiest Guy"/>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348" name="Google Shape;348;p4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AC Slides with corner pattern-02.jpeg" id="349" name="Google Shape;349;p49"/>
          <p:cNvPicPr preferRelativeResize="0"/>
          <p:nvPr/>
        </p:nvPicPr>
        <p:blipFill>
          <a:blip r:embed="rId3">
            <a:alphaModFix/>
          </a:blip>
          <a:stretch>
            <a:fillRect/>
          </a:stretch>
        </p:blipFill>
        <p:spPr>
          <a:xfrm>
            <a:off x="0" y="-58300"/>
            <a:ext cx="9144000" cy="5143500"/>
          </a:xfrm>
          <a:prstGeom prst="rect">
            <a:avLst/>
          </a:prstGeom>
          <a:noFill/>
          <a:ln>
            <a:noFill/>
          </a:ln>
        </p:spPr>
      </p:pic>
      <p:cxnSp>
        <p:nvCxnSpPr>
          <p:cNvPr id="350" name="Google Shape;350;p49"/>
          <p:cNvCxnSpPr/>
          <p:nvPr/>
        </p:nvCxnSpPr>
        <p:spPr>
          <a:xfrm>
            <a:off x="402225" y="549400"/>
            <a:ext cx="24600" cy="4343700"/>
          </a:xfrm>
          <a:prstGeom prst="straightConnector1">
            <a:avLst/>
          </a:prstGeom>
          <a:noFill/>
          <a:ln cap="flat" cmpd="sng" w="28575">
            <a:solidFill>
              <a:srgbClr val="D01E38"/>
            </a:solidFill>
            <a:prstDash val="solid"/>
            <a:round/>
            <a:headEnd len="med" w="med" type="none"/>
            <a:tailEnd len="med" w="med" type="none"/>
          </a:ln>
        </p:spPr>
      </p:cxnSp>
      <p:sp>
        <p:nvSpPr>
          <p:cNvPr id="351" name="Google Shape;351;p49"/>
          <p:cNvSpPr txBox="1"/>
          <p:nvPr/>
        </p:nvSpPr>
        <p:spPr>
          <a:xfrm>
            <a:off x="426825" y="128625"/>
            <a:ext cx="8717400" cy="478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3600">
                <a:latin typeface="Luckiest Guy"/>
                <a:ea typeface="Luckiest Guy"/>
                <a:cs typeface="Luckiest Guy"/>
                <a:sym typeface="Luckiest Guy"/>
              </a:rPr>
              <a:t>Do now</a:t>
            </a:r>
            <a:endParaRPr b="1" sz="3600">
              <a:latin typeface="Jost"/>
              <a:ea typeface="Jost"/>
              <a:cs typeface="Jost"/>
              <a:sym typeface="Jost"/>
            </a:endParaRPr>
          </a:p>
          <a:p>
            <a:pPr indent="-355600" lvl="0" marL="457200" rtl="0" algn="l">
              <a:lnSpc>
                <a:spcPct val="115000"/>
              </a:lnSpc>
              <a:spcBef>
                <a:spcPts val="1200"/>
              </a:spcBef>
              <a:spcAft>
                <a:spcPts val="0"/>
              </a:spcAft>
              <a:buSzPts val="2000"/>
              <a:buFont typeface="ABeeZee"/>
              <a:buAutoNum type="arabicPeriod"/>
            </a:pPr>
            <a:r>
              <a:rPr lang="en-GB" sz="2000">
                <a:latin typeface="ABeeZee"/>
                <a:ea typeface="ABeeZee"/>
                <a:cs typeface="ABeeZee"/>
                <a:sym typeface="ABeeZee"/>
              </a:rPr>
              <a:t>Collect your SMART goals worksheet</a:t>
            </a:r>
            <a:endParaRPr sz="2000">
              <a:latin typeface="ABeeZee"/>
              <a:ea typeface="ABeeZee"/>
              <a:cs typeface="ABeeZee"/>
              <a:sym typeface="ABeeZee"/>
            </a:endParaRPr>
          </a:p>
          <a:p>
            <a:pPr indent="-355600" lvl="0" marL="457200" rtl="0" algn="l">
              <a:lnSpc>
                <a:spcPct val="115000"/>
              </a:lnSpc>
              <a:spcBef>
                <a:spcPts val="0"/>
              </a:spcBef>
              <a:spcAft>
                <a:spcPts val="0"/>
              </a:spcAft>
              <a:buSzPts val="2000"/>
              <a:buFont typeface="ABeeZee"/>
              <a:buAutoNum type="arabicPeriod"/>
            </a:pPr>
            <a:r>
              <a:rPr lang="en-GB" sz="2000">
                <a:latin typeface="ABeeZee"/>
                <a:ea typeface="ABeeZee"/>
                <a:cs typeface="ABeeZee"/>
                <a:sym typeface="ABeeZee"/>
              </a:rPr>
              <a:t>If incomplete, please complete and laminate</a:t>
            </a:r>
            <a:endParaRPr sz="2000">
              <a:latin typeface="ABeeZee"/>
              <a:ea typeface="ABeeZee"/>
              <a:cs typeface="ABeeZee"/>
              <a:sym typeface="ABeeZee"/>
            </a:endParaRPr>
          </a:p>
          <a:p>
            <a:pPr indent="-355600" lvl="0" marL="457200" rtl="0" algn="l">
              <a:lnSpc>
                <a:spcPct val="115000"/>
              </a:lnSpc>
              <a:spcBef>
                <a:spcPts val="0"/>
              </a:spcBef>
              <a:spcAft>
                <a:spcPts val="0"/>
              </a:spcAft>
              <a:buSzPts val="2000"/>
              <a:buFont typeface="ABeeZee"/>
              <a:buAutoNum type="arabicPeriod"/>
            </a:pPr>
            <a:r>
              <a:rPr lang="en-GB" sz="2000">
                <a:latin typeface="ABeeZee"/>
                <a:ea typeface="ABeeZee"/>
                <a:cs typeface="ABeeZee"/>
                <a:sym typeface="ABeeZee"/>
              </a:rPr>
              <a:t>If/when completed and laminated, cut our the heart and SMART goal. Collect some velcro dots (rough side) and hand in to LL</a:t>
            </a:r>
            <a:endParaRPr sz="2000">
              <a:latin typeface="ABeeZee"/>
              <a:ea typeface="ABeeZee"/>
              <a:cs typeface="ABeeZee"/>
              <a:sym typeface="ABeeZee"/>
            </a:endParaRPr>
          </a:p>
          <a:p>
            <a:pPr indent="-355600" lvl="0" marL="457200" rtl="0" algn="l">
              <a:lnSpc>
                <a:spcPct val="115000"/>
              </a:lnSpc>
              <a:spcBef>
                <a:spcPts val="0"/>
              </a:spcBef>
              <a:spcAft>
                <a:spcPts val="0"/>
              </a:spcAft>
              <a:buSzPts val="2000"/>
              <a:buFont typeface="ABeeZee"/>
              <a:buAutoNum type="arabicPeriod"/>
            </a:pPr>
            <a:r>
              <a:rPr lang="en-GB" sz="2000">
                <a:latin typeface="ABeeZee"/>
                <a:ea typeface="ABeeZee"/>
                <a:cs typeface="ABeeZee"/>
                <a:sym typeface="ABeeZee"/>
              </a:rPr>
              <a:t>Once you have completed (3) start working on your Mana questions and </a:t>
            </a:r>
            <a:r>
              <a:rPr lang="en-GB" sz="2000">
                <a:latin typeface="ABeeZee"/>
                <a:ea typeface="ABeeZee"/>
                <a:cs typeface="ABeeZee"/>
                <a:sym typeface="ABeeZee"/>
              </a:rPr>
              <a:t>answers</a:t>
            </a:r>
            <a:r>
              <a:rPr lang="en-GB" sz="2000">
                <a:latin typeface="ABeeZee"/>
                <a:ea typeface="ABeeZee"/>
                <a:cs typeface="ABeeZee"/>
                <a:sym typeface="ABeeZee"/>
              </a:rPr>
              <a:t> on your Slides Doc</a:t>
            </a:r>
            <a:endParaRPr sz="2000">
              <a:latin typeface="ABeeZee"/>
              <a:ea typeface="ABeeZee"/>
              <a:cs typeface="ABeeZee"/>
              <a:sym typeface="ABeeZee"/>
            </a:endParaRPr>
          </a:p>
          <a:p>
            <a:pPr indent="0" lvl="0" marL="0" rtl="0" algn="l">
              <a:lnSpc>
                <a:spcPct val="115000"/>
              </a:lnSpc>
              <a:spcBef>
                <a:spcPts val="1200"/>
              </a:spcBef>
              <a:spcAft>
                <a:spcPts val="1200"/>
              </a:spcAft>
              <a:buNone/>
            </a:pPr>
            <a:r>
              <a:t/>
            </a:r>
            <a:endParaRPr sz="2100">
              <a:latin typeface="ABeeZee"/>
              <a:ea typeface="ABeeZee"/>
              <a:cs typeface="ABeeZee"/>
              <a:sym typeface="ABeeZee"/>
            </a:endParaRPr>
          </a:p>
        </p:txBody>
      </p:sp>
      <p:pic>
        <p:nvPicPr>
          <p:cNvPr descr="This timer silently counts down to 0:00, then alerts you that time is up with a gentle beep sound." id="352" name="Google Shape;352;p49" title="15 Minute Timer">
            <a:hlinkClick r:id="rId4"/>
          </p:cNvPr>
          <p:cNvPicPr preferRelativeResize="0"/>
          <p:nvPr/>
        </p:nvPicPr>
        <p:blipFill>
          <a:blip r:embed="rId5">
            <a:alphaModFix/>
          </a:blip>
          <a:stretch>
            <a:fillRect/>
          </a:stretch>
        </p:blipFill>
        <p:spPr>
          <a:xfrm>
            <a:off x="986975" y="3178600"/>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1000"/>
                                        <p:tgtEl>
                                          <p:spTgt spid="3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descr="AC Slides-01.jpeg" id="357" name="Google Shape;357;p50"/>
          <p:cNvPicPr preferRelativeResize="0"/>
          <p:nvPr/>
        </p:nvPicPr>
        <p:blipFill>
          <a:blip r:embed="rId3">
            <a:alphaModFix/>
          </a:blip>
          <a:stretch>
            <a:fillRect/>
          </a:stretch>
        </p:blipFill>
        <p:spPr>
          <a:xfrm>
            <a:off x="0" y="0"/>
            <a:ext cx="9144000" cy="5143500"/>
          </a:xfrm>
          <a:prstGeom prst="rect">
            <a:avLst/>
          </a:prstGeom>
          <a:noFill/>
          <a:ln>
            <a:noFill/>
          </a:ln>
        </p:spPr>
      </p:pic>
      <p:sp>
        <p:nvSpPr>
          <p:cNvPr id="358" name="Google Shape;358;p50"/>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50"/>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360" name="Google Shape;360;p50"/>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Learning intention</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600">
                <a:solidFill>
                  <a:schemeClr val="dk1"/>
                </a:solidFill>
                <a:latin typeface="ABeeZee"/>
                <a:ea typeface="ABeeZee"/>
                <a:cs typeface="ABeeZee"/>
                <a:sym typeface="ABeeZee"/>
              </a:rPr>
              <a:t>To build knowledge of our Gender and Sexuality</a:t>
            </a:r>
            <a:endParaRPr sz="2300">
              <a:latin typeface="Luckiest Guy"/>
              <a:ea typeface="Luckiest Guy"/>
              <a:cs typeface="Luckiest Guy"/>
              <a:sym typeface="Luckiest Guy"/>
            </a:endParaRPr>
          </a:p>
          <a:p>
            <a:pPr indent="0" lvl="0" marL="0" rtl="0" algn="l">
              <a:spcBef>
                <a:spcPts val="1200"/>
              </a:spcBef>
              <a:spcAft>
                <a:spcPts val="0"/>
              </a:spcAft>
              <a:buNone/>
            </a:pPr>
            <a:r>
              <a:t/>
            </a:r>
            <a:endParaRPr b="1" sz="2300">
              <a:latin typeface="Jost"/>
              <a:ea typeface="Jost"/>
              <a:cs typeface="Jost"/>
              <a:sym typeface="Jost"/>
            </a:endParaRPr>
          </a:p>
          <a:p>
            <a:pPr indent="0" lvl="0" marL="0" rtl="0" algn="l">
              <a:spcBef>
                <a:spcPts val="0"/>
              </a:spcBef>
              <a:spcAft>
                <a:spcPts val="0"/>
              </a:spcAft>
              <a:buNone/>
            </a:pPr>
            <a:r>
              <a:rPr lang="en-GB" sz="2500">
                <a:solidFill>
                  <a:schemeClr val="dk1"/>
                </a:solidFill>
                <a:latin typeface="Luckiest Guy"/>
                <a:ea typeface="Luckiest Guy"/>
                <a:cs typeface="Luckiest Guy"/>
                <a:sym typeface="Luckiest Guy"/>
              </a:rPr>
              <a:t>Success criteria</a:t>
            </a:r>
            <a:endParaRPr sz="1700">
              <a:solidFill>
                <a:schemeClr val="dk1"/>
              </a:solidFill>
              <a:latin typeface="Jost"/>
              <a:ea typeface="Jost"/>
              <a:cs typeface="Jost"/>
              <a:sym typeface="Jost"/>
            </a:endParaRPr>
          </a:p>
          <a:p>
            <a:pPr indent="-336550" lvl="0" marL="457200" rtl="0" algn="l">
              <a:lnSpc>
                <a:spcPct val="115000"/>
              </a:lnSpc>
              <a:spcBef>
                <a:spcPts val="1200"/>
              </a:spcBef>
              <a:spcAft>
                <a:spcPts val="0"/>
              </a:spcAft>
              <a:buClr>
                <a:schemeClr val="dk1"/>
              </a:buClr>
              <a:buSzPts val="1700"/>
              <a:buFont typeface="ABeeZee"/>
              <a:buChar char="●"/>
            </a:pPr>
            <a:r>
              <a:rPr lang="en-GB" sz="1700">
                <a:solidFill>
                  <a:schemeClr val="dk1"/>
                </a:solidFill>
                <a:latin typeface="ABeeZee"/>
                <a:ea typeface="ABeeZee"/>
                <a:cs typeface="ABeeZee"/>
                <a:sym typeface="ABeeZee"/>
              </a:rPr>
              <a:t>Identify differences between gender and sexuality</a:t>
            </a:r>
            <a:endParaRPr sz="1700">
              <a:solidFill>
                <a:schemeClr val="dk1"/>
              </a:solidFill>
              <a:latin typeface="ABeeZee"/>
              <a:ea typeface="ABeeZee"/>
              <a:cs typeface="ABeeZee"/>
              <a:sym typeface="ABeeZee"/>
            </a:endParaRPr>
          </a:p>
          <a:p>
            <a:pPr indent="-336550" lvl="0" marL="457200" rtl="0" algn="l">
              <a:lnSpc>
                <a:spcPct val="115000"/>
              </a:lnSpc>
              <a:spcBef>
                <a:spcPts val="0"/>
              </a:spcBef>
              <a:spcAft>
                <a:spcPts val="0"/>
              </a:spcAft>
              <a:buClr>
                <a:schemeClr val="dk1"/>
              </a:buClr>
              <a:buSzPts val="1700"/>
              <a:buFont typeface="ABeeZee"/>
              <a:buChar char="●"/>
            </a:pPr>
            <a:r>
              <a:rPr lang="en-GB" sz="1700">
                <a:solidFill>
                  <a:schemeClr val="dk1"/>
                </a:solidFill>
                <a:latin typeface="ABeeZee"/>
                <a:ea typeface="ABeeZee"/>
                <a:cs typeface="ABeeZee"/>
                <a:sym typeface="ABeeZee"/>
              </a:rPr>
              <a:t>Identify key terms used for gender and sexuality</a:t>
            </a:r>
            <a:endParaRPr sz="17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361" name="Google Shape;361;p50"/>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50"/>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pic>
        <p:nvPicPr>
          <p:cNvPr descr="AC Slides-01.jpeg" id="367" name="Google Shape;367;p51"/>
          <p:cNvPicPr preferRelativeResize="0"/>
          <p:nvPr/>
        </p:nvPicPr>
        <p:blipFill>
          <a:blip r:embed="rId3">
            <a:alphaModFix/>
          </a:blip>
          <a:stretch>
            <a:fillRect/>
          </a:stretch>
        </p:blipFill>
        <p:spPr>
          <a:xfrm>
            <a:off x="0" y="0"/>
            <a:ext cx="9144000" cy="5143500"/>
          </a:xfrm>
          <a:prstGeom prst="rect">
            <a:avLst/>
          </a:prstGeom>
          <a:noFill/>
          <a:ln>
            <a:noFill/>
          </a:ln>
        </p:spPr>
      </p:pic>
      <p:sp>
        <p:nvSpPr>
          <p:cNvPr id="368" name="Google Shape;368;p51"/>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51"/>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370" name="Google Shape;370;p51"/>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solidFill>
                  <a:schemeClr val="dk1"/>
                </a:solidFill>
                <a:latin typeface="ABeeZee"/>
                <a:ea typeface="ABeeZee"/>
                <a:cs typeface="ABeeZee"/>
                <a:sym typeface="ABeeZee"/>
              </a:rPr>
              <a:t>Gender</a:t>
            </a:r>
            <a:endParaRPr b="1" sz="1500">
              <a:solidFill>
                <a:schemeClr val="dk1"/>
              </a:solidFill>
              <a:latin typeface="ABeeZee"/>
              <a:ea typeface="ABeeZee"/>
              <a:cs typeface="ABeeZee"/>
              <a:sym typeface="ABeeZee"/>
            </a:endParaRPr>
          </a:p>
          <a:p>
            <a:pPr indent="0" lvl="0" marL="0" rtl="0" algn="l">
              <a:spcBef>
                <a:spcPts val="0"/>
              </a:spcBef>
              <a:spcAft>
                <a:spcPts val="0"/>
              </a:spcAft>
              <a:buNone/>
            </a:pPr>
            <a:r>
              <a:rPr lang="en-GB" sz="1500">
                <a:solidFill>
                  <a:schemeClr val="dk1"/>
                </a:solidFill>
                <a:latin typeface="ABeeZee"/>
                <a:ea typeface="ABeeZee"/>
                <a:cs typeface="ABeeZee"/>
                <a:sym typeface="ABeeZee"/>
              </a:rPr>
              <a:t>While many people assume that gender is fixed or stable, it is actually a social construct. </a:t>
            </a:r>
            <a:endParaRPr sz="1500">
              <a:solidFill>
                <a:schemeClr val="dk1"/>
              </a:solidFill>
              <a:latin typeface="ABeeZee"/>
              <a:ea typeface="ABeeZee"/>
              <a:cs typeface="ABeeZee"/>
              <a:sym typeface="ABeeZee"/>
            </a:endParaRPr>
          </a:p>
          <a:p>
            <a:pPr indent="0" lvl="0" marL="0" rtl="0" algn="l">
              <a:spcBef>
                <a:spcPts val="0"/>
              </a:spcBef>
              <a:spcAft>
                <a:spcPts val="0"/>
              </a:spcAft>
              <a:buNone/>
            </a:pPr>
            <a:r>
              <a:t/>
            </a:r>
            <a:endParaRPr sz="1500">
              <a:solidFill>
                <a:schemeClr val="dk1"/>
              </a:solidFill>
              <a:latin typeface="ABeeZee"/>
              <a:ea typeface="ABeeZee"/>
              <a:cs typeface="ABeeZee"/>
              <a:sym typeface="ABeeZee"/>
            </a:endParaRPr>
          </a:p>
          <a:p>
            <a:pPr indent="0" lvl="0" marL="0" rtl="0" algn="l">
              <a:spcBef>
                <a:spcPts val="0"/>
              </a:spcBef>
              <a:spcAft>
                <a:spcPts val="0"/>
              </a:spcAft>
              <a:buNone/>
            </a:pPr>
            <a:r>
              <a:rPr lang="en-GB" sz="1500">
                <a:solidFill>
                  <a:schemeClr val="dk1"/>
                </a:solidFill>
                <a:latin typeface="ABeeZee"/>
                <a:ea typeface="ABeeZee"/>
                <a:cs typeface="ABeeZee"/>
                <a:sym typeface="ABeeZee"/>
              </a:rPr>
              <a:t>The World Health Organisation (WHO) defines gender as follows: </a:t>
            </a:r>
            <a:endParaRPr sz="1500">
              <a:solidFill>
                <a:schemeClr val="dk1"/>
              </a:solidFill>
              <a:latin typeface="ABeeZee"/>
              <a:ea typeface="ABeeZee"/>
              <a:cs typeface="ABeeZee"/>
              <a:sym typeface="ABeeZee"/>
            </a:endParaRPr>
          </a:p>
          <a:p>
            <a:pPr indent="0" lvl="0" marL="0" rtl="0" algn="l">
              <a:spcBef>
                <a:spcPts val="0"/>
              </a:spcBef>
              <a:spcAft>
                <a:spcPts val="0"/>
              </a:spcAft>
              <a:buNone/>
            </a:pPr>
            <a:r>
              <a:t/>
            </a:r>
            <a:endParaRPr sz="1500">
              <a:solidFill>
                <a:schemeClr val="dk1"/>
              </a:solidFill>
              <a:latin typeface="ABeeZee"/>
              <a:ea typeface="ABeeZee"/>
              <a:cs typeface="ABeeZee"/>
              <a:sym typeface="ABeeZee"/>
            </a:endParaRPr>
          </a:p>
          <a:p>
            <a:pPr indent="0" lvl="0" marL="0" rtl="0" algn="l">
              <a:spcBef>
                <a:spcPts val="0"/>
              </a:spcBef>
              <a:spcAft>
                <a:spcPts val="0"/>
              </a:spcAft>
              <a:buNone/>
            </a:pPr>
            <a:r>
              <a:rPr lang="en-GB" sz="1500">
                <a:solidFill>
                  <a:schemeClr val="dk1"/>
                </a:solidFill>
                <a:latin typeface="ABeeZee"/>
                <a:ea typeface="ABeeZee"/>
                <a:cs typeface="ABeeZee"/>
                <a:sym typeface="ABeeZee"/>
              </a:rPr>
              <a:t>Gender </a:t>
            </a:r>
            <a:r>
              <a:rPr lang="en-GB" sz="1500">
                <a:solidFill>
                  <a:schemeClr val="dk1"/>
                </a:solidFill>
                <a:latin typeface="ABeeZee"/>
                <a:ea typeface="ABeeZee"/>
                <a:cs typeface="ABeeZee"/>
                <a:sym typeface="ABeeZee"/>
              </a:rPr>
              <a:t>refers </a:t>
            </a:r>
            <a:r>
              <a:rPr lang="en-GB" sz="1500">
                <a:solidFill>
                  <a:schemeClr val="dk1"/>
                </a:solidFill>
                <a:latin typeface="ABeeZee"/>
                <a:ea typeface="ABeeZee"/>
                <a:cs typeface="ABeeZee"/>
                <a:sym typeface="ABeeZee"/>
              </a:rPr>
              <a:t>to the socially constructed characteristics of women and men—such as norms, roles and relationships of and between groups of women and men.</a:t>
            </a:r>
            <a:endParaRPr sz="1500">
              <a:solidFill>
                <a:schemeClr val="dk1"/>
              </a:solidFill>
              <a:latin typeface="ABeeZee"/>
              <a:ea typeface="ABeeZee"/>
              <a:cs typeface="ABeeZee"/>
              <a:sym typeface="ABeeZee"/>
            </a:endParaRPr>
          </a:p>
          <a:p>
            <a:pPr indent="0" lvl="0" marL="0" rtl="0" algn="l">
              <a:spcBef>
                <a:spcPts val="0"/>
              </a:spcBef>
              <a:spcAft>
                <a:spcPts val="0"/>
              </a:spcAft>
              <a:buNone/>
            </a:pPr>
            <a:r>
              <a:t/>
            </a:r>
            <a:endParaRPr sz="1500">
              <a:solidFill>
                <a:schemeClr val="dk1"/>
              </a:solidFill>
              <a:latin typeface="ABeeZee"/>
              <a:ea typeface="ABeeZee"/>
              <a:cs typeface="ABeeZee"/>
              <a:sym typeface="ABeeZee"/>
            </a:endParaRPr>
          </a:p>
          <a:p>
            <a:pPr indent="0" lvl="0" marL="0" rtl="0" algn="l">
              <a:spcBef>
                <a:spcPts val="0"/>
              </a:spcBef>
              <a:spcAft>
                <a:spcPts val="0"/>
              </a:spcAft>
              <a:buNone/>
            </a:pPr>
            <a:r>
              <a:rPr lang="en-GB" sz="1500">
                <a:solidFill>
                  <a:schemeClr val="dk1"/>
                </a:solidFill>
                <a:latin typeface="ABeeZee"/>
                <a:ea typeface="ABeeZee"/>
                <a:cs typeface="ABeeZee"/>
                <a:sym typeface="ABeeZee"/>
              </a:rPr>
              <a:t>It varies from society to society and can be changed. While most people are born either male or female, they are taught appropriate norms and behaviours—including how they should interact with others of the same or opposite sex within households, communities and workplaces.</a:t>
            </a:r>
            <a:endParaRPr sz="1500">
              <a:solidFill>
                <a:schemeClr val="dk1"/>
              </a:solidFill>
              <a:latin typeface="ABeeZee"/>
              <a:ea typeface="ABeeZee"/>
              <a:cs typeface="ABeeZee"/>
              <a:sym typeface="ABeeZee"/>
            </a:endParaRPr>
          </a:p>
          <a:p>
            <a:pPr indent="0" lvl="0" marL="0" rtl="0" algn="l">
              <a:spcBef>
                <a:spcPts val="0"/>
              </a:spcBef>
              <a:spcAft>
                <a:spcPts val="0"/>
              </a:spcAft>
              <a:buNone/>
            </a:pPr>
            <a:r>
              <a:t/>
            </a:r>
            <a:endParaRPr sz="1500">
              <a:solidFill>
                <a:schemeClr val="dk1"/>
              </a:solidFill>
              <a:latin typeface="ABeeZee"/>
              <a:ea typeface="ABeeZee"/>
              <a:cs typeface="ABeeZee"/>
              <a:sym typeface="ABeeZee"/>
            </a:endParaRPr>
          </a:p>
          <a:p>
            <a:pPr indent="0" lvl="0" marL="0" rtl="0" algn="l">
              <a:spcBef>
                <a:spcPts val="0"/>
              </a:spcBef>
              <a:spcAft>
                <a:spcPts val="0"/>
              </a:spcAft>
              <a:buNone/>
            </a:pPr>
            <a:r>
              <a:t/>
            </a:r>
            <a:endParaRPr sz="1500">
              <a:solidFill>
                <a:schemeClr val="dk1"/>
              </a:solidFill>
              <a:latin typeface="ABeeZee"/>
              <a:ea typeface="ABeeZee"/>
              <a:cs typeface="ABeeZee"/>
              <a:sym typeface="ABeeZee"/>
            </a:endParaRPr>
          </a:p>
        </p:txBody>
      </p:sp>
      <p:sp>
        <p:nvSpPr>
          <p:cNvPr id="371" name="Google Shape;371;p51"/>
          <p:cNvSpPr/>
          <p:nvPr/>
        </p:nvSpPr>
        <p:spPr>
          <a:xfrm flipH="1" rot="10800000">
            <a:off x="218475" y="358875"/>
            <a:ext cx="2153400" cy="4377000"/>
          </a:xfrm>
          <a:prstGeom prst="round2DiagRect">
            <a:avLst>
              <a:gd fmla="val 16667" name="adj1"/>
              <a:gd fmla="val 0" name="adj2"/>
            </a:avLst>
          </a:prstGeom>
          <a:solidFill>
            <a:srgbClr val="99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51"/>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gender</a:t>
            </a:r>
            <a:endParaRPr sz="4100">
              <a:solidFill>
                <a:srgbClr val="FFFFFF"/>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pic>
        <p:nvPicPr>
          <p:cNvPr descr="AC Slides-01.jpeg" id="377" name="Google Shape;377;p52"/>
          <p:cNvPicPr preferRelativeResize="0"/>
          <p:nvPr/>
        </p:nvPicPr>
        <p:blipFill>
          <a:blip r:embed="rId3">
            <a:alphaModFix/>
          </a:blip>
          <a:stretch>
            <a:fillRect/>
          </a:stretch>
        </p:blipFill>
        <p:spPr>
          <a:xfrm>
            <a:off x="0" y="0"/>
            <a:ext cx="9144000" cy="5143500"/>
          </a:xfrm>
          <a:prstGeom prst="rect">
            <a:avLst/>
          </a:prstGeom>
          <a:noFill/>
          <a:ln>
            <a:noFill/>
          </a:ln>
        </p:spPr>
      </p:pic>
      <p:sp>
        <p:nvSpPr>
          <p:cNvPr id="378" name="Google Shape;378;p52"/>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52"/>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380" name="Google Shape;380;p52"/>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solidFill>
                  <a:schemeClr val="dk1"/>
                </a:solidFill>
                <a:latin typeface="ABeeZee"/>
                <a:ea typeface="ABeeZee"/>
                <a:cs typeface="ABeeZee"/>
                <a:sym typeface="ABeeZee"/>
              </a:rPr>
              <a:t>When individuals or groups do not ‘fit’ established gender norms they often face stigma, discriminatory practices or social exclusion—all of which adversely affect health. It is important to be sensitive to different identities that do not necessarily fit into binary male or female sex categories.</a:t>
            </a:r>
            <a:endParaRPr sz="1500">
              <a:solidFill>
                <a:schemeClr val="dk1"/>
              </a:solidFill>
              <a:latin typeface="ABeeZee"/>
              <a:ea typeface="ABeeZee"/>
              <a:cs typeface="ABeeZee"/>
              <a:sym typeface="ABeeZee"/>
            </a:endParaRPr>
          </a:p>
          <a:p>
            <a:pPr indent="0" lvl="0" marL="0" rtl="0" algn="l">
              <a:spcBef>
                <a:spcPts val="0"/>
              </a:spcBef>
              <a:spcAft>
                <a:spcPts val="0"/>
              </a:spcAft>
              <a:buNone/>
            </a:pPr>
            <a:r>
              <a:t/>
            </a:r>
            <a:endParaRPr sz="1500">
              <a:solidFill>
                <a:schemeClr val="dk1"/>
              </a:solidFill>
              <a:latin typeface="ABeeZee"/>
              <a:ea typeface="ABeeZee"/>
              <a:cs typeface="ABeeZee"/>
              <a:sym typeface="ABeeZee"/>
            </a:endParaRPr>
          </a:p>
          <a:p>
            <a:pPr indent="0" lvl="0" marL="0" rtl="0" algn="l">
              <a:spcBef>
                <a:spcPts val="0"/>
              </a:spcBef>
              <a:spcAft>
                <a:spcPts val="0"/>
              </a:spcAft>
              <a:buNone/>
            </a:pPr>
            <a:r>
              <a:rPr lang="en-GB" sz="1500">
                <a:solidFill>
                  <a:schemeClr val="dk1"/>
                </a:solidFill>
                <a:latin typeface="ABeeZee"/>
                <a:ea typeface="ABeeZee"/>
                <a:cs typeface="ABeeZee"/>
                <a:sym typeface="ABeeZee"/>
              </a:rPr>
              <a:t>Gender norms, roles and relations influence people’s susceptibility to different health conditions and diseases and affect their enjoyment of good mental, physical health and wellbeing. They also have a bearing on people’s access to and uptake of health services and on the health outcomes they experience throughout the life-course.</a:t>
            </a:r>
            <a:endParaRPr sz="1500">
              <a:solidFill>
                <a:schemeClr val="dk1"/>
              </a:solidFill>
              <a:latin typeface="ABeeZee"/>
              <a:ea typeface="ABeeZee"/>
              <a:cs typeface="ABeeZee"/>
              <a:sym typeface="ABeeZee"/>
            </a:endParaRPr>
          </a:p>
          <a:p>
            <a:pPr indent="0" lvl="0" marL="0" rtl="0" algn="l">
              <a:spcBef>
                <a:spcPts val="0"/>
              </a:spcBef>
              <a:spcAft>
                <a:spcPts val="0"/>
              </a:spcAft>
              <a:buNone/>
            </a:pPr>
            <a:r>
              <a:t/>
            </a:r>
            <a:endParaRPr sz="1500">
              <a:solidFill>
                <a:schemeClr val="dk1"/>
              </a:solidFill>
              <a:latin typeface="ABeeZee"/>
              <a:ea typeface="ABeeZee"/>
              <a:cs typeface="ABeeZee"/>
              <a:sym typeface="ABeeZee"/>
            </a:endParaRPr>
          </a:p>
          <a:p>
            <a:pPr indent="0" lvl="0" marL="0" rtl="0" algn="l">
              <a:spcBef>
                <a:spcPts val="0"/>
              </a:spcBef>
              <a:spcAft>
                <a:spcPts val="0"/>
              </a:spcAft>
              <a:buNone/>
            </a:pPr>
            <a:r>
              <a:rPr lang="en-GB" sz="1500">
                <a:solidFill>
                  <a:schemeClr val="dk1"/>
                </a:solidFill>
                <a:latin typeface="ABeeZee"/>
                <a:ea typeface="ABeeZee"/>
                <a:cs typeface="ABeeZee"/>
                <a:sym typeface="ABeeZee"/>
              </a:rPr>
              <a:t>Gender is different from sexuality and from biological sex.</a:t>
            </a:r>
            <a:r>
              <a:rPr lang="en-GB" sz="1500">
                <a:solidFill>
                  <a:schemeClr val="dk1"/>
                </a:solidFill>
                <a:highlight>
                  <a:srgbClr val="FF00FF"/>
                </a:highlight>
                <a:latin typeface="ABeeZee"/>
                <a:ea typeface="ABeeZee"/>
                <a:cs typeface="ABeeZee"/>
                <a:sym typeface="ABeeZee"/>
              </a:rPr>
              <a:t> Rainbow Youth NZ (www.ry.org.nz/genderidentity/)</a:t>
            </a:r>
            <a:r>
              <a:rPr lang="en-GB" sz="1500">
                <a:solidFill>
                  <a:schemeClr val="dk1"/>
                </a:solidFill>
                <a:latin typeface="ABeeZee"/>
                <a:ea typeface="ABeeZee"/>
                <a:cs typeface="ABeeZee"/>
                <a:sym typeface="ABeeZee"/>
              </a:rPr>
              <a:t> states that: Gender refers to the gender that someone identifies with, while sex usually refers to the sex someone is assigned at birth. It can be helpful to think of it as: sex is between your legs and gender is in your head/heart.</a:t>
            </a:r>
            <a:endParaRPr sz="1500">
              <a:solidFill>
                <a:schemeClr val="dk1"/>
              </a:solidFill>
              <a:latin typeface="ABeeZee"/>
              <a:ea typeface="ABeeZee"/>
              <a:cs typeface="ABeeZee"/>
              <a:sym typeface="ABeeZee"/>
            </a:endParaRPr>
          </a:p>
          <a:p>
            <a:pPr indent="0" lvl="0" marL="0" rtl="0" algn="l">
              <a:spcBef>
                <a:spcPts val="0"/>
              </a:spcBef>
              <a:spcAft>
                <a:spcPts val="0"/>
              </a:spcAft>
              <a:buNone/>
            </a:pPr>
            <a:r>
              <a:t/>
            </a:r>
            <a:endParaRPr b="1" sz="1500">
              <a:solidFill>
                <a:schemeClr val="dk1"/>
              </a:solidFill>
              <a:latin typeface="ABeeZee"/>
              <a:ea typeface="ABeeZee"/>
              <a:cs typeface="ABeeZee"/>
              <a:sym typeface="ABeeZee"/>
            </a:endParaRPr>
          </a:p>
        </p:txBody>
      </p:sp>
      <p:sp>
        <p:nvSpPr>
          <p:cNvPr id="381" name="Google Shape;381;p52"/>
          <p:cNvSpPr/>
          <p:nvPr/>
        </p:nvSpPr>
        <p:spPr>
          <a:xfrm flipH="1" rot="10800000">
            <a:off x="218475" y="358875"/>
            <a:ext cx="2153400" cy="4377000"/>
          </a:xfrm>
          <a:prstGeom prst="round2DiagRect">
            <a:avLst>
              <a:gd fmla="val 16667" name="adj1"/>
              <a:gd fmla="val 0" name="adj2"/>
            </a:avLst>
          </a:prstGeom>
          <a:solidFill>
            <a:srgbClr val="99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52"/>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gender</a:t>
            </a:r>
            <a:endParaRPr sz="4100">
              <a:solidFill>
                <a:srgbClr val="FFFFF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pic>
        <p:nvPicPr>
          <p:cNvPr descr="AC Slides-01.jpeg" id="387" name="Google Shape;387;p53"/>
          <p:cNvPicPr preferRelativeResize="0"/>
          <p:nvPr/>
        </p:nvPicPr>
        <p:blipFill>
          <a:blip r:embed="rId3">
            <a:alphaModFix/>
          </a:blip>
          <a:stretch>
            <a:fillRect/>
          </a:stretch>
        </p:blipFill>
        <p:spPr>
          <a:xfrm>
            <a:off x="0" y="0"/>
            <a:ext cx="9144000" cy="5143500"/>
          </a:xfrm>
          <a:prstGeom prst="rect">
            <a:avLst/>
          </a:prstGeom>
          <a:noFill/>
          <a:ln>
            <a:noFill/>
          </a:ln>
        </p:spPr>
      </p:pic>
      <p:sp>
        <p:nvSpPr>
          <p:cNvPr id="388" name="Google Shape;388;p53"/>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53"/>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390" name="Google Shape;390;p53"/>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solidFill>
                  <a:schemeClr val="dk1"/>
                </a:solidFill>
                <a:latin typeface="ABeeZee"/>
                <a:ea typeface="ABeeZee"/>
                <a:cs typeface="ABeeZee"/>
                <a:sym typeface="ABeeZee"/>
              </a:rPr>
              <a:t>Sex</a:t>
            </a:r>
            <a:endParaRPr b="1" sz="1500">
              <a:solidFill>
                <a:schemeClr val="dk1"/>
              </a:solidFill>
              <a:latin typeface="ABeeZee"/>
              <a:ea typeface="ABeeZee"/>
              <a:cs typeface="ABeeZee"/>
              <a:sym typeface="ABeeZee"/>
            </a:endParaRPr>
          </a:p>
          <a:p>
            <a:pPr indent="0" lvl="0" marL="0" rtl="0" algn="l">
              <a:spcBef>
                <a:spcPts val="0"/>
              </a:spcBef>
              <a:spcAft>
                <a:spcPts val="0"/>
              </a:spcAft>
              <a:buNone/>
            </a:pPr>
            <a:r>
              <a:rPr lang="en-GB" sz="1500">
                <a:solidFill>
                  <a:schemeClr val="dk1"/>
                </a:solidFill>
                <a:latin typeface="ABeeZee"/>
                <a:ea typeface="ABeeZee"/>
                <a:cs typeface="ABeeZee"/>
                <a:sym typeface="ABeeZee"/>
              </a:rPr>
              <a:t>Assigned sex is a label that you’re given at birth based on medical factors, including your hormones, chromosomes, and genitals. Most people are assigned male or female. When someone’s sexual and reproductive anatomy doesn’t seem to fit the typical definitions of female or male, they may be described as intersex. Some people call the sex we’re assigned at birth “biological sex”. But this term doesn’t fully capture the complex biological, anatomical, and chromosomal variations that can occur. Having only two options (biological male or biological female) might not describe what’s going on inside a person’s body. Instead of saying “biological sex”, some people use the phrase “assigned male at birth” or “assigned female at birth”. </a:t>
            </a:r>
            <a:endParaRPr sz="1500">
              <a:solidFill>
                <a:schemeClr val="dk1"/>
              </a:solidFill>
              <a:latin typeface="ABeeZee"/>
              <a:ea typeface="ABeeZee"/>
              <a:cs typeface="ABeeZee"/>
              <a:sym typeface="ABeeZee"/>
            </a:endParaRPr>
          </a:p>
          <a:p>
            <a:pPr indent="0" lvl="0" marL="0" rtl="0" algn="l">
              <a:spcBef>
                <a:spcPts val="0"/>
              </a:spcBef>
              <a:spcAft>
                <a:spcPts val="0"/>
              </a:spcAft>
              <a:buNone/>
            </a:pPr>
            <a:r>
              <a:t/>
            </a:r>
            <a:endParaRPr sz="1500">
              <a:solidFill>
                <a:schemeClr val="dk1"/>
              </a:solidFill>
              <a:latin typeface="ABeeZee"/>
              <a:ea typeface="ABeeZee"/>
              <a:cs typeface="ABeeZee"/>
              <a:sym typeface="ABeeZee"/>
            </a:endParaRPr>
          </a:p>
          <a:p>
            <a:pPr indent="0" lvl="0" marL="0" rtl="0" algn="l">
              <a:spcBef>
                <a:spcPts val="0"/>
              </a:spcBef>
              <a:spcAft>
                <a:spcPts val="0"/>
              </a:spcAft>
              <a:buNone/>
            </a:pPr>
            <a:r>
              <a:rPr lang="en-GB" sz="1500">
                <a:solidFill>
                  <a:schemeClr val="dk1"/>
                </a:solidFill>
                <a:latin typeface="ABeeZee"/>
                <a:ea typeface="ABeeZee"/>
                <a:cs typeface="ABeeZee"/>
                <a:sym typeface="ABeeZee"/>
              </a:rPr>
              <a:t>This acknowledges that someone (often a doctor) is making a decision for someone else. The assignment of a biological sex may or may not align with what’s going on with a person’s body, how they feel, or how they identify. (www.plannedparenthood.org)</a:t>
            </a:r>
            <a:endParaRPr sz="1500">
              <a:solidFill>
                <a:schemeClr val="dk1"/>
              </a:solidFill>
              <a:latin typeface="ABeeZee"/>
              <a:ea typeface="ABeeZee"/>
              <a:cs typeface="ABeeZee"/>
              <a:sym typeface="ABeeZee"/>
            </a:endParaRPr>
          </a:p>
        </p:txBody>
      </p:sp>
      <p:sp>
        <p:nvSpPr>
          <p:cNvPr id="391" name="Google Shape;391;p53"/>
          <p:cNvSpPr/>
          <p:nvPr/>
        </p:nvSpPr>
        <p:spPr>
          <a:xfrm flipH="1" rot="10800000">
            <a:off x="218475" y="358875"/>
            <a:ext cx="2153400" cy="4377000"/>
          </a:xfrm>
          <a:prstGeom prst="round2DiagRect">
            <a:avLst>
              <a:gd fmla="val 16667" name="adj1"/>
              <a:gd fmla="val 0" name="adj2"/>
            </a:avLst>
          </a:prstGeom>
          <a:solidFill>
            <a:srgbClr val="F862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3"/>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sex</a:t>
            </a:r>
            <a:endParaRPr sz="4100">
              <a:solidFill>
                <a:srgbClr val="FFFFFF"/>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pic>
        <p:nvPicPr>
          <p:cNvPr descr="AC Slides-01.jpeg" id="397" name="Google Shape;397;p54"/>
          <p:cNvPicPr preferRelativeResize="0"/>
          <p:nvPr/>
        </p:nvPicPr>
        <p:blipFill>
          <a:blip r:embed="rId3">
            <a:alphaModFix/>
          </a:blip>
          <a:stretch>
            <a:fillRect/>
          </a:stretch>
        </p:blipFill>
        <p:spPr>
          <a:xfrm>
            <a:off x="0" y="0"/>
            <a:ext cx="9144000" cy="5143500"/>
          </a:xfrm>
          <a:prstGeom prst="rect">
            <a:avLst/>
          </a:prstGeom>
          <a:noFill/>
          <a:ln>
            <a:noFill/>
          </a:ln>
        </p:spPr>
      </p:pic>
      <p:sp>
        <p:nvSpPr>
          <p:cNvPr id="398" name="Google Shape;398;p54"/>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4"/>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400" name="Google Shape;400;p54"/>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solidFill>
                  <a:schemeClr val="dk1"/>
                </a:solidFill>
                <a:latin typeface="ABeeZee"/>
                <a:ea typeface="ABeeZee"/>
                <a:cs typeface="ABeeZee"/>
                <a:sym typeface="ABeeZee"/>
              </a:rPr>
              <a:t>Sexuality</a:t>
            </a:r>
            <a:endParaRPr b="1" sz="1500">
              <a:solidFill>
                <a:schemeClr val="dk1"/>
              </a:solidFill>
              <a:latin typeface="ABeeZee"/>
              <a:ea typeface="ABeeZee"/>
              <a:cs typeface="ABeeZee"/>
              <a:sym typeface="ABeeZee"/>
            </a:endParaRPr>
          </a:p>
          <a:p>
            <a:pPr indent="0" lvl="0" marL="0" rtl="0" algn="l">
              <a:spcBef>
                <a:spcPts val="0"/>
              </a:spcBef>
              <a:spcAft>
                <a:spcPts val="0"/>
              </a:spcAft>
              <a:buNone/>
            </a:pPr>
            <a:r>
              <a:rPr lang="en-GB" sz="1500">
                <a:solidFill>
                  <a:schemeClr val="dk1"/>
                </a:solidFill>
                <a:latin typeface="ABeeZee"/>
                <a:ea typeface="ABeeZee"/>
                <a:cs typeface="ABeeZee"/>
                <a:sym typeface="ABeeZee"/>
              </a:rPr>
              <a:t>A central aspect of being human throughout life encompasses sex, gender identities and roles, sexual orientation, eroticism, pleasure, intimacy, and reproduction. </a:t>
            </a:r>
            <a:endParaRPr sz="1500">
              <a:solidFill>
                <a:schemeClr val="dk1"/>
              </a:solidFill>
              <a:latin typeface="ABeeZee"/>
              <a:ea typeface="ABeeZee"/>
              <a:cs typeface="ABeeZee"/>
              <a:sym typeface="ABeeZee"/>
            </a:endParaRPr>
          </a:p>
          <a:p>
            <a:pPr indent="0" lvl="0" marL="0" rtl="0" algn="l">
              <a:spcBef>
                <a:spcPts val="0"/>
              </a:spcBef>
              <a:spcAft>
                <a:spcPts val="0"/>
              </a:spcAft>
              <a:buNone/>
            </a:pPr>
            <a:r>
              <a:t/>
            </a:r>
            <a:endParaRPr sz="1500">
              <a:solidFill>
                <a:schemeClr val="dk1"/>
              </a:solidFill>
              <a:latin typeface="ABeeZee"/>
              <a:ea typeface="ABeeZee"/>
              <a:cs typeface="ABeeZee"/>
              <a:sym typeface="ABeeZee"/>
            </a:endParaRPr>
          </a:p>
          <a:p>
            <a:pPr indent="0" lvl="0" marL="0" rtl="0" algn="l">
              <a:spcBef>
                <a:spcPts val="0"/>
              </a:spcBef>
              <a:spcAft>
                <a:spcPts val="0"/>
              </a:spcAft>
              <a:buNone/>
            </a:pPr>
            <a:r>
              <a:rPr lang="en-GB" sz="1500">
                <a:solidFill>
                  <a:schemeClr val="dk1"/>
                </a:solidFill>
                <a:latin typeface="ABeeZee"/>
                <a:ea typeface="ABeeZee"/>
                <a:cs typeface="ABeeZee"/>
                <a:sym typeface="ABeeZee"/>
              </a:rPr>
              <a:t>Sexuality is experienced and expressed in thoughts, fantasies, desires, beliefs, attitudes, values, behaviours, practices, roles, and relationships. While sexuality can include all of these dimensions, not all of them are always experienced or expressed.</a:t>
            </a:r>
            <a:endParaRPr sz="1500">
              <a:solidFill>
                <a:schemeClr val="dk1"/>
              </a:solidFill>
              <a:latin typeface="ABeeZee"/>
              <a:ea typeface="ABeeZee"/>
              <a:cs typeface="ABeeZee"/>
              <a:sym typeface="ABeeZee"/>
            </a:endParaRPr>
          </a:p>
          <a:p>
            <a:pPr indent="0" lvl="0" marL="0" rtl="0" algn="l">
              <a:spcBef>
                <a:spcPts val="0"/>
              </a:spcBef>
              <a:spcAft>
                <a:spcPts val="0"/>
              </a:spcAft>
              <a:buNone/>
            </a:pPr>
            <a:r>
              <a:t/>
            </a:r>
            <a:endParaRPr sz="1500">
              <a:solidFill>
                <a:schemeClr val="dk1"/>
              </a:solidFill>
              <a:latin typeface="ABeeZee"/>
              <a:ea typeface="ABeeZee"/>
              <a:cs typeface="ABeeZee"/>
              <a:sym typeface="ABeeZee"/>
            </a:endParaRPr>
          </a:p>
          <a:p>
            <a:pPr indent="0" lvl="0" marL="0" rtl="0" algn="l">
              <a:spcBef>
                <a:spcPts val="0"/>
              </a:spcBef>
              <a:spcAft>
                <a:spcPts val="0"/>
              </a:spcAft>
              <a:buNone/>
            </a:pPr>
            <a:r>
              <a:rPr lang="en-GB" sz="1500">
                <a:solidFill>
                  <a:schemeClr val="dk1"/>
                </a:solidFill>
                <a:latin typeface="ABeeZee"/>
                <a:ea typeface="ABeeZee"/>
                <a:cs typeface="ABeeZee"/>
                <a:sym typeface="ABeeZee"/>
              </a:rPr>
              <a:t>Sexuality involves the interaction of biological, psychological, social, economic, political, cultural, legal, historical, religious, and spiritual factors. (World Health Organization, 2006). Everyone has sexuality regardless of whether they are sexually active. Sexuality can be thought of as how you enjoy having sex, which often encompasses sexual behaviour and sexual orientation. </a:t>
            </a:r>
            <a:endParaRPr sz="1500">
              <a:solidFill>
                <a:schemeClr val="dk1"/>
              </a:solidFill>
              <a:latin typeface="ABeeZee"/>
              <a:ea typeface="ABeeZee"/>
              <a:cs typeface="ABeeZee"/>
              <a:sym typeface="ABeeZee"/>
            </a:endParaRPr>
          </a:p>
        </p:txBody>
      </p:sp>
      <p:sp>
        <p:nvSpPr>
          <p:cNvPr id="401" name="Google Shape;401;p54"/>
          <p:cNvSpPr/>
          <p:nvPr/>
        </p:nvSpPr>
        <p:spPr>
          <a:xfrm flipH="1" rot="10800000">
            <a:off x="218475" y="358875"/>
            <a:ext cx="2153400" cy="4377000"/>
          </a:xfrm>
          <a:prstGeom prst="round2DiagRect">
            <a:avLst>
              <a:gd fmla="val 16667" name="adj1"/>
              <a:gd fmla="val 0" name="adj2"/>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54"/>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sexuality</a:t>
            </a:r>
            <a:endParaRPr sz="4100">
              <a:solidFill>
                <a:srgbClr val="FFFFF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pic>
        <p:nvPicPr>
          <p:cNvPr descr="AC Slides-01.jpeg" id="407" name="Google Shape;407;p55"/>
          <p:cNvPicPr preferRelativeResize="0"/>
          <p:nvPr/>
        </p:nvPicPr>
        <p:blipFill>
          <a:blip r:embed="rId3">
            <a:alphaModFix/>
          </a:blip>
          <a:stretch>
            <a:fillRect/>
          </a:stretch>
        </p:blipFill>
        <p:spPr>
          <a:xfrm>
            <a:off x="0" y="0"/>
            <a:ext cx="9144000" cy="5143500"/>
          </a:xfrm>
          <a:prstGeom prst="rect">
            <a:avLst/>
          </a:prstGeom>
          <a:noFill/>
          <a:ln>
            <a:noFill/>
          </a:ln>
        </p:spPr>
      </p:pic>
      <p:sp>
        <p:nvSpPr>
          <p:cNvPr id="408" name="Google Shape;408;p55"/>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5"/>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410" name="Google Shape;410;p55"/>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solidFill>
                  <a:schemeClr val="dk1"/>
                </a:solidFill>
                <a:latin typeface="ABeeZee"/>
                <a:ea typeface="ABeeZee"/>
                <a:cs typeface="ABeeZee"/>
                <a:sym typeface="ABeeZee"/>
              </a:rPr>
              <a:t>Sexual </a:t>
            </a:r>
            <a:r>
              <a:rPr b="1" lang="en-GB" sz="1500">
                <a:solidFill>
                  <a:schemeClr val="dk1"/>
                </a:solidFill>
                <a:latin typeface="ABeeZee"/>
                <a:ea typeface="ABeeZee"/>
                <a:cs typeface="ABeeZee"/>
                <a:sym typeface="ABeeZee"/>
              </a:rPr>
              <a:t>Orientation</a:t>
            </a:r>
            <a:endParaRPr b="1" sz="1500">
              <a:solidFill>
                <a:schemeClr val="dk1"/>
              </a:solidFill>
              <a:latin typeface="ABeeZee"/>
              <a:ea typeface="ABeeZee"/>
              <a:cs typeface="ABeeZee"/>
              <a:sym typeface="ABeeZee"/>
            </a:endParaRPr>
          </a:p>
          <a:p>
            <a:pPr indent="0" lvl="0" marL="0" rtl="0" algn="l">
              <a:spcBef>
                <a:spcPts val="0"/>
              </a:spcBef>
              <a:spcAft>
                <a:spcPts val="0"/>
              </a:spcAft>
              <a:buNone/>
            </a:pPr>
            <a:r>
              <a:rPr lang="en-GB" sz="1500">
                <a:solidFill>
                  <a:schemeClr val="dk1"/>
                </a:solidFill>
                <a:latin typeface="ABeeZee"/>
                <a:ea typeface="ABeeZee"/>
                <a:cs typeface="ABeeZee"/>
                <a:sym typeface="ABeeZee"/>
              </a:rPr>
              <a:t>Sexual orientation is about attraction. It can be fluid and change over time. Some people are attracted to males, some to females, some people are attracted to neither, in between, or both. Sexual orientation is about who you’re attracted to and who you feel drawn to romantically, emotionally, and sexually. Sexual orientation can be described with terms like: heteroromantic, homoromantic, bi-romantic, panromantic, and aromantic. Using labels to define sexual orientation can both enable and disable discussions, and empower, disempower, or restrict people. Sexual orientation encompasses sexual behaviour, in that people generally are sexually attracted to the people they are romantically attracted to (this is not always the case). The term “straight” implies heteroromanticism and heterosexuality, while gay/lesbian implies the opposite (homoromanticism and homosexuality). Language and labels can get confusing as “bisexual” means bi-romantic and bisexual to varying degrees, or when asexual or aromantic labels are </a:t>
            </a:r>
            <a:endParaRPr sz="1500">
              <a:solidFill>
                <a:schemeClr val="dk1"/>
              </a:solidFill>
              <a:latin typeface="ABeeZee"/>
              <a:ea typeface="ABeeZee"/>
              <a:cs typeface="ABeeZee"/>
              <a:sym typeface="ABeeZee"/>
            </a:endParaRPr>
          </a:p>
        </p:txBody>
      </p:sp>
      <p:sp>
        <p:nvSpPr>
          <p:cNvPr id="411" name="Google Shape;411;p55"/>
          <p:cNvSpPr/>
          <p:nvPr/>
        </p:nvSpPr>
        <p:spPr>
          <a:xfrm flipH="1" rot="10800000">
            <a:off x="218475" y="358875"/>
            <a:ext cx="2153400" cy="4377000"/>
          </a:xfrm>
          <a:prstGeom prst="round2DiagRect">
            <a:avLst>
              <a:gd fmla="val 16667" name="adj1"/>
              <a:gd fmla="val 0" name="adj2"/>
            </a:avLst>
          </a:prstGeom>
          <a:solidFill>
            <a:srgbClr val="25E3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5"/>
          <p:cNvSpPr txBox="1"/>
          <p:nvPr/>
        </p:nvSpPr>
        <p:spPr>
          <a:xfrm flipH="1" rot="-5400000">
            <a:off x="-681625" y="1771350"/>
            <a:ext cx="3972600" cy="1600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S</a:t>
            </a:r>
            <a:r>
              <a:rPr lang="en-GB" sz="4600">
                <a:solidFill>
                  <a:srgbClr val="FFFFFF"/>
                </a:solidFill>
                <a:latin typeface="Luckiest Guy"/>
                <a:ea typeface="Luckiest Guy"/>
                <a:cs typeface="Luckiest Guy"/>
                <a:sym typeface="Luckiest Guy"/>
              </a:rPr>
              <a:t>exual orientation</a:t>
            </a:r>
            <a:endParaRPr sz="4100">
              <a:solidFill>
                <a:srgbClr val="FFFFFF"/>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descr="AC Slides-01.jpeg" id="417" name="Google Shape;417;p56"/>
          <p:cNvPicPr preferRelativeResize="0"/>
          <p:nvPr/>
        </p:nvPicPr>
        <p:blipFill>
          <a:blip r:embed="rId3">
            <a:alphaModFix/>
          </a:blip>
          <a:stretch>
            <a:fillRect/>
          </a:stretch>
        </p:blipFill>
        <p:spPr>
          <a:xfrm>
            <a:off x="0" y="0"/>
            <a:ext cx="9144000" cy="5143500"/>
          </a:xfrm>
          <a:prstGeom prst="rect">
            <a:avLst/>
          </a:prstGeom>
          <a:noFill/>
          <a:ln>
            <a:noFill/>
          </a:ln>
        </p:spPr>
      </p:pic>
      <p:sp>
        <p:nvSpPr>
          <p:cNvPr id="418" name="Google Shape;418;p56"/>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6"/>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420" name="Google Shape;420;p56"/>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chemeClr val="dk1"/>
                </a:solidFill>
                <a:latin typeface="ABeeZee"/>
                <a:ea typeface="ABeeZee"/>
                <a:cs typeface="ABeeZee"/>
                <a:sym typeface="ABeeZee"/>
              </a:rPr>
              <a:t>Gender, Sex &amp; Sexuality</a:t>
            </a:r>
            <a:endParaRPr b="1" sz="1800">
              <a:solidFill>
                <a:schemeClr val="dk1"/>
              </a:solidFill>
              <a:latin typeface="ABeeZee"/>
              <a:ea typeface="ABeeZee"/>
              <a:cs typeface="ABeeZee"/>
              <a:sym typeface="ABeeZee"/>
            </a:endParaRPr>
          </a:p>
          <a:p>
            <a:pPr indent="0" lvl="0" marL="0" rtl="0" algn="l">
              <a:spcBef>
                <a:spcPts val="0"/>
              </a:spcBef>
              <a:spcAft>
                <a:spcPts val="0"/>
              </a:spcAft>
              <a:buNone/>
            </a:pPr>
            <a:r>
              <a:t/>
            </a:r>
            <a:endParaRPr sz="1500">
              <a:solidFill>
                <a:schemeClr val="dk1"/>
              </a:solidFill>
              <a:latin typeface="ABeeZee"/>
              <a:ea typeface="ABeeZee"/>
              <a:cs typeface="ABeeZee"/>
              <a:sym typeface="ABeeZee"/>
            </a:endParaRPr>
          </a:p>
          <a:p>
            <a:pPr indent="0" lvl="0" marL="0" rtl="0" algn="l">
              <a:spcBef>
                <a:spcPts val="0"/>
              </a:spcBef>
              <a:spcAft>
                <a:spcPts val="0"/>
              </a:spcAft>
              <a:buNone/>
            </a:pPr>
            <a:r>
              <a:t/>
            </a:r>
            <a:endParaRPr sz="15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Watch this </a:t>
            </a:r>
            <a:r>
              <a:rPr lang="en-GB" sz="1600" u="sng">
                <a:solidFill>
                  <a:schemeClr val="hlink"/>
                </a:solidFill>
                <a:latin typeface="ABeeZee"/>
                <a:ea typeface="ABeeZee"/>
                <a:cs typeface="ABeeZee"/>
                <a:sym typeface="ABeeZee"/>
                <a:hlinkClick r:id="rId4"/>
              </a:rPr>
              <a:t>video</a:t>
            </a:r>
            <a:r>
              <a:rPr lang="en-GB" sz="1600">
                <a:solidFill>
                  <a:schemeClr val="dk1"/>
                </a:solidFill>
                <a:latin typeface="ABeeZee"/>
                <a:ea typeface="ABeeZee"/>
                <a:cs typeface="ABeeZee"/>
                <a:sym typeface="ABeeZee"/>
              </a:rPr>
              <a:t> and write down 5 key points about:</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b="1" lang="en-GB" sz="1600">
                <a:solidFill>
                  <a:schemeClr val="dk1"/>
                </a:solidFill>
                <a:latin typeface="ABeeZee"/>
                <a:ea typeface="ABeeZee"/>
                <a:cs typeface="ABeeZee"/>
                <a:sym typeface="ABeeZee"/>
              </a:rPr>
              <a:t>Gender</a:t>
            </a:r>
            <a:endParaRPr b="1" sz="1600">
              <a:solidFill>
                <a:schemeClr val="dk1"/>
              </a:solidFill>
              <a:latin typeface="ABeeZee"/>
              <a:ea typeface="ABeeZee"/>
              <a:cs typeface="ABeeZee"/>
              <a:sym typeface="ABeeZee"/>
            </a:endParaRPr>
          </a:p>
          <a:p>
            <a:pPr indent="0" lvl="0" marL="0" rtl="0" algn="l">
              <a:spcBef>
                <a:spcPts val="0"/>
              </a:spcBef>
              <a:spcAft>
                <a:spcPts val="0"/>
              </a:spcAft>
              <a:buNone/>
            </a:pPr>
            <a:r>
              <a:rPr b="1" lang="en-GB" sz="1600">
                <a:solidFill>
                  <a:schemeClr val="dk1"/>
                </a:solidFill>
                <a:latin typeface="ABeeZee"/>
                <a:ea typeface="ABeeZee"/>
                <a:cs typeface="ABeeZee"/>
                <a:sym typeface="ABeeZee"/>
              </a:rPr>
              <a:t>Sex</a:t>
            </a:r>
            <a:endParaRPr b="1" sz="1600">
              <a:solidFill>
                <a:schemeClr val="dk1"/>
              </a:solidFill>
              <a:latin typeface="ABeeZee"/>
              <a:ea typeface="ABeeZee"/>
              <a:cs typeface="ABeeZee"/>
              <a:sym typeface="ABeeZee"/>
            </a:endParaRPr>
          </a:p>
          <a:p>
            <a:pPr indent="0" lvl="0" marL="0" rtl="0" algn="l">
              <a:spcBef>
                <a:spcPts val="0"/>
              </a:spcBef>
              <a:spcAft>
                <a:spcPts val="0"/>
              </a:spcAft>
              <a:buNone/>
            </a:pPr>
            <a:r>
              <a:rPr b="1" lang="en-GB" sz="1600">
                <a:solidFill>
                  <a:schemeClr val="dk1"/>
                </a:solidFill>
                <a:latin typeface="ABeeZee"/>
                <a:ea typeface="ABeeZee"/>
                <a:cs typeface="ABeeZee"/>
                <a:sym typeface="ABeeZee"/>
              </a:rPr>
              <a:t>Sexuality</a:t>
            </a:r>
            <a:endParaRPr b="1" sz="1600">
              <a:solidFill>
                <a:schemeClr val="dk1"/>
              </a:solidFill>
              <a:latin typeface="ABeeZee"/>
              <a:ea typeface="ABeeZee"/>
              <a:cs typeface="ABeeZee"/>
              <a:sym typeface="ABeeZee"/>
            </a:endParaRPr>
          </a:p>
        </p:txBody>
      </p:sp>
      <p:sp>
        <p:nvSpPr>
          <p:cNvPr id="421" name="Google Shape;421;p56"/>
          <p:cNvSpPr/>
          <p:nvPr/>
        </p:nvSpPr>
        <p:spPr>
          <a:xfrm flipH="1" rot="10800000">
            <a:off x="218475" y="358875"/>
            <a:ext cx="2153400" cy="4377000"/>
          </a:xfrm>
          <a:prstGeom prst="round2DiagRect">
            <a:avLst>
              <a:gd fmla="val 16667" name="adj1"/>
              <a:gd fmla="val 0" name="adj2"/>
            </a:avLst>
          </a:pr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56"/>
          <p:cNvSpPr txBox="1"/>
          <p:nvPr/>
        </p:nvSpPr>
        <p:spPr>
          <a:xfrm flipH="1" rot="-5400000">
            <a:off x="-681625" y="1771350"/>
            <a:ext cx="3972600" cy="1600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Gender, sex &amp; Sexuality</a:t>
            </a:r>
            <a:endParaRPr sz="4100">
              <a:solidFill>
                <a:srgbClr val="FFFFFF"/>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pic>
        <p:nvPicPr>
          <p:cNvPr descr="AC Slides-01.jpeg" id="427" name="Google Shape;427;p57"/>
          <p:cNvPicPr preferRelativeResize="0"/>
          <p:nvPr/>
        </p:nvPicPr>
        <p:blipFill>
          <a:blip r:embed="rId3">
            <a:alphaModFix/>
          </a:blip>
          <a:stretch>
            <a:fillRect/>
          </a:stretch>
        </p:blipFill>
        <p:spPr>
          <a:xfrm>
            <a:off x="0" y="0"/>
            <a:ext cx="9144000" cy="5143500"/>
          </a:xfrm>
          <a:prstGeom prst="rect">
            <a:avLst/>
          </a:prstGeom>
          <a:noFill/>
          <a:ln>
            <a:noFill/>
          </a:ln>
        </p:spPr>
      </p:pic>
      <p:sp>
        <p:nvSpPr>
          <p:cNvPr id="428" name="Google Shape;428;p57"/>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57"/>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430" name="Google Shape;430;p57"/>
          <p:cNvSpPr txBox="1"/>
          <p:nvPr/>
        </p:nvSpPr>
        <p:spPr>
          <a:xfrm>
            <a:off x="2371875" y="357225"/>
            <a:ext cx="57801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600">
                <a:solidFill>
                  <a:schemeClr val="dk1"/>
                </a:solidFill>
                <a:latin typeface="Luckiest Guy"/>
                <a:ea typeface="Luckiest Guy"/>
                <a:cs typeface="Luckiest Guy"/>
                <a:sym typeface="Luckiest Guy"/>
              </a:rPr>
              <a:t>task</a:t>
            </a:r>
            <a:endParaRPr sz="3300">
              <a:solidFill>
                <a:schemeClr val="dk1"/>
              </a:solidFill>
              <a:latin typeface="ABeeZee"/>
              <a:ea typeface="ABeeZee"/>
              <a:cs typeface="ABeeZee"/>
              <a:sym typeface="ABeeZee"/>
            </a:endParaRPr>
          </a:p>
        </p:txBody>
      </p:sp>
      <p:sp>
        <p:nvSpPr>
          <p:cNvPr id="431" name="Google Shape;431;p57"/>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57"/>
          <p:cNvSpPr txBox="1"/>
          <p:nvPr/>
        </p:nvSpPr>
        <p:spPr>
          <a:xfrm flipH="1" rot="-5400000">
            <a:off x="-7308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Key terms</a:t>
            </a:r>
            <a:endParaRPr sz="4100">
              <a:solidFill>
                <a:srgbClr val="FFFFFF"/>
              </a:solidFill>
            </a:endParaRPr>
          </a:p>
        </p:txBody>
      </p:sp>
      <p:sp>
        <p:nvSpPr>
          <p:cNvPr id="433" name="Google Shape;433;p57"/>
          <p:cNvSpPr txBox="1"/>
          <p:nvPr/>
        </p:nvSpPr>
        <p:spPr>
          <a:xfrm>
            <a:off x="2473450" y="1463050"/>
            <a:ext cx="66888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ABeeZee"/>
                <a:ea typeface="ABeeZee"/>
                <a:cs typeface="ABeeZee"/>
                <a:sym typeface="ABeeZee"/>
              </a:rPr>
              <a:t>In pairs, list as many terms for gender identity that you know of</a:t>
            </a:r>
            <a:endParaRPr sz="1800">
              <a:solidFill>
                <a:schemeClr val="dk1"/>
              </a:solidFill>
              <a:latin typeface="ABeeZee"/>
              <a:ea typeface="ABeeZee"/>
              <a:cs typeface="ABeeZee"/>
              <a:sym typeface="ABeeZee"/>
            </a:endParaRPr>
          </a:p>
          <a:p>
            <a:pPr indent="0" lvl="0" marL="0" rtl="0" algn="l">
              <a:spcBef>
                <a:spcPts val="0"/>
              </a:spcBef>
              <a:spcAft>
                <a:spcPts val="0"/>
              </a:spcAft>
              <a:buNone/>
            </a:pPr>
            <a:r>
              <a:t/>
            </a:r>
            <a:endParaRPr sz="2100">
              <a:solidFill>
                <a:schemeClr val="dk2"/>
              </a:solidFill>
            </a:endParaRPr>
          </a:p>
        </p:txBody>
      </p:sp>
      <p:sp>
        <p:nvSpPr>
          <p:cNvPr id="434" name="Google Shape;434;p57"/>
          <p:cNvSpPr txBox="1"/>
          <p:nvPr/>
        </p:nvSpPr>
        <p:spPr>
          <a:xfrm>
            <a:off x="2473450" y="3018525"/>
            <a:ext cx="6688800" cy="1062000"/>
          </a:xfrm>
          <a:prstGeom prst="rect">
            <a:avLst/>
          </a:prstGeom>
          <a:solidFill>
            <a:srgbClr val="222B67"/>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800">
                <a:solidFill>
                  <a:schemeClr val="lt1"/>
                </a:solidFill>
                <a:latin typeface="ABeeZee"/>
                <a:ea typeface="ABeeZee"/>
                <a:cs typeface="ABeeZee"/>
                <a:sym typeface="ABeeZee"/>
              </a:rPr>
              <a:t>Now, check this </a:t>
            </a:r>
            <a:r>
              <a:rPr b="1" lang="en-GB" sz="1800" u="sng">
                <a:solidFill>
                  <a:schemeClr val="hlink"/>
                </a:solidFill>
                <a:latin typeface="ABeeZee"/>
                <a:ea typeface="ABeeZee"/>
                <a:cs typeface="ABeeZee"/>
                <a:sym typeface="ABeeZee"/>
                <a:hlinkClick r:id="rId4"/>
              </a:rPr>
              <a:t>document</a:t>
            </a:r>
            <a:r>
              <a:rPr b="1" lang="en-GB" sz="1800">
                <a:solidFill>
                  <a:schemeClr val="lt1"/>
                </a:solidFill>
                <a:latin typeface="ABeeZee"/>
                <a:ea typeface="ABeeZee"/>
                <a:cs typeface="ABeeZee"/>
                <a:sym typeface="ABeeZee"/>
              </a:rPr>
              <a:t> out a read through some key terms related to Gender</a:t>
            </a:r>
            <a:endParaRPr b="1" sz="1800">
              <a:solidFill>
                <a:schemeClr val="lt1"/>
              </a:solidFill>
              <a:latin typeface="ABeeZee"/>
              <a:ea typeface="ABeeZee"/>
              <a:cs typeface="ABeeZee"/>
              <a:sym typeface="ABeeZee"/>
            </a:endParaRPr>
          </a:p>
          <a:p>
            <a:pPr indent="0" lvl="0" marL="0" rtl="0" algn="l">
              <a:spcBef>
                <a:spcPts val="0"/>
              </a:spcBef>
              <a:spcAft>
                <a:spcPts val="0"/>
              </a:spcAft>
              <a:buNone/>
            </a:pPr>
            <a:r>
              <a:t/>
            </a:r>
            <a:endParaRPr sz="2100">
              <a:solidFill>
                <a:schemeClr val="dk2"/>
              </a:solidFill>
            </a:endParaRPr>
          </a:p>
        </p:txBody>
      </p:sp>
      <p:pic>
        <p:nvPicPr>
          <p:cNvPr descr="This timer counts down silently until it reaches 0:00, then a police siren sounds to alert you that time is up." id="435" name="Google Shape;435;p57" title="5 Minute Timer">
            <a:hlinkClick r:id="rId5"/>
          </p:cNvPr>
          <p:cNvPicPr preferRelativeResize="0"/>
          <p:nvPr/>
        </p:nvPicPr>
        <p:blipFill>
          <a:blip r:embed="rId6">
            <a:alphaModFix/>
          </a:blip>
          <a:stretch>
            <a:fillRect/>
          </a:stretch>
        </p:blipFill>
        <p:spPr>
          <a:xfrm>
            <a:off x="6588350" y="140325"/>
            <a:ext cx="1888000" cy="1062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1000"/>
                                        <p:tgtEl>
                                          <p:spTgt spid="4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pic>
        <p:nvPicPr>
          <p:cNvPr descr="AC Slides-01.jpeg" id="440" name="Google Shape;440;p58"/>
          <p:cNvPicPr preferRelativeResize="0"/>
          <p:nvPr/>
        </p:nvPicPr>
        <p:blipFill>
          <a:blip r:embed="rId3">
            <a:alphaModFix/>
          </a:blip>
          <a:stretch>
            <a:fillRect/>
          </a:stretch>
        </p:blipFill>
        <p:spPr>
          <a:xfrm>
            <a:off x="0" y="0"/>
            <a:ext cx="9144000" cy="5143500"/>
          </a:xfrm>
          <a:prstGeom prst="rect">
            <a:avLst/>
          </a:prstGeom>
          <a:noFill/>
          <a:ln>
            <a:noFill/>
          </a:ln>
        </p:spPr>
      </p:pic>
      <p:sp>
        <p:nvSpPr>
          <p:cNvPr id="441" name="Google Shape;441;p58"/>
          <p:cNvSpPr txBox="1"/>
          <p:nvPr/>
        </p:nvSpPr>
        <p:spPr>
          <a:xfrm>
            <a:off x="451700" y="2797700"/>
            <a:ext cx="7265100" cy="2143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GB" sz="2200">
                <a:latin typeface="Calibri"/>
                <a:ea typeface="Calibri"/>
                <a:cs typeface="Calibri"/>
                <a:sym typeface="Calibri"/>
              </a:rPr>
              <a:t>Vision</a:t>
            </a:r>
            <a:endParaRPr b="1" sz="2200">
              <a:latin typeface="Calibri"/>
              <a:ea typeface="Calibri"/>
              <a:cs typeface="Calibri"/>
              <a:sym typeface="Calibri"/>
            </a:endParaRPr>
          </a:p>
          <a:p>
            <a:pPr indent="0" lvl="0" marL="0" rtl="0" algn="just">
              <a:spcBef>
                <a:spcPts val="0"/>
              </a:spcBef>
              <a:spcAft>
                <a:spcPts val="0"/>
              </a:spcAft>
              <a:buNone/>
            </a:pPr>
            <a:r>
              <a:rPr lang="en-GB" sz="2200">
                <a:solidFill>
                  <a:srgbClr val="000000"/>
                </a:solidFill>
                <a:latin typeface="Calibri"/>
                <a:ea typeface="Calibri"/>
                <a:cs typeface="Calibri"/>
                <a:sym typeface="Calibri"/>
              </a:rPr>
              <a:t>Alfriston College is a learning community</a:t>
            </a:r>
            <a:r>
              <a:rPr b="1" lang="en-GB" sz="2200">
                <a:solidFill>
                  <a:srgbClr val="000000"/>
                </a:solidFill>
                <a:latin typeface="Calibri"/>
                <a:ea typeface="Calibri"/>
                <a:cs typeface="Calibri"/>
                <a:sym typeface="Calibri"/>
              </a:rPr>
              <a:t> </a:t>
            </a:r>
            <a:r>
              <a:rPr lang="en-GB" sz="2200">
                <a:solidFill>
                  <a:srgbClr val="000000"/>
                </a:solidFill>
                <a:latin typeface="Calibri"/>
                <a:ea typeface="Calibri"/>
                <a:cs typeface="Calibri"/>
                <a:sym typeface="Calibri"/>
              </a:rPr>
              <a:t>dedicated to developing and supporting </a:t>
            </a:r>
            <a:r>
              <a:rPr b="1" lang="en-GB" sz="2200">
                <a:solidFill>
                  <a:srgbClr val="980000"/>
                </a:solidFill>
                <a:latin typeface="Calibri"/>
                <a:ea typeface="Calibri"/>
                <a:cs typeface="Calibri"/>
                <a:sym typeface="Calibri"/>
              </a:rPr>
              <a:t>lifelong independent learners</a:t>
            </a:r>
            <a:r>
              <a:rPr lang="en-GB" sz="2200">
                <a:solidFill>
                  <a:srgbClr val="000000"/>
                </a:solidFill>
                <a:latin typeface="Calibri"/>
                <a:ea typeface="Calibri"/>
                <a:cs typeface="Calibri"/>
                <a:sym typeface="Calibri"/>
              </a:rPr>
              <a:t> by creating an environment that fosters a sense of </a:t>
            </a:r>
            <a:r>
              <a:rPr b="1" lang="en-GB" sz="2200">
                <a:solidFill>
                  <a:srgbClr val="980000"/>
                </a:solidFill>
                <a:latin typeface="Calibri"/>
                <a:ea typeface="Calibri"/>
                <a:cs typeface="Calibri"/>
                <a:sym typeface="Calibri"/>
              </a:rPr>
              <a:t>Belonging</a:t>
            </a:r>
            <a:r>
              <a:rPr lang="en-GB" sz="2200">
                <a:solidFill>
                  <a:srgbClr val="000000"/>
                </a:solidFill>
                <a:latin typeface="Calibri"/>
                <a:ea typeface="Calibri"/>
                <a:cs typeface="Calibri"/>
                <a:sym typeface="Calibri"/>
              </a:rPr>
              <a:t>, values </a:t>
            </a:r>
            <a:r>
              <a:rPr b="1" lang="en-GB" sz="2200">
                <a:solidFill>
                  <a:srgbClr val="980000"/>
                </a:solidFill>
                <a:latin typeface="Calibri"/>
                <a:ea typeface="Calibri"/>
                <a:cs typeface="Calibri"/>
                <a:sym typeface="Calibri"/>
              </a:rPr>
              <a:t>Learning</a:t>
            </a:r>
            <a:r>
              <a:rPr lang="en-GB" sz="2200">
                <a:solidFill>
                  <a:srgbClr val="000000"/>
                </a:solidFill>
                <a:latin typeface="Calibri"/>
                <a:ea typeface="Calibri"/>
                <a:cs typeface="Calibri"/>
                <a:sym typeface="Calibri"/>
              </a:rPr>
              <a:t>, and expects </a:t>
            </a:r>
            <a:r>
              <a:rPr b="1" lang="en-GB" sz="2200">
                <a:solidFill>
                  <a:srgbClr val="980000"/>
                </a:solidFill>
                <a:latin typeface="Calibri"/>
                <a:ea typeface="Calibri"/>
                <a:cs typeface="Calibri"/>
                <a:sym typeface="Calibri"/>
              </a:rPr>
              <a:t>Success</a:t>
            </a:r>
            <a:r>
              <a:rPr lang="en-GB" sz="2200">
                <a:solidFill>
                  <a:srgbClr val="000000"/>
                </a:solidFill>
                <a:latin typeface="Calibri"/>
                <a:ea typeface="Calibri"/>
                <a:cs typeface="Calibri"/>
                <a:sym typeface="Calibri"/>
              </a:rPr>
              <a:t>.</a:t>
            </a:r>
            <a:endParaRPr sz="2200">
              <a:solidFill>
                <a:srgbClr val="000000"/>
              </a:solidFill>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3000">
              <a:solidFill>
                <a:srgbClr val="222B67"/>
              </a:solidFill>
            </a:endParaRPr>
          </a:p>
        </p:txBody>
      </p:sp>
      <p:pic>
        <p:nvPicPr>
          <p:cNvPr descr="Alfriston College Logo-12.png" id="442" name="Google Shape;442;p58"/>
          <p:cNvPicPr preferRelativeResize="0"/>
          <p:nvPr/>
        </p:nvPicPr>
        <p:blipFill>
          <a:blip r:embed="rId4">
            <a:alphaModFix/>
          </a:blip>
          <a:stretch>
            <a:fillRect/>
          </a:stretch>
        </p:blipFill>
        <p:spPr>
          <a:xfrm>
            <a:off x="7997098" y="79002"/>
            <a:ext cx="1092277" cy="1524425"/>
          </a:xfrm>
          <a:prstGeom prst="rect">
            <a:avLst/>
          </a:prstGeom>
          <a:noFill/>
          <a:ln>
            <a:noFill/>
          </a:ln>
        </p:spPr>
      </p:pic>
      <p:pic>
        <p:nvPicPr>
          <p:cNvPr descr="AC Slides with corner pattern-01.jpeg" id="443" name="Google Shape;443;p58"/>
          <p:cNvPicPr preferRelativeResize="0"/>
          <p:nvPr/>
        </p:nvPicPr>
        <p:blipFill>
          <a:blip r:embed="rId5">
            <a:alphaModFix/>
          </a:blip>
          <a:stretch>
            <a:fillRect/>
          </a:stretch>
        </p:blipFill>
        <p:spPr>
          <a:xfrm>
            <a:off x="0" y="0"/>
            <a:ext cx="9144000" cy="5143500"/>
          </a:xfrm>
          <a:prstGeom prst="rect">
            <a:avLst/>
          </a:prstGeom>
          <a:noFill/>
          <a:ln>
            <a:noFill/>
          </a:ln>
        </p:spPr>
      </p:pic>
      <p:pic>
        <p:nvPicPr>
          <p:cNvPr descr="Alfriston College Logo-12.png" id="444" name="Google Shape;444;p58"/>
          <p:cNvPicPr preferRelativeResize="0"/>
          <p:nvPr/>
        </p:nvPicPr>
        <p:blipFill>
          <a:blip r:embed="rId4">
            <a:alphaModFix/>
          </a:blip>
          <a:stretch>
            <a:fillRect/>
          </a:stretch>
        </p:blipFill>
        <p:spPr>
          <a:xfrm>
            <a:off x="7997098" y="79002"/>
            <a:ext cx="1092277" cy="1524425"/>
          </a:xfrm>
          <a:prstGeom prst="rect">
            <a:avLst/>
          </a:prstGeom>
          <a:noFill/>
          <a:ln>
            <a:noFill/>
          </a:ln>
        </p:spPr>
      </p:pic>
      <p:sp>
        <p:nvSpPr>
          <p:cNvPr id="445" name="Google Shape;445;p58"/>
          <p:cNvSpPr txBox="1"/>
          <p:nvPr/>
        </p:nvSpPr>
        <p:spPr>
          <a:xfrm>
            <a:off x="1507600" y="1742275"/>
            <a:ext cx="5711700" cy="133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4100">
                <a:latin typeface="Luckiest Guy"/>
                <a:ea typeface="Luckiest Guy"/>
                <a:cs typeface="Luckiest Guy"/>
                <a:sym typeface="Luckiest Guy"/>
              </a:rPr>
              <a:t>Level 2 health</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Term 2 | week 2</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Mon 5 may - l1</a:t>
            </a:r>
            <a:endParaRPr sz="4100">
              <a:latin typeface="Luckiest Guy"/>
              <a:ea typeface="Luckiest Guy"/>
              <a:cs typeface="Luckiest Guy"/>
              <a:sym typeface="Luckiest Guy"/>
            </a:endParaRPr>
          </a:p>
          <a:p>
            <a:pPr indent="0" lvl="0" marL="0" rtl="0" algn="ctr">
              <a:spcBef>
                <a:spcPts val="0"/>
              </a:spcBef>
              <a:spcAft>
                <a:spcPts val="0"/>
              </a:spcAft>
              <a:buNone/>
            </a:pPr>
            <a:r>
              <a:t/>
            </a:r>
            <a:endParaRPr sz="4100">
              <a:latin typeface="Luckiest Guy"/>
              <a:ea typeface="Luckiest Guy"/>
              <a:cs typeface="Luckiest Guy"/>
              <a:sym typeface="Luckiest Guy"/>
            </a:endParaRPr>
          </a:p>
          <a:p>
            <a:pPr indent="0" lvl="0" marL="0" rtl="0" algn="ctr">
              <a:spcBef>
                <a:spcPts val="0"/>
              </a:spcBef>
              <a:spcAft>
                <a:spcPts val="0"/>
              </a:spcAft>
              <a:buNone/>
            </a:pPr>
            <a:r>
              <a:t/>
            </a:r>
            <a:endParaRPr sz="1800">
              <a:highlight>
                <a:srgbClr val="FF00FF"/>
              </a:highlight>
              <a:latin typeface="Luckiest Guy"/>
              <a:ea typeface="Luckiest Guy"/>
              <a:cs typeface="Luckiest Guy"/>
              <a:sym typeface="Luckiest Guy"/>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pic>
        <p:nvPicPr>
          <p:cNvPr descr="AC Slides-01.jpeg" id="450" name="Google Shape;450;p59"/>
          <p:cNvPicPr preferRelativeResize="0"/>
          <p:nvPr/>
        </p:nvPicPr>
        <p:blipFill>
          <a:blip r:embed="rId3">
            <a:alphaModFix/>
          </a:blip>
          <a:stretch>
            <a:fillRect/>
          </a:stretch>
        </p:blipFill>
        <p:spPr>
          <a:xfrm>
            <a:off x="0" y="0"/>
            <a:ext cx="9144000" cy="5143500"/>
          </a:xfrm>
          <a:prstGeom prst="rect">
            <a:avLst/>
          </a:prstGeom>
          <a:noFill/>
          <a:ln>
            <a:noFill/>
          </a:ln>
        </p:spPr>
      </p:pic>
      <p:sp>
        <p:nvSpPr>
          <p:cNvPr id="451" name="Google Shape;451;p59"/>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59"/>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453" name="Google Shape;453;p59"/>
          <p:cNvSpPr txBox="1"/>
          <p:nvPr/>
        </p:nvSpPr>
        <p:spPr>
          <a:xfrm>
            <a:off x="2371875" y="357225"/>
            <a:ext cx="57801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600">
                <a:solidFill>
                  <a:schemeClr val="dk1"/>
                </a:solidFill>
                <a:latin typeface="Luckiest Guy"/>
                <a:ea typeface="Luckiest Guy"/>
                <a:cs typeface="Luckiest Guy"/>
                <a:sym typeface="Luckiest Guy"/>
              </a:rPr>
              <a:t>Do now</a:t>
            </a:r>
            <a:endParaRPr sz="3300">
              <a:solidFill>
                <a:schemeClr val="dk1"/>
              </a:solidFill>
              <a:latin typeface="ABeeZee"/>
              <a:ea typeface="ABeeZee"/>
              <a:cs typeface="ABeeZee"/>
              <a:sym typeface="ABeeZee"/>
            </a:endParaRPr>
          </a:p>
        </p:txBody>
      </p:sp>
      <p:sp>
        <p:nvSpPr>
          <p:cNvPr id="454" name="Google Shape;454;p59"/>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59"/>
          <p:cNvSpPr txBox="1"/>
          <p:nvPr/>
        </p:nvSpPr>
        <p:spPr>
          <a:xfrm flipH="1" rot="-5400000">
            <a:off x="-7308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
        <p:nvSpPr>
          <p:cNvPr id="456" name="Google Shape;456;p59"/>
          <p:cNvSpPr txBox="1"/>
          <p:nvPr/>
        </p:nvSpPr>
        <p:spPr>
          <a:xfrm>
            <a:off x="2473450" y="1310650"/>
            <a:ext cx="66888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ABeeZee"/>
                <a:ea typeface="ABeeZee"/>
                <a:cs typeface="ABeeZee"/>
                <a:sym typeface="ABeeZee"/>
              </a:rPr>
              <a:t>“Gender and sexual identity is complex and fluid. It’s OK to be who you are and to feel a mix of things. Identity can change over time.”</a:t>
            </a:r>
            <a:endParaRPr sz="1800">
              <a:solidFill>
                <a:schemeClr val="dk1"/>
              </a:solidFill>
              <a:latin typeface="ABeeZee"/>
              <a:ea typeface="ABeeZee"/>
              <a:cs typeface="ABeeZee"/>
              <a:sym typeface="ABeeZee"/>
            </a:endParaRPr>
          </a:p>
          <a:p>
            <a:pPr indent="0" lvl="0" marL="0" rtl="0" algn="l">
              <a:spcBef>
                <a:spcPts val="0"/>
              </a:spcBef>
              <a:spcAft>
                <a:spcPts val="0"/>
              </a:spcAft>
              <a:buNone/>
            </a:pPr>
            <a:r>
              <a:t/>
            </a:r>
            <a:endParaRPr sz="1800">
              <a:solidFill>
                <a:schemeClr val="dk1"/>
              </a:solidFill>
              <a:latin typeface="ABeeZee"/>
              <a:ea typeface="ABeeZee"/>
              <a:cs typeface="ABeeZee"/>
              <a:sym typeface="ABeeZee"/>
            </a:endParaRPr>
          </a:p>
          <a:p>
            <a:pPr indent="0" lvl="0" marL="0" rtl="0" algn="l">
              <a:spcBef>
                <a:spcPts val="0"/>
              </a:spcBef>
              <a:spcAft>
                <a:spcPts val="0"/>
              </a:spcAft>
              <a:buNone/>
            </a:pPr>
            <a:r>
              <a:rPr lang="en-GB" sz="1800">
                <a:solidFill>
                  <a:schemeClr val="dk1"/>
                </a:solidFill>
                <a:latin typeface="ABeeZee"/>
                <a:ea typeface="ABeeZee"/>
                <a:cs typeface="ABeeZee"/>
                <a:sym typeface="ABeeZee"/>
              </a:rPr>
              <a:t>Discuss in pairs what you think this means?</a:t>
            </a:r>
            <a:endParaRPr sz="1800">
              <a:solidFill>
                <a:schemeClr val="dk1"/>
              </a:solidFill>
              <a:latin typeface="ABeeZee"/>
              <a:ea typeface="ABeeZee"/>
              <a:cs typeface="ABeeZee"/>
              <a:sym typeface="ABeeZee"/>
            </a:endParaRPr>
          </a:p>
          <a:p>
            <a:pPr indent="0" lvl="0" marL="0" rtl="0" algn="l">
              <a:spcBef>
                <a:spcPts val="0"/>
              </a:spcBef>
              <a:spcAft>
                <a:spcPts val="0"/>
              </a:spcAft>
              <a:buNone/>
            </a:pPr>
            <a:r>
              <a:t/>
            </a:r>
            <a:endParaRPr sz="1800">
              <a:solidFill>
                <a:schemeClr val="dk1"/>
              </a:solidFill>
              <a:latin typeface="ABeeZee"/>
              <a:ea typeface="ABeeZee"/>
              <a:cs typeface="ABeeZee"/>
              <a:sym typeface="ABeeZee"/>
            </a:endParaRPr>
          </a:p>
          <a:p>
            <a:pPr indent="0" lvl="0" marL="0" rtl="0" algn="l">
              <a:spcBef>
                <a:spcPts val="0"/>
              </a:spcBef>
              <a:spcAft>
                <a:spcPts val="0"/>
              </a:spcAft>
              <a:buNone/>
            </a:pPr>
            <a:r>
              <a:t/>
            </a:r>
            <a:endParaRPr sz="1800">
              <a:solidFill>
                <a:schemeClr val="dk1"/>
              </a:solidFill>
              <a:latin typeface="ABeeZee"/>
              <a:ea typeface="ABeeZee"/>
              <a:cs typeface="ABeeZee"/>
              <a:sym typeface="ABeeZee"/>
            </a:endParaRPr>
          </a:p>
        </p:txBody>
      </p:sp>
      <p:pic>
        <p:nvPicPr>
          <p:cNvPr descr="This timer silently counts down to 0:00, then alerts you that time is up with a gentle beep sound." id="457" name="Google Shape;457;p59" title="10 Minute Timer">
            <a:hlinkClick r:id="rId4"/>
          </p:cNvPr>
          <p:cNvPicPr preferRelativeResize="0"/>
          <p:nvPr/>
        </p:nvPicPr>
        <p:blipFill>
          <a:blip r:embed="rId5">
            <a:alphaModFix/>
          </a:blip>
          <a:stretch>
            <a:fillRect/>
          </a:stretch>
        </p:blipFill>
        <p:spPr>
          <a:xfrm>
            <a:off x="2625850" y="3081813"/>
            <a:ext cx="2153400" cy="12112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1000"/>
                                        <p:tgtEl>
                                          <p:spTgt spid="4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pic>
        <p:nvPicPr>
          <p:cNvPr descr="AC Slides-01.jpeg" id="462" name="Google Shape;462;p60"/>
          <p:cNvPicPr preferRelativeResize="0"/>
          <p:nvPr/>
        </p:nvPicPr>
        <p:blipFill>
          <a:blip r:embed="rId3">
            <a:alphaModFix/>
          </a:blip>
          <a:stretch>
            <a:fillRect/>
          </a:stretch>
        </p:blipFill>
        <p:spPr>
          <a:xfrm>
            <a:off x="0" y="0"/>
            <a:ext cx="9144000" cy="5143500"/>
          </a:xfrm>
          <a:prstGeom prst="rect">
            <a:avLst/>
          </a:prstGeom>
          <a:noFill/>
          <a:ln>
            <a:noFill/>
          </a:ln>
        </p:spPr>
      </p:pic>
      <p:sp>
        <p:nvSpPr>
          <p:cNvPr id="463" name="Google Shape;463;p60"/>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60"/>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465" name="Google Shape;465;p60"/>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Learning intention</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600">
                <a:solidFill>
                  <a:schemeClr val="dk1"/>
                </a:solidFill>
                <a:latin typeface="ABeeZee"/>
                <a:ea typeface="ABeeZee"/>
                <a:cs typeface="ABeeZee"/>
                <a:sym typeface="ABeeZee"/>
              </a:rPr>
              <a:t>To build knowledge of 2.5 Gender and Sexuality Assessment</a:t>
            </a:r>
            <a:endParaRPr sz="2300">
              <a:latin typeface="Luckiest Guy"/>
              <a:ea typeface="Luckiest Guy"/>
              <a:cs typeface="Luckiest Guy"/>
              <a:sym typeface="Luckiest Guy"/>
            </a:endParaRPr>
          </a:p>
          <a:p>
            <a:pPr indent="0" lvl="0" marL="0" rtl="0" algn="l">
              <a:spcBef>
                <a:spcPts val="1200"/>
              </a:spcBef>
              <a:spcAft>
                <a:spcPts val="0"/>
              </a:spcAft>
              <a:buNone/>
            </a:pPr>
            <a:r>
              <a:t/>
            </a:r>
            <a:endParaRPr b="1" sz="2300">
              <a:latin typeface="Jost"/>
              <a:ea typeface="Jost"/>
              <a:cs typeface="Jost"/>
              <a:sym typeface="Jost"/>
            </a:endParaRPr>
          </a:p>
          <a:p>
            <a:pPr indent="0" lvl="0" marL="0" rtl="0" algn="l">
              <a:spcBef>
                <a:spcPts val="0"/>
              </a:spcBef>
              <a:spcAft>
                <a:spcPts val="0"/>
              </a:spcAft>
              <a:buNone/>
            </a:pPr>
            <a:r>
              <a:rPr lang="en-GB" sz="2500">
                <a:solidFill>
                  <a:schemeClr val="dk1"/>
                </a:solidFill>
                <a:latin typeface="Luckiest Guy"/>
                <a:ea typeface="Luckiest Guy"/>
                <a:cs typeface="Luckiest Guy"/>
                <a:sym typeface="Luckiest Guy"/>
              </a:rPr>
              <a:t>Success criteria</a:t>
            </a:r>
            <a:endParaRPr sz="1700">
              <a:solidFill>
                <a:schemeClr val="dk1"/>
              </a:solidFill>
              <a:latin typeface="Jost"/>
              <a:ea typeface="Jost"/>
              <a:cs typeface="Jost"/>
              <a:sym typeface="Jost"/>
            </a:endParaRPr>
          </a:p>
          <a:p>
            <a:pPr indent="-336550" lvl="0" marL="457200" rtl="0" algn="l">
              <a:lnSpc>
                <a:spcPct val="115000"/>
              </a:lnSpc>
              <a:spcBef>
                <a:spcPts val="1200"/>
              </a:spcBef>
              <a:spcAft>
                <a:spcPts val="0"/>
              </a:spcAft>
              <a:buClr>
                <a:schemeClr val="dk1"/>
              </a:buClr>
              <a:buSzPts val="1700"/>
              <a:buFont typeface="ABeeZee"/>
              <a:buChar char="●"/>
            </a:pPr>
            <a:r>
              <a:rPr lang="en-GB" sz="1700">
                <a:solidFill>
                  <a:schemeClr val="dk1"/>
                </a:solidFill>
                <a:latin typeface="ABeeZee"/>
                <a:ea typeface="ABeeZee"/>
                <a:cs typeface="ABeeZee"/>
                <a:sym typeface="ABeeZee"/>
              </a:rPr>
              <a:t>Read the entire 2.5 Gender and Sexuality Assessment</a:t>
            </a:r>
            <a:endParaRPr sz="1700">
              <a:solidFill>
                <a:schemeClr val="dk1"/>
              </a:solidFill>
              <a:latin typeface="ABeeZee"/>
              <a:ea typeface="ABeeZee"/>
              <a:cs typeface="ABeeZee"/>
              <a:sym typeface="ABeeZee"/>
            </a:endParaRPr>
          </a:p>
          <a:p>
            <a:pPr indent="-336550" lvl="0" marL="457200" rtl="0" algn="l">
              <a:lnSpc>
                <a:spcPct val="115000"/>
              </a:lnSpc>
              <a:spcBef>
                <a:spcPts val="0"/>
              </a:spcBef>
              <a:spcAft>
                <a:spcPts val="0"/>
              </a:spcAft>
              <a:buClr>
                <a:schemeClr val="dk1"/>
              </a:buClr>
              <a:buSzPts val="1700"/>
              <a:buFont typeface="ABeeZee"/>
              <a:buChar char="●"/>
            </a:pPr>
            <a:r>
              <a:rPr lang="en-GB" sz="1700">
                <a:solidFill>
                  <a:schemeClr val="dk1"/>
                </a:solidFill>
                <a:latin typeface="ABeeZee"/>
                <a:ea typeface="ABeeZee"/>
                <a:cs typeface="ABeeZee"/>
                <a:sym typeface="ABeeZee"/>
              </a:rPr>
              <a:t>Complete the associated assessment questions</a:t>
            </a:r>
            <a:endParaRPr sz="17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466" name="Google Shape;466;p60"/>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60"/>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pic>
        <p:nvPicPr>
          <p:cNvPr descr="AC Slides-01.jpeg" id="472" name="Google Shape;472;p61"/>
          <p:cNvPicPr preferRelativeResize="0"/>
          <p:nvPr/>
        </p:nvPicPr>
        <p:blipFill>
          <a:blip r:embed="rId3">
            <a:alphaModFix/>
          </a:blip>
          <a:stretch>
            <a:fillRect/>
          </a:stretch>
        </p:blipFill>
        <p:spPr>
          <a:xfrm>
            <a:off x="0" y="0"/>
            <a:ext cx="9144000" cy="5143500"/>
          </a:xfrm>
          <a:prstGeom prst="rect">
            <a:avLst/>
          </a:prstGeom>
          <a:noFill/>
          <a:ln>
            <a:noFill/>
          </a:ln>
        </p:spPr>
      </p:pic>
      <p:sp>
        <p:nvSpPr>
          <p:cNvPr id="473" name="Google Shape;473;p61"/>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61"/>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475" name="Google Shape;475;p61"/>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2.5 gender and sexuality assessment</a:t>
            </a:r>
            <a:endParaRPr sz="1800">
              <a:solidFill>
                <a:schemeClr val="dk1"/>
              </a:solidFill>
              <a:latin typeface="ABeeZee"/>
              <a:ea typeface="ABeeZee"/>
              <a:cs typeface="ABeeZee"/>
              <a:sym typeface="ABeeZee"/>
            </a:endParaRPr>
          </a:p>
          <a:p>
            <a:pPr indent="-336550" lvl="0" marL="457200" rtl="0" algn="l">
              <a:lnSpc>
                <a:spcPct val="115000"/>
              </a:lnSpc>
              <a:spcBef>
                <a:spcPts val="1200"/>
              </a:spcBef>
              <a:spcAft>
                <a:spcPts val="0"/>
              </a:spcAft>
              <a:buClr>
                <a:schemeClr val="dk1"/>
              </a:buClr>
              <a:buSzPts val="1700"/>
              <a:buFont typeface="ABeeZee"/>
              <a:buChar char="●"/>
            </a:pPr>
            <a:r>
              <a:rPr lang="en-GB" sz="1600">
                <a:solidFill>
                  <a:schemeClr val="dk1"/>
                </a:solidFill>
                <a:latin typeface="ABeeZee"/>
                <a:ea typeface="ABeeZee"/>
                <a:cs typeface="ABeeZee"/>
                <a:sym typeface="ABeeZee"/>
              </a:rPr>
              <a:t>In pairs read the entire assessment</a:t>
            </a:r>
            <a:endParaRPr sz="1600">
              <a:solidFill>
                <a:schemeClr val="dk1"/>
              </a:solidFill>
              <a:latin typeface="ABeeZee"/>
              <a:ea typeface="ABeeZee"/>
              <a:cs typeface="ABeeZee"/>
              <a:sym typeface="ABeeZee"/>
            </a:endParaRPr>
          </a:p>
          <a:p>
            <a:pPr indent="-330200" lvl="0" marL="457200" rtl="0" algn="l">
              <a:lnSpc>
                <a:spcPct val="115000"/>
              </a:lnSpc>
              <a:spcBef>
                <a:spcPts val="0"/>
              </a:spcBef>
              <a:spcAft>
                <a:spcPts val="0"/>
              </a:spcAft>
              <a:buClr>
                <a:schemeClr val="dk1"/>
              </a:buClr>
              <a:buSzPts val="1600"/>
              <a:buFont typeface="ABeeZee"/>
              <a:buChar char="●"/>
            </a:pPr>
            <a:r>
              <a:rPr lang="en-GB" sz="1600">
                <a:solidFill>
                  <a:schemeClr val="dk1"/>
                </a:solidFill>
                <a:latin typeface="ABeeZee"/>
                <a:ea typeface="ABeeZee"/>
                <a:cs typeface="ABeeZee"/>
                <a:sym typeface="ABeeZee"/>
              </a:rPr>
              <a:t>Once you have read the assessment, completed the following questions in a book (not your chromebook:</a:t>
            </a:r>
            <a:endParaRPr sz="16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t/>
            </a:r>
            <a:endParaRPr sz="1500">
              <a:solidFill>
                <a:schemeClr val="dk1"/>
              </a:solidFill>
              <a:latin typeface="ABeeZee"/>
              <a:ea typeface="ABeeZee"/>
              <a:cs typeface="ABeeZee"/>
              <a:sym typeface="ABeeZee"/>
            </a:endParaRPr>
          </a:p>
          <a:p>
            <a:pPr indent="-330200" lvl="0" marL="457200" rtl="0" algn="l">
              <a:lnSpc>
                <a:spcPct val="100000"/>
              </a:lnSpc>
              <a:spcBef>
                <a:spcPts val="1200"/>
              </a:spcBef>
              <a:spcAft>
                <a:spcPts val="0"/>
              </a:spcAft>
              <a:buClr>
                <a:schemeClr val="dk1"/>
              </a:buClr>
              <a:buSzPts val="1600"/>
              <a:buFont typeface="ABeeZee"/>
              <a:buAutoNum type="arabicPeriod"/>
            </a:pPr>
            <a:r>
              <a:rPr lang="en-GB" sz="1600">
                <a:solidFill>
                  <a:schemeClr val="dk1"/>
                </a:solidFill>
                <a:highlight>
                  <a:srgbClr val="FFFFFF"/>
                </a:highlight>
                <a:latin typeface="ABeeZee"/>
                <a:ea typeface="ABeeZee"/>
                <a:cs typeface="ABeeZee"/>
                <a:sym typeface="ABeeZee"/>
              </a:rPr>
              <a:t>What is the title of the assessment?</a:t>
            </a:r>
            <a:endParaRPr sz="1600">
              <a:solidFill>
                <a:schemeClr val="dk1"/>
              </a:solidFill>
              <a:highlight>
                <a:srgbClr val="FFFFFF"/>
              </a:highlight>
              <a:latin typeface="ABeeZee"/>
              <a:ea typeface="ABeeZee"/>
              <a:cs typeface="ABeeZee"/>
              <a:sym typeface="ABeeZee"/>
            </a:endParaRPr>
          </a:p>
          <a:p>
            <a:pPr indent="-330200" lvl="0" marL="457200" rtl="0" algn="l">
              <a:lnSpc>
                <a:spcPct val="100000"/>
              </a:lnSpc>
              <a:spcBef>
                <a:spcPts val="0"/>
              </a:spcBef>
              <a:spcAft>
                <a:spcPts val="0"/>
              </a:spcAft>
              <a:buClr>
                <a:schemeClr val="dk1"/>
              </a:buClr>
              <a:buSzPts val="1600"/>
              <a:buFont typeface="ABeeZee"/>
              <a:buAutoNum type="arabicPeriod"/>
            </a:pPr>
            <a:r>
              <a:rPr lang="en-GB" sz="1600">
                <a:solidFill>
                  <a:schemeClr val="dk1"/>
                </a:solidFill>
                <a:highlight>
                  <a:srgbClr val="FFFFFF"/>
                </a:highlight>
                <a:latin typeface="ABeeZee"/>
                <a:ea typeface="ABeeZee"/>
                <a:cs typeface="ABeeZee"/>
                <a:sym typeface="ABeeZee"/>
              </a:rPr>
              <a:t>What does the assessment require you do?</a:t>
            </a:r>
            <a:endParaRPr sz="1600">
              <a:solidFill>
                <a:schemeClr val="dk1"/>
              </a:solidFill>
              <a:highlight>
                <a:srgbClr val="FFFFFF"/>
              </a:highlight>
              <a:latin typeface="ABeeZee"/>
              <a:ea typeface="ABeeZee"/>
              <a:cs typeface="ABeeZee"/>
              <a:sym typeface="ABeeZee"/>
            </a:endParaRPr>
          </a:p>
          <a:p>
            <a:pPr indent="-330200" lvl="0" marL="457200" rtl="0" algn="l">
              <a:lnSpc>
                <a:spcPct val="100000"/>
              </a:lnSpc>
              <a:spcBef>
                <a:spcPts val="0"/>
              </a:spcBef>
              <a:spcAft>
                <a:spcPts val="0"/>
              </a:spcAft>
              <a:buClr>
                <a:schemeClr val="dk1"/>
              </a:buClr>
              <a:buSzPts val="1600"/>
              <a:buFont typeface="ABeeZee"/>
              <a:buAutoNum type="arabicPeriod"/>
            </a:pPr>
            <a:r>
              <a:rPr lang="en-GB" sz="1600">
                <a:solidFill>
                  <a:schemeClr val="dk1"/>
                </a:solidFill>
                <a:highlight>
                  <a:srgbClr val="FFFFFF"/>
                </a:highlight>
                <a:latin typeface="ABeeZee"/>
                <a:ea typeface="ABeeZee"/>
                <a:cs typeface="ABeeZee"/>
                <a:sym typeface="ABeeZee"/>
              </a:rPr>
              <a:t>Explain the difference between the 3 achievement levels?</a:t>
            </a:r>
            <a:endParaRPr sz="1600">
              <a:solidFill>
                <a:schemeClr val="dk1"/>
              </a:solidFill>
              <a:highlight>
                <a:srgbClr val="FFFFFF"/>
              </a:highlight>
              <a:latin typeface="ABeeZee"/>
              <a:ea typeface="ABeeZee"/>
              <a:cs typeface="ABeeZee"/>
              <a:sym typeface="ABeeZee"/>
            </a:endParaRPr>
          </a:p>
          <a:p>
            <a:pPr indent="-330200" lvl="0" marL="457200" rtl="0" algn="l">
              <a:lnSpc>
                <a:spcPct val="100000"/>
              </a:lnSpc>
              <a:spcBef>
                <a:spcPts val="0"/>
              </a:spcBef>
              <a:spcAft>
                <a:spcPts val="0"/>
              </a:spcAft>
              <a:buClr>
                <a:schemeClr val="dk1"/>
              </a:buClr>
              <a:buSzPts val="1600"/>
              <a:buFont typeface="ABeeZee"/>
              <a:buAutoNum type="arabicPeriod"/>
            </a:pPr>
            <a:r>
              <a:rPr lang="en-GB" sz="1600">
                <a:solidFill>
                  <a:schemeClr val="dk1"/>
                </a:solidFill>
                <a:highlight>
                  <a:srgbClr val="FFFFFF"/>
                </a:highlight>
                <a:latin typeface="ABeeZee"/>
                <a:ea typeface="ABeeZee"/>
                <a:cs typeface="ABeeZee"/>
                <a:sym typeface="ABeeZee"/>
              </a:rPr>
              <a:t>When is this assessment due?</a:t>
            </a:r>
            <a:endParaRPr sz="1600">
              <a:solidFill>
                <a:schemeClr val="dk1"/>
              </a:solidFill>
              <a:highlight>
                <a:srgbClr val="FFFFFF"/>
              </a:highlight>
              <a:latin typeface="ABeeZee"/>
              <a:ea typeface="ABeeZee"/>
              <a:cs typeface="ABeeZee"/>
              <a:sym typeface="ABeeZee"/>
            </a:endParaRPr>
          </a:p>
          <a:p>
            <a:pPr indent="-330200" lvl="0" marL="457200" rtl="0" algn="l">
              <a:lnSpc>
                <a:spcPct val="100000"/>
              </a:lnSpc>
              <a:spcBef>
                <a:spcPts val="0"/>
              </a:spcBef>
              <a:spcAft>
                <a:spcPts val="0"/>
              </a:spcAft>
              <a:buClr>
                <a:schemeClr val="dk1"/>
              </a:buClr>
              <a:buSzPts val="1600"/>
              <a:buFont typeface="ABeeZee"/>
              <a:buAutoNum type="arabicPeriod"/>
            </a:pPr>
            <a:r>
              <a:rPr lang="en-GB" sz="1600">
                <a:solidFill>
                  <a:schemeClr val="dk1"/>
                </a:solidFill>
                <a:highlight>
                  <a:srgbClr val="FFFFFF"/>
                </a:highlight>
                <a:latin typeface="ABeeZee"/>
                <a:ea typeface="ABeeZee"/>
                <a:cs typeface="ABeeZee"/>
                <a:sym typeface="ABeeZee"/>
              </a:rPr>
              <a:t>How many parts are there to the assessment?</a:t>
            </a:r>
            <a:endParaRPr sz="1600">
              <a:solidFill>
                <a:schemeClr val="dk1"/>
              </a:solidFill>
              <a:highlight>
                <a:srgbClr val="FFFFFF"/>
              </a:highlight>
              <a:latin typeface="ABeeZee"/>
              <a:ea typeface="ABeeZee"/>
              <a:cs typeface="ABeeZee"/>
              <a:sym typeface="ABeeZee"/>
            </a:endParaRPr>
          </a:p>
          <a:p>
            <a:pPr indent="-330200" lvl="0" marL="457200" rtl="0" algn="l">
              <a:lnSpc>
                <a:spcPct val="100000"/>
              </a:lnSpc>
              <a:spcBef>
                <a:spcPts val="0"/>
              </a:spcBef>
              <a:spcAft>
                <a:spcPts val="0"/>
              </a:spcAft>
              <a:buClr>
                <a:schemeClr val="dk1"/>
              </a:buClr>
              <a:buSzPts val="1600"/>
              <a:buFont typeface="ABeeZee"/>
              <a:buAutoNum type="arabicPeriod"/>
            </a:pPr>
            <a:r>
              <a:rPr lang="en-GB" sz="1600">
                <a:solidFill>
                  <a:schemeClr val="dk1"/>
                </a:solidFill>
                <a:highlight>
                  <a:srgbClr val="FFFFFF"/>
                </a:highlight>
                <a:latin typeface="ABeeZee"/>
                <a:ea typeface="ABeeZee"/>
                <a:cs typeface="ABeeZee"/>
                <a:sym typeface="ABeeZee"/>
              </a:rPr>
              <a:t>How many credits is it worth?</a:t>
            </a:r>
            <a:endParaRPr sz="1600">
              <a:solidFill>
                <a:schemeClr val="dk1"/>
              </a:solidFill>
              <a:highlight>
                <a:srgbClr val="FFFFFF"/>
              </a:highlight>
              <a:latin typeface="ABeeZee"/>
              <a:ea typeface="ABeeZee"/>
              <a:cs typeface="ABeeZee"/>
              <a:sym typeface="ABeeZee"/>
            </a:endParaRPr>
          </a:p>
          <a:p>
            <a:pPr indent="-330200" lvl="0" marL="457200" rtl="0" algn="l">
              <a:lnSpc>
                <a:spcPct val="100000"/>
              </a:lnSpc>
              <a:spcBef>
                <a:spcPts val="0"/>
              </a:spcBef>
              <a:spcAft>
                <a:spcPts val="0"/>
              </a:spcAft>
              <a:buClr>
                <a:schemeClr val="dk1"/>
              </a:buClr>
              <a:buSzPts val="1600"/>
              <a:buFont typeface="ABeeZee"/>
              <a:buAutoNum type="arabicPeriod"/>
            </a:pPr>
            <a:r>
              <a:rPr lang="en-GB" sz="1600">
                <a:solidFill>
                  <a:schemeClr val="dk1"/>
                </a:solidFill>
                <a:highlight>
                  <a:srgbClr val="FFFFFF"/>
                </a:highlight>
                <a:latin typeface="ABeeZee"/>
                <a:ea typeface="ABeeZee"/>
                <a:cs typeface="ABeeZee"/>
                <a:sym typeface="ABeeZee"/>
              </a:rPr>
              <a:t>What knowledge does this assessment require?</a:t>
            </a:r>
            <a:endParaRPr sz="1600">
              <a:solidFill>
                <a:schemeClr val="dk1"/>
              </a:solidFill>
              <a:highlight>
                <a:srgbClr val="FFFFFF"/>
              </a:highlight>
              <a:latin typeface="ABeeZee"/>
              <a:ea typeface="ABeeZee"/>
              <a:cs typeface="ABeeZee"/>
              <a:sym typeface="ABeeZee"/>
            </a:endParaRPr>
          </a:p>
          <a:p>
            <a:pPr indent="-330200" lvl="0" marL="457200" rtl="0" algn="l">
              <a:lnSpc>
                <a:spcPct val="100000"/>
              </a:lnSpc>
              <a:spcBef>
                <a:spcPts val="0"/>
              </a:spcBef>
              <a:spcAft>
                <a:spcPts val="0"/>
              </a:spcAft>
              <a:buClr>
                <a:schemeClr val="dk1"/>
              </a:buClr>
              <a:buSzPts val="1600"/>
              <a:buFont typeface="ABeeZee"/>
              <a:buAutoNum type="arabicPeriod"/>
            </a:pPr>
            <a:r>
              <a:rPr lang="en-GB" sz="1600">
                <a:solidFill>
                  <a:schemeClr val="dk1"/>
                </a:solidFill>
                <a:highlight>
                  <a:srgbClr val="FFFFFF"/>
                </a:highlight>
                <a:latin typeface="ABeeZee"/>
                <a:ea typeface="ABeeZee"/>
                <a:cs typeface="ABeeZee"/>
                <a:sym typeface="ABeeZee"/>
              </a:rPr>
              <a:t>What questions do you have about the assessment?</a:t>
            </a:r>
            <a:endParaRPr sz="22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476" name="Google Shape;476;p61"/>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61"/>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pic>
        <p:nvPicPr>
          <p:cNvPr descr="AC Slides-01.jpeg" id="482" name="Google Shape;482;p62"/>
          <p:cNvPicPr preferRelativeResize="0"/>
          <p:nvPr/>
        </p:nvPicPr>
        <p:blipFill>
          <a:blip r:embed="rId3">
            <a:alphaModFix/>
          </a:blip>
          <a:stretch>
            <a:fillRect/>
          </a:stretch>
        </p:blipFill>
        <p:spPr>
          <a:xfrm>
            <a:off x="0" y="0"/>
            <a:ext cx="9144000" cy="5143500"/>
          </a:xfrm>
          <a:prstGeom prst="rect">
            <a:avLst/>
          </a:prstGeom>
          <a:noFill/>
          <a:ln>
            <a:noFill/>
          </a:ln>
        </p:spPr>
      </p:pic>
      <p:sp>
        <p:nvSpPr>
          <p:cNvPr id="483" name="Google Shape;483;p62"/>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62"/>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485" name="Google Shape;485;p62"/>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Class task</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600">
                <a:solidFill>
                  <a:schemeClr val="dk1"/>
                </a:solidFill>
                <a:latin typeface="ABeeZee"/>
                <a:ea typeface="ABeeZee"/>
                <a:cs typeface="ABeeZee"/>
                <a:sym typeface="ABeeZee"/>
              </a:rPr>
              <a:t>As a class we will go through the questions together and learners will have the opportunity to ask questions about the assessment at the end:</a:t>
            </a:r>
            <a:endParaRPr sz="16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t/>
            </a:r>
            <a:endParaRPr sz="1500">
              <a:solidFill>
                <a:schemeClr val="dk1"/>
              </a:solidFill>
              <a:latin typeface="ABeeZee"/>
              <a:ea typeface="ABeeZee"/>
              <a:cs typeface="ABeeZee"/>
              <a:sym typeface="ABeeZee"/>
            </a:endParaRPr>
          </a:p>
          <a:p>
            <a:pPr indent="-330200" lvl="0" marL="457200" rtl="0" algn="l">
              <a:lnSpc>
                <a:spcPct val="100000"/>
              </a:lnSpc>
              <a:spcBef>
                <a:spcPts val="1200"/>
              </a:spcBef>
              <a:spcAft>
                <a:spcPts val="0"/>
              </a:spcAft>
              <a:buClr>
                <a:schemeClr val="dk1"/>
              </a:buClr>
              <a:buSzPts val="1600"/>
              <a:buFont typeface="ABeeZee"/>
              <a:buAutoNum type="arabicPeriod"/>
            </a:pPr>
            <a:r>
              <a:rPr lang="en-GB" sz="1600">
                <a:solidFill>
                  <a:schemeClr val="dk1"/>
                </a:solidFill>
                <a:highlight>
                  <a:srgbClr val="FFFFFF"/>
                </a:highlight>
                <a:latin typeface="ABeeZee"/>
                <a:ea typeface="ABeeZee"/>
                <a:cs typeface="ABeeZee"/>
                <a:sym typeface="ABeeZee"/>
              </a:rPr>
              <a:t>What is the title of the assessment?</a:t>
            </a:r>
            <a:endParaRPr sz="1600">
              <a:solidFill>
                <a:schemeClr val="dk1"/>
              </a:solidFill>
              <a:highlight>
                <a:srgbClr val="FFFFFF"/>
              </a:highlight>
              <a:latin typeface="ABeeZee"/>
              <a:ea typeface="ABeeZee"/>
              <a:cs typeface="ABeeZee"/>
              <a:sym typeface="ABeeZee"/>
            </a:endParaRPr>
          </a:p>
          <a:p>
            <a:pPr indent="-330200" lvl="0" marL="457200" rtl="0" algn="l">
              <a:lnSpc>
                <a:spcPct val="100000"/>
              </a:lnSpc>
              <a:spcBef>
                <a:spcPts val="0"/>
              </a:spcBef>
              <a:spcAft>
                <a:spcPts val="0"/>
              </a:spcAft>
              <a:buClr>
                <a:schemeClr val="dk1"/>
              </a:buClr>
              <a:buSzPts val="1600"/>
              <a:buFont typeface="ABeeZee"/>
              <a:buAutoNum type="arabicPeriod"/>
            </a:pPr>
            <a:r>
              <a:rPr lang="en-GB" sz="1600">
                <a:solidFill>
                  <a:schemeClr val="dk1"/>
                </a:solidFill>
                <a:highlight>
                  <a:srgbClr val="FFFFFF"/>
                </a:highlight>
                <a:latin typeface="ABeeZee"/>
                <a:ea typeface="ABeeZee"/>
                <a:cs typeface="ABeeZee"/>
                <a:sym typeface="ABeeZee"/>
              </a:rPr>
              <a:t>What does the assessment require you do?</a:t>
            </a:r>
            <a:endParaRPr sz="1600">
              <a:solidFill>
                <a:schemeClr val="dk1"/>
              </a:solidFill>
              <a:highlight>
                <a:srgbClr val="FFFFFF"/>
              </a:highlight>
              <a:latin typeface="ABeeZee"/>
              <a:ea typeface="ABeeZee"/>
              <a:cs typeface="ABeeZee"/>
              <a:sym typeface="ABeeZee"/>
            </a:endParaRPr>
          </a:p>
          <a:p>
            <a:pPr indent="-330200" lvl="0" marL="457200" rtl="0" algn="l">
              <a:lnSpc>
                <a:spcPct val="100000"/>
              </a:lnSpc>
              <a:spcBef>
                <a:spcPts val="0"/>
              </a:spcBef>
              <a:spcAft>
                <a:spcPts val="0"/>
              </a:spcAft>
              <a:buClr>
                <a:schemeClr val="dk1"/>
              </a:buClr>
              <a:buSzPts val="1600"/>
              <a:buFont typeface="ABeeZee"/>
              <a:buAutoNum type="arabicPeriod"/>
            </a:pPr>
            <a:r>
              <a:rPr lang="en-GB" sz="1600">
                <a:solidFill>
                  <a:schemeClr val="dk1"/>
                </a:solidFill>
                <a:highlight>
                  <a:srgbClr val="FFFFFF"/>
                </a:highlight>
                <a:latin typeface="ABeeZee"/>
                <a:ea typeface="ABeeZee"/>
                <a:cs typeface="ABeeZee"/>
                <a:sym typeface="ABeeZee"/>
              </a:rPr>
              <a:t>Explain the difference between the 3 achievement levels?</a:t>
            </a:r>
            <a:endParaRPr sz="1600">
              <a:solidFill>
                <a:schemeClr val="dk1"/>
              </a:solidFill>
              <a:highlight>
                <a:srgbClr val="FFFFFF"/>
              </a:highlight>
              <a:latin typeface="ABeeZee"/>
              <a:ea typeface="ABeeZee"/>
              <a:cs typeface="ABeeZee"/>
              <a:sym typeface="ABeeZee"/>
            </a:endParaRPr>
          </a:p>
          <a:p>
            <a:pPr indent="-330200" lvl="0" marL="457200" rtl="0" algn="l">
              <a:lnSpc>
                <a:spcPct val="100000"/>
              </a:lnSpc>
              <a:spcBef>
                <a:spcPts val="0"/>
              </a:spcBef>
              <a:spcAft>
                <a:spcPts val="0"/>
              </a:spcAft>
              <a:buClr>
                <a:schemeClr val="dk1"/>
              </a:buClr>
              <a:buSzPts val="1600"/>
              <a:buFont typeface="ABeeZee"/>
              <a:buAutoNum type="arabicPeriod"/>
            </a:pPr>
            <a:r>
              <a:rPr lang="en-GB" sz="1600">
                <a:solidFill>
                  <a:schemeClr val="dk1"/>
                </a:solidFill>
                <a:highlight>
                  <a:srgbClr val="FFFFFF"/>
                </a:highlight>
                <a:latin typeface="ABeeZee"/>
                <a:ea typeface="ABeeZee"/>
                <a:cs typeface="ABeeZee"/>
                <a:sym typeface="ABeeZee"/>
              </a:rPr>
              <a:t>When is this assessment due?</a:t>
            </a:r>
            <a:endParaRPr sz="1600">
              <a:solidFill>
                <a:schemeClr val="dk1"/>
              </a:solidFill>
              <a:highlight>
                <a:srgbClr val="FFFFFF"/>
              </a:highlight>
              <a:latin typeface="ABeeZee"/>
              <a:ea typeface="ABeeZee"/>
              <a:cs typeface="ABeeZee"/>
              <a:sym typeface="ABeeZee"/>
            </a:endParaRPr>
          </a:p>
          <a:p>
            <a:pPr indent="-330200" lvl="0" marL="457200" rtl="0" algn="l">
              <a:lnSpc>
                <a:spcPct val="100000"/>
              </a:lnSpc>
              <a:spcBef>
                <a:spcPts val="0"/>
              </a:spcBef>
              <a:spcAft>
                <a:spcPts val="0"/>
              </a:spcAft>
              <a:buClr>
                <a:schemeClr val="dk1"/>
              </a:buClr>
              <a:buSzPts val="1600"/>
              <a:buFont typeface="ABeeZee"/>
              <a:buAutoNum type="arabicPeriod"/>
            </a:pPr>
            <a:r>
              <a:rPr lang="en-GB" sz="1600">
                <a:solidFill>
                  <a:schemeClr val="dk1"/>
                </a:solidFill>
                <a:highlight>
                  <a:srgbClr val="FFFFFF"/>
                </a:highlight>
                <a:latin typeface="ABeeZee"/>
                <a:ea typeface="ABeeZee"/>
                <a:cs typeface="ABeeZee"/>
                <a:sym typeface="ABeeZee"/>
              </a:rPr>
              <a:t>How many parts are there to the assessment?</a:t>
            </a:r>
            <a:endParaRPr sz="1600">
              <a:solidFill>
                <a:schemeClr val="dk1"/>
              </a:solidFill>
              <a:highlight>
                <a:srgbClr val="FFFFFF"/>
              </a:highlight>
              <a:latin typeface="ABeeZee"/>
              <a:ea typeface="ABeeZee"/>
              <a:cs typeface="ABeeZee"/>
              <a:sym typeface="ABeeZee"/>
            </a:endParaRPr>
          </a:p>
          <a:p>
            <a:pPr indent="-330200" lvl="0" marL="457200" rtl="0" algn="l">
              <a:lnSpc>
                <a:spcPct val="100000"/>
              </a:lnSpc>
              <a:spcBef>
                <a:spcPts val="0"/>
              </a:spcBef>
              <a:spcAft>
                <a:spcPts val="0"/>
              </a:spcAft>
              <a:buClr>
                <a:schemeClr val="dk1"/>
              </a:buClr>
              <a:buSzPts val="1600"/>
              <a:buFont typeface="ABeeZee"/>
              <a:buAutoNum type="arabicPeriod"/>
            </a:pPr>
            <a:r>
              <a:rPr lang="en-GB" sz="1600">
                <a:solidFill>
                  <a:schemeClr val="dk1"/>
                </a:solidFill>
                <a:highlight>
                  <a:srgbClr val="FFFFFF"/>
                </a:highlight>
                <a:latin typeface="ABeeZee"/>
                <a:ea typeface="ABeeZee"/>
                <a:cs typeface="ABeeZee"/>
                <a:sym typeface="ABeeZee"/>
              </a:rPr>
              <a:t>How many credits is it worth?</a:t>
            </a:r>
            <a:endParaRPr sz="1600">
              <a:solidFill>
                <a:schemeClr val="dk1"/>
              </a:solidFill>
              <a:highlight>
                <a:srgbClr val="FFFFFF"/>
              </a:highlight>
              <a:latin typeface="ABeeZee"/>
              <a:ea typeface="ABeeZee"/>
              <a:cs typeface="ABeeZee"/>
              <a:sym typeface="ABeeZee"/>
            </a:endParaRPr>
          </a:p>
          <a:p>
            <a:pPr indent="-330200" lvl="0" marL="457200" rtl="0" algn="l">
              <a:lnSpc>
                <a:spcPct val="100000"/>
              </a:lnSpc>
              <a:spcBef>
                <a:spcPts val="0"/>
              </a:spcBef>
              <a:spcAft>
                <a:spcPts val="0"/>
              </a:spcAft>
              <a:buClr>
                <a:schemeClr val="dk1"/>
              </a:buClr>
              <a:buSzPts val="1600"/>
              <a:buFont typeface="ABeeZee"/>
              <a:buAutoNum type="arabicPeriod"/>
            </a:pPr>
            <a:r>
              <a:rPr lang="en-GB" sz="1600">
                <a:solidFill>
                  <a:schemeClr val="dk1"/>
                </a:solidFill>
                <a:highlight>
                  <a:srgbClr val="FFFFFF"/>
                </a:highlight>
                <a:latin typeface="ABeeZee"/>
                <a:ea typeface="ABeeZee"/>
                <a:cs typeface="ABeeZee"/>
                <a:sym typeface="ABeeZee"/>
              </a:rPr>
              <a:t>What knowledge does this assessment require?</a:t>
            </a:r>
            <a:endParaRPr sz="1600">
              <a:solidFill>
                <a:schemeClr val="dk1"/>
              </a:solidFill>
              <a:highlight>
                <a:srgbClr val="FFFFFF"/>
              </a:highlight>
              <a:latin typeface="ABeeZee"/>
              <a:ea typeface="ABeeZee"/>
              <a:cs typeface="ABeeZee"/>
              <a:sym typeface="ABeeZee"/>
            </a:endParaRPr>
          </a:p>
          <a:p>
            <a:pPr indent="-330200" lvl="0" marL="457200" rtl="0" algn="l">
              <a:lnSpc>
                <a:spcPct val="100000"/>
              </a:lnSpc>
              <a:spcBef>
                <a:spcPts val="0"/>
              </a:spcBef>
              <a:spcAft>
                <a:spcPts val="0"/>
              </a:spcAft>
              <a:buClr>
                <a:schemeClr val="dk1"/>
              </a:buClr>
              <a:buSzPts val="1600"/>
              <a:buFont typeface="ABeeZee"/>
              <a:buAutoNum type="arabicPeriod"/>
            </a:pPr>
            <a:r>
              <a:rPr lang="en-GB" sz="1600">
                <a:solidFill>
                  <a:schemeClr val="dk1"/>
                </a:solidFill>
                <a:highlight>
                  <a:srgbClr val="FFFFFF"/>
                </a:highlight>
                <a:latin typeface="ABeeZee"/>
                <a:ea typeface="ABeeZee"/>
                <a:cs typeface="ABeeZee"/>
                <a:sym typeface="ABeeZee"/>
              </a:rPr>
              <a:t>What questions do you have about the assessment?</a:t>
            </a:r>
            <a:endParaRPr sz="22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486" name="Google Shape;486;p62"/>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62"/>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pic>
        <p:nvPicPr>
          <p:cNvPr descr="AC Slides-01.jpeg" id="492" name="Google Shape;492;p63"/>
          <p:cNvPicPr preferRelativeResize="0"/>
          <p:nvPr/>
        </p:nvPicPr>
        <p:blipFill>
          <a:blip r:embed="rId3">
            <a:alphaModFix/>
          </a:blip>
          <a:stretch>
            <a:fillRect/>
          </a:stretch>
        </p:blipFill>
        <p:spPr>
          <a:xfrm>
            <a:off x="0" y="0"/>
            <a:ext cx="9144000" cy="5143500"/>
          </a:xfrm>
          <a:prstGeom prst="rect">
            <a:avLst/>
          </a:prstGeom>
          <a:noFill/>
          <a:ln>
            <a:noFill/>
          </a:ln>
        </p:spPr>
      </p:pic>
      <p:sp>
        <p:nvSpPr>
          <p:cNvPr id="493" name="Google Shape;493;p63"/>
          <p:cNvSpPr txBox="1"/>
          <p:nvPr/>
        </p:nvSpPr>
        <p:spPr>
          <a:xfrm>
            <a:off x="540725" y="1924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494" name="Google Shape;494;p63"/>
          <p:cNvSpPr txBox="1"/>
          <p:nvPr/>
        </p:nvSpPr>
        <p:spPr>
          <a:xfrm>
            <a:off x="543075" y="281025"/>
            <a:ext cx="83496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600">
                <a:solidFill>
                  <a:schemeClr val="dk1"/>
                </a:solidFill>
                <a:latin typeface="Luckiest Guy"/>
                <a:ea typeface="Luckiest Guy"/>
                <a:cs typeface="Luckiest Guy"/>
                <a:sym typeface="Luckiest Guy"/>
              </a:rPr>
              <a:t>Reflection task</a:t>
            </a:r>
            <a:endParaRPr sz="3600">
              <a:solidFill>
                <a:schemeClr val="dk1"/>
              </a:solidFill>
              <a:latin typeface="Luckiest Guy"/>
              <a:ea typeface="Luckiest Guy"/>
              <a:cs typeface="Luckiest Guy"/>
              <a:sym typeface="Luckiest Guy"/>
            </a:endParaRPr>
          </a:p>
          <a:p>
            <a:pPr indent="-330200" lvl="0" marL="457200" rtl="0" algn="l">
              <a:spcBef>
                <a:spcPts val="0"/>
              </a:spcBef>
              <a:spcAft>
                <a:spcPts val="0"/>
              </a:spcAft>
              <a:buClr>
                <a:schemeClr val="dk1"/>
              </a:buClr>
              <a:buSzPts val="1600"/>
              <a:buFont typeface="ABeeZee"/>
              <a:buAutoNum type="arabicPeriod"/>
            </a:pPr>
            <a:r>
              <a:rPr lang="en-GB" sz="1600">
                <a:solidFill>
                  <a:schemeClr val="dk1"/>
                </a:solidFill>
                <a:latin typeface="ABeeZee"/>
                <a:ea typeface="ABeeZee"/>
                <a:cs typeface="ABeeZee"/>
                <a:sym typeface="ABeeZee"/>
              </a:rPr>
              <a:t>Think to yourself where you sit on this continuum</a:t>
            </a:r>
            <a:endParaRPr sz="1600">
              <a:solidFill>
                <a:schemeClr val="dk1"/>
              </a:solidFill>
              <a:latin typeface="ABeeZee"/>
              <a:ea typeface="ABeeZee"/>
              <a:cs typeface="ABeeZee"/>
              <a:sym typeface="ABeeZee"/>
            </a:endParaRPr>
          </a:p>
          <a:p>
            <a:pPr indent="-330200" lvl="0" marL="457200" rtl="0" algn="l">
              <a:spcBef>
                <a:spcPts val="0"/>
              </a:spcBef>
              <a:spcAft>
                <a:spcPts val="0"/>
              </a:spcAft>
              <a:buClr>
                <a:schemeClr val="dk1"/>
              </a:buClr>
              <a:buSzPts val="1600"/>
              <a:buFont typeface="ABeeZee"/>
              <a:buAutoNum type="arabicPeriod"/>
            </a:pPr>
            <a:r>
              <a:rPr lang="en-GB" sz="1600">
                <a:solidFill>
                  <a:schemeClr val="dk1"/>
                </a:solidFill>
                <a:latin typeface="ABeeZee"/>
                <a:ea typeface="ABeeZee"/>
                <a:cs typeface="ABeeZee"/>
                <a:sym typeface="ABeeZee"/>
              </a:rPr>
              <a:t>Share your thoughts at your table on whether you think people stay at one particular place on the continuum or move</a:t>
            </a:r>
            <a:endParaRPr sz="1600">
              <a:solidFill>
                <a:schemeClr val="dk1"/>
              </a:solidFill>
              <a:latin typeface="ABeeZee"/>
              <a:ea typeface="ABeeZee"/>
              <a:cs typeface="ABeeZee"/>
              <a:sym typeface="ABeeZee"/>
            </a:endParaRPr>
          </a:p>
          <a:p>
            <a:pPr indent="-330200" lvl="0" marL="457200" rtl="0" algn="l">
              <a:spcBef>
                <a:spcPts val="0"/>
              </a:spcBef>
              <a:spcAft>
                <a:spcPts val="0"/>
              </a:spcAft>
              <a:buClr>
                <a:schemeClr val="dk1"/>
              </a:buClr>
              <a:buSzPts val="1600"/>
              <a:buFont typeface="ABeeZee"/>
              <a:buAutoNum type="arabicPeriod"/>
            </a:pPr>
            <a:r>
              <a:rPr lang="en-GB" sz="1600">
                <a:solidFill>
                  <a:schemeClr val="dk1"/>
                </a:solidFill>
                <a:latin typeface="ABeeZee"/>
                <a:ea typeface="ABeeZee"/>
                <a:cs typeface="ABeeZee"/>
                <a:sym typeface="ABeeZee"/>
              </a:rPr>
              <a:t>Share your thinking on what influences/changes happen to people that make them more static (still) or dynamic (move) on the continuum</a:t>
            </a:r>
            <a:endParaRPr sz="1600">
              <a:solidFill>
                <a:schemeClr val="dk1"/>
              </a:solidFill>
              <a:latin typeface="ABeeZee"/>
              <a:ea typeface="ABeeZee"/>
              <a:cs typeface="ABeeZee"/>
              <a:sym typeface="ABeeZee"/>
            </a:endParaRPr>
          </a:p>
        </p:txBody>
      </p:sp>
      <p:cxnSp>
        <p:nvCxnSpPr>
          <p:cNvPr id="495" name="Google Shape;495;p63"/>
          <p:cNvCxnSpPr/>
          <p:nvPr/>
        </p:nvCxnSpPr>
        <p:spPr>
          <a:xfrm flipH="1" rot="10800000">
            <a:off x="533700" y="3181350"/>
            <a:ext cx="8610300" cy="3600"/>
          </a:xfrm>
          <a:prstGeom prst="straightConnector1">
            <a:avLst/>
          </a:prstGeom>
          <a:noFill/>
          <a:ln cap="flat" cmpd="sng" w="76200">
            <a:solidFill>
              <a:schemeClr val="dk2"/>
            </a:solidFill>
            <a:prstDash val="solid"/>
            <a:round/>
            <a:headEnd len="med" w="med" type="none"/>
            <a:tailEnd len="med" w="med" type="none"/>
          </a:ln>
        </p:spPr>
      </p:cxnSp>
      <p:sp>
        <p:nvSpPr>
          <p:cNvPr id="496" name="Google Shape;496;p63"/>
          <p:cNvSpPr txBox="1"/>
          <p:nvPr/>
        </p:nvSpPr>
        <p:spPr>
          <a:xfrm>
            <a:off x="3732350" y="2696350"/>
            <a:ext cx="24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ABeeZee"/>
                <a:ea typeface="ABeeZee"/>
                <a:cs typeface="ABeeZee"/>
                <a:sym typeface="ABeeZee"/>
              </a:rPr>
              <a:t>Straight/Heterosexual</a:t>
            </a:r>
            <a:endParaRPr>
              <a:solidFill>
                <a:schemeClr val="dk1"/>
              </a:solidFill>
              <a:latin typeface="ABeeZee"/>
              <a:ea typeface="ABeeZee"/>
              <a:cs typeface="ABeeZee"/>
              <a:sym typeface="ABeeZee"/>
            </a:endParaRPr>
          </a:p>
        </p:txBody>
      </p:sp>
      <p:sp>
        <p:nvSpPr>
          <p:cNvPr id="497" name="Google Shape;497;p63"/>
          <p:cNvSpPr txBox="1"/>
          <p:nvPr/>
        </p:nvSpPr>
        <p:spPr>
          <a:xfrm>
            <a:off x="-336600" y="2696350"/>
            <a:ext cx="24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ABeeZee"/>
                <a:ea typeface="ABeeZee"/>
                <a:cs typeface="ABeeZee"/>
                <a:sym typeface="ABeeZee"/>
              </a:rPr>
              <a:t>Lesbian/Gay</a:t>
            </a:r>
            <a:endParaRPr>
              <a:solidFill>
                <a:schemeClr val="dk1"/>
              </a:solidFill>
              <a:latin typeface="ABeeZee"/>
              <a:ea typeface="ABeeZee"/>
              <a:cs typeface="ABeeZee"/>
              <a:sym typeface="ABeeZee"/>
            </a:endParaRPr>
          </a:p>
        </p:txBody>
      </p:sp>
      <p:sp>
        <p:nvSpPr>
          <p:cNvPr id="498" name="Google Shape;498;p63"/>
          <p:cNvSpPr txBox="1"/>
          <p:nvPr/>
        </p:nvSpPr>
        <p:spPr>
          <a:xfrm>
            <a:off x="1701875" y="3238850"/>
            <a:ext cx="24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ABeeZee"/>
                <a:ea typeface="ABeeZee"/>
                <a:cs typeface="ABeeZee"/>
                <a:sym typeface="ABeeZee"/>
              </a:rPr>
              <a:t>Bisexual</a:t>
            </a:r>
            <a:endParaRPr>
              <a:solidFill>
                <a:schemeClr val="dk1"/>
              </a:solidFill>
              <a:latin typeface="ABeeZee"/>
              <a:ea typeface="ABeeZee"/>
              <a:cs typeface="ABeeZee"/>
              <a:sym typeface="ABeeZee"/>
            </a:endParaRPr>
          </a:p>
        </p:txBody>
      </p:sp>
      <p:sp>
        <p:nvSpPr>
          <p:cNvPr id="499" name="Google Shape;499;p63"/>
          <p:cNvSpPr txBox="1"/>
          <p:nvPr/>
        </p:nvSpPr>
        <p:spPr>
          <a:xfrm>
            <a:off x="6654900" y="3238850"/>
            <a:ext cx="24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ABeeZee"/>
                <a:ea typeface="ABeeZee"/>
                <a:cs typeface="ABeeZee"/>
                <a:sym typeface="ABeeZee"/>
              </a:rPr>
              <a:t>Homosexual</a:t>
            </a:r>
            <a:endParaRPr>
              <a:solidFill>
                <a:schemeClr val="dk1"/>
              </a:solidFill>
              <a:latin typeface="ABeeZee"/>
              <a:ea typeface="ABeeZee"/>
              <a:cs typeface="ABeeZee"/>
              <a:sym typeface="ABeeZee"/>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pic>
        <p:nvPicPr>
          <p:cNvPr descr="AC Slides-01.jpeg" id="504" name="Google Shape;504;p64"/>
          <p:cNvPicPr preferRelativeResize="0"/>
          <p:nvPr/>
        </p:nvPicPr>
        <p:blipFill>
          <a:blip r:embed="rId3">
            <a:alphaModFix/>
          </a:blip>
          <a:stretch>
            <a:fillRect/>
          </a:stretch>
        </p:blipFill>
        <p:spPr>
          <a:xfrm>
            <a:off x="0" y="0"/>
            <a:ext cx="9144000" cy="5143500"/>
          </a:xfrm>
          <a:prstGeom prst="rect">
            <a:avLst/>
          </a:prstGeom>
          <a:noFill/>
          <a:ln>
            <a:noFill/>
          </a:ln>
        </p:spPr>
      </p:pic>
      <p:sp>
        <p:nvSpPr>
          <p:cNvPr id="505" name="Google Shape;505;p64"/>
          <p:cNvSpPr txBox="1"/>
          <p:nvPr/>
        </p:nvSpPr>
        <p:spPr>
          <a:xfrm>
            <a:off x="451700" y="2797700"/>
            <a:ext cx="7265100" cy="2143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GB" sz="2200">
                <a:latin typeface="Calibri"/>
                <a:ea typeface="Calibri"/>
                <a:cs typeface="Calibri"/>
                <a:sym typeface="Calibri"/>
              </a:rPr>
              <a:t>Vision</a:t>
            </a:r>
            <a:endParaRPr b="1" sz="2200">
              <a:latin typeface="Calibri"/>
              <a:ea typeface="Calibri"/>
              <a:cs typeface="Calibri"/>
              <a:sym typeface="Calibri"/>
            </a:endParaRPr>
          </a:p>
          <a:p>
            <a:pPr indent="0" lvl="0" marL="0" rtl="0" algn="just">
              <a:spcBef>
                <a:spcPts val="0"/>
              </a:spcBef>
              <a:spcAft>
                <a:spcPts val="0"/>
              </a:spcAft>
              <a:buNone/>
            </a:pPr>
            <a:r>
              <a:rPr lang="en-GB" sz="2200">
                <a:solidFill>
                  <a:srgbClr val="000000"/>
                </a:solidFill>
                <a:latin typeface="Calibri"/>
                <a:ea typeface="Calibri"/>
                <a:cs typeface="Calibri"/>
                <a:sym typeface="Calibri"/>
              </a:rPr>
              <a:t>Alfriston College is a learning community</a:t>
            </a:r>
            <a:r>
              <a:rPr b="1" lang="en-GB" sz="2200">
                <a:solidFill>
                  <a:srgbClr val="000000"/>
                </a:solidFill>
                <a:latin typeface="Calibri"/>
                <a:ea typeface="Calibri"/>
                <a:cs typeface="Calibri"/>
                <a:sym typeface="Calibri"/>
              </a:rPr>
              <a:t> </a:t>
            </a:r>
            <a:r>
              <a:rPr lang="en-GB" sz="2200">
                <a:solidFill>
                  <a:srgbClr val="000000"/>
                </a:solidFill>
                <a:latin typeface="Calibri"/>
                <a:ea typeface="Calibri"/>
                <a:cs typeface="Calibri"/>
                <a:sym typeface="Calibri"/>
              </a:rPr>
              <a:t>dedicated to developing and supporting </a:t>
            </a:r>
            <a:r>
              <a:rPr b="1" lang="en-GB" sz="2200">
                <a:solidFill>
                  <a:srgbClr val="980000"/>
                </a:solidFill>
                <a:latin typeface="Calibri"/>
                <a:ea typeface="Calibri"/>
                <a:cs typeface="Calibri"/>
                <a:sym typeface="Calibri"/>
              </a:rPr>
              <a:t>lifelong independent learners</a:t>
            </a:r>
            <a:r>
              <a:rPr lang="en-GB" sz="2200">
                <a:solidFill>
                  <a:srgbClr val="000000"/>
                </a:solidFill>
                <a:latin typeface="Calibri"/>
                <a:ea typeface="Calibri"/>
                <a:cs typeface="Calibri"/>
                <a:sym typeface="Calibri"/>
              </a:rPr>
              <a:t> by creating an environment that fosters a sense of </a:t>
            </a:r>
            <a:r>
              <a:rPr b="1" lang="en-GB" sz="2200">
                <a:solidFill>
                  <a:srgbClr val="980000"/>
                </a:solidFill>
                <a:latin typeface="Calibri"/>
                <a:ea typeface="Calibri"/>
                <a:cs typeface="Calibri"/>
                <a:sym typeface="Calibri"/>
              </a:rPr>
              <a:t>Belonging</a:t>
            </a:r>
            <a:r>
              <a:rPr lang="en-GB" sz="2200">
                <a:solidFill>
                  <a:srgbClr val="000000"/>
                </a:solidFill>
                <a:latin typeface="Calibri"/>
                <a:ea typeface="Calibri"/>
                <a:cs typeface="Calibri"/>
                <a:sym typeface="Calibri"/>
              </a:rPr>
              <a:t>, values </a:t>
            </a:r>
            <a:r>
              <a:rPr b="1" lang="en-GB" sz="2200">
                <a:solidFill>
                  <a:srgbClr val="980000"/>
                </a:solidFill>
                <a:latin typeface="Calibri"/>
                <a:ea typeface="Calibri"/>
                <a:cs typeface="Calibri"/>
                <a:sym typeface="Calibri"/>
              </a:rPr>
              <a:t>Learning</a:t>
            </a:r>
            <a:r>
              <a:rPr lang="en-GB" sz="2200">
                <a:solidFill>
                  <a:srgbClr val="000000"/>
                </a:solidFill>
                <a:latin typeface="Calibri"/>
                <a:ea typeface="Calibri"/>
                <a:cs typeface="Calibri"/>
                <a:sym typeface="Calibri"/>
              </a:rPr>
              <a:t>, and expects </a:t>
            </a:r>
            <a:r>
              <a:rPr b="1" lang="en-GB" sz="2200">
                <a:solidFill>
                  <a:srgbClr val="980000"/>
                </a:solidFill>
                <a:latin typeface="Calibri"/>
                <a:ea typeface="Calibri"/>
                <a:cs typeface="Calibri"/>
                <a:sym typeface="Calibri"/>
              </a:rPr>
              <a:t>Success</a:t>
            </a:r>
            <a:r>
              <a:rPr lang="en-GB" sz="2200">
                <a:solidFill>
                  <a:srgbClr val="000000"/>
                </a:solidFill>
                <a:latin typeface="Calibri"/>
                <a:ea typeface="Calibri"/>
                <a:cs typeface="Calibri"/>
                <a:sym typeface="Calibri"/>
              </a:rPr>
              <a:t>.</a:t>
            </a:r>
            <a:endParaRPr sz="2200">
              <a:solidFill>
                <a:srgbClr val="000000"/>
              </a:solidFill>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3000">
              <a:solidFill>
                <a:srgbClr val="222B67"/>
              </a:solidFill>
            </a:endParaRPr>
          </a:p>
        </p:txBody>
      </p:sp>
      <p:pic>
        <p:nvPicPr>
          <p:cNvPr descr="Alfriston College Logo-12.png" id="506" name="Google Shape;506;p64"/>
          <p:cNvPicPr preferRelativeResize="0"/>
          <p:nvPr/>
        </p:nvPicPr>
        <p:blipFill>
          <a:blip r:embed="rId4">
            <a:alphaModFix/>
          </a:blip>
          <a:stretch>
            <a:fillRect/>
          </a:stretch>
        </p:blipFill>
        <p:spPr>
          <a:xfrm>
            <a:off x="7997098" y="79002"/>
            <a:ext cx="1092277" cy="1524425"/>
          </a:xfrm>
          <a:prstGeom prst="rect">
            <a:avLst/>
          </a:prstGeom>
          <a:noFill/>
          <a:ln>
            <a:noFill/>
          </a:ln>
        </p:spPr>
      </p:pic>
      <p:pic>
        <p:nvPicPr>
          <p:cNvPr descr="AC Slides with corner pattern-01.jpeg" id="507" name="Google Shape;507;p64"/>
          <p:cNvPicPr preferRelativeResize="0"/>
          <p:nvPr/>
        </p:nvPicPr>
        <p:blipFill>
          <a:blip r:embed="rId5">
            <a:alphaModFix/>
          </a:blip>
          <a:stretch>
            <a:fillRect/>
          </a:stretch>
        </p:blipFill>
        <p:spPr>
          <a:xfrm>
            <a:off x="0" y="0"/>
            <a:ext cx="9144000" cy="5143500"/>
          </a:xfrm>
          <a:prstGeom prst="rect">
            <a:avLst/>
          </a:prstGeom>
          <a:noFill/>
          <a:ln>
            <a:noFill/>
          </a:ln>
        </p:spPr>
      </p:pic>
      <p:pic>
        <p:nvPicPr>
          <p:cNvPr descr="Alfriston College Logo-12.png" id="508" name="Google Shape;508;p64"/>
          <p:cNvPicPr preferRelativeResize="0"/>
          <p:nvPr/>
        </p:nvPicPr>
        <p:blipFill>
          <a:blip r:embed="rId4">
            <a:alphaModFix/>
          </a:blip>
          <a:stretch>
            <a:fillRect/>
          </a:stretch>
        </p:blipFill>
        <p:spPr>
          <a:xfrm>
            <a:off x="7997098" y="79002"/>
            <a:ext cx="1092277" cy="1524425"/>
          </a:xfrm>
          <a:prstGeom prst="rect">
            <a:avLst/>
          </a:prstGeom>
          <a:noFill/>
          <a:ln>
            <a:noFill/>
          </a:ln>
        </p:spPr>
      </p:pic>
      <p:sp>
        <p:nvSpPr>
          <p:cNvPr id="509" name="Google Shape;509;p64"/>
          <p:cNvSpPr txBox="1"/>
          <p:nvPr/>
        </p:nvSpPr>
        <p:spPr>
          <a:xfrm>
            <a:off x="1507600" y="1742275"/>
            <a:ext cx="5711700" cy="133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4100">
                <a:latin typeface="Luckiest Guy"/>
                <a:ea typeface="Luckiest Guy"/>
                <a:cs typeface="Luckiest Guy"/>
                <a:sym typeface="Luckiest Guy"/>
              </a:rPr>
              <a:t>Level 2 health</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Term 2 | week 2</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Mon 5 may - l2</a:t>
            </a:r>
            <a:endParaRPr sz="4100">
              <a:latin typeface="Luckiest Guy"/>
              <a:ea typeface="Luckiest Guy"/>
              <a:cs typeface="Luckiest Guy"/>
              <a:sym typeface="Luckiest Guy"/>
            </a:endParaRPr>
          </a:p>
          <a:p>
            <a:pPr indent="0" lvl="0" marL="0" rtl="0" algn="ctr">
              <a:spcBef>
                <a:spcPts val="0"/>
              </a:spcBef>
              <a:spcAft>
                <a:spcPts val="0"/>
              </a:spcAft>
              <a:buNone/>
            </a:pPr>
            <a:r>
              <a:t/>
            </a:r>
            <a:endParaRPr sz="4100">
              <a:latin typeface="Luckiest Guy"/>
              <a:ea typeface="Luckiest Guy"/>
              <a:cs typeface="Luckiest Guy"/>
              <a:sym typeface="Luckiest Guy"/>
            </a:endParaRPr>
          </a:p>
          <a:p>
            <a:pPr indent="0" lvl="0" marL="0" rtl="0" algn="ctr">
              <a:spcBef>
                <a:spcPts val="0"/>
              </a:spcBef>
              <a:spcAft>
                <a:spcPts val="0"/>
              </a:spcAft>
              <a:buNone/>
            </a:pPr>
            <a:r>
              <a:t/>
            </a:r>
            <a:endParaRPr sz="1800">
              <a:highlight>
                <a:srgbClr val="FF00FF"/>
              </a:highlight>
              <a:latin typeface="Luckiest Guy"/>
              <a:ea typeface="Luckiest Guy"/>
              <a:cs typeface="Luckiest Guy"/>
              <a:sym typeface="Luckiest Guy"/>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pic>
        <p:nvPicPr>
          <p:cNvPr descr="AC Slides-01.jpeg" id="514" name="Google Shape;514;p65"/>
          <p:cNvPicPr preferRelativeResize="0"/>
          <p:nvPr/>
        </p:nvPicPr>
        <p:blipFill>
          <a:blip r:embed="rId3">
            <a:alphaModFix/>
          </a:blip>
          <a:stretch>
            <a:fillRect/>
          </a:stretch>
        </p:blipFill>
        <p:spPr>
          <a:xfrm>
            <a:off x="0" y="0"/>
            <a:ext cx="9144000" cy="5143500"/>
          </a:xfrm>
          <a:prstGeom prst="rect">
            <a:avLst/>
          </a:prstGeom>
          <a:noFill/>
          <a:ln>
            <a:noFill/>
          </a:ln>
        </p:spPr>
      </p:pic>
      <p:sp>
        <p:nvSpPr>
          <p:cNvPr id="515" name="Google Shape;515;p65"/>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65"/>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517" name="Google Shape;517;p65"/>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Learning intention</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600">
                <a:solidFill>
                  <a:schemeClr val="dk1"/>
                </a:solidFill>
                <a:latin typeface="ABeeZee"/>
                <a:ea typeface="ABeeZee"/>
                <a:cs typeface="ABeeZee"/>
                <a:sym typeface="ABeeZee"/>
              </a:rPr>
              <a:t>T</a:t>
            </a:r>
            <a:r>
              <a:rPr lang="en-GB" sz="1800">
                <a:solidFill>
                  <a:schemeClr val="dk1"/>
                </a:solidFill>
                <a:latin typeface="ABeeZee"/>
                <a:ea typeface="ABeeZee"/>
                <a:cs typeface="ABeeZee"/>
                <a:sym typeface="ABeeZee"/>
              </a:rPr>
              <a:t>o build knowledge of Hauora, Sexuality and Strategies</a:t>
            </a:r>
            <a:endParaRPr sz="2500">
              <a:latin typeface="Luckiest Guy"/>
              <a:ea typeface="Luckiest Guy"/>
              <a:cs typeface="Luckiest Guy"/>
              <a:sym typeface="Luckiest Guy"/>
            </a:endParaRPr>
          </a:p>
          <a:p>
            <a:pPr indent="0" lvl="0" marL="0" rtl="0" algn="l">
              <a:spcBef>
                <a:spcPts val="1200"/>
              </a:spcBef>
              <a:spcAft>
                <a:spcPts val="0"/>
              </a:spcAft>
              <a:buNone/>
            </a:pPr>
            <a:r>
              <a:t/>
            </a:r>
            <a:endParaRPr b="1" sz="2300">
              <a:latin typeface="Jost"/>
              <a:ea typeface="Jost"/>
              <a:cs typeface="Jost"/>
              <a:sym typeface="Jost"/>
            </a:endParaRPr>
          </a:p>
          <a:p>
            <a:pPr indent="0" lvl="0" marL="0" rtl="0" algn="l">
              <a:spcBef>
                <a:spcPts val="0"/>
              </a:spcBef>
              <a:spcAft>
                <a:spcPts val="0"/>
              </a:spcAft>
              <a:buNone/>
            </a:pPr>
            <a:r>
              <a:rPr lang="en-GB" sz="2500">
                <a:solidFill>
                  <a:schemeClr val="dk1"/>
                </a:solidFill>
                <a:latin typeface="Luckiest Guy"/>
                <a:ea typeface="Luckiest Guy"/>
                <a:cs typeface="Luckiest Guy"/>
                <a:sym typeface="Luckiest Guy"/>
              </a:rPr>
              <a:t>Success criteria</a:t>
            </a:r>
            <a:endParaRPr sz="1700">
              <a:solidFill>
                <a:schemeClr val="dk1"/>
              </a:solidFill>
              <a:latin typeface="Jost"/>
              <a:ea typeface="Jost"/>
              <a:cs typeface="Jost"/>
              <a:sym typeface="Jost"/>
            </a:endParaRPr>
          </a:p>
          <a:p>
            <a:pPr indent="-336550" lvl="0" marL="457200" rtl="0" algn="l">
              <a:lnSpc>
                <a:spcPct val="115000"/>
              </a:lnSpc>
              <a:spcBef>
                <a:spcPts val="1200"/>
              </a:spcBef>
              <a:spcAft>
                <a:spcPts val="0"/>
              </a:spcAft>
              <a:buClr>
                <a:schemeClr val="dk1"/>
              </a:buClr>
              <a:buSzPts val="1700"/>
              <a:buFont typeface="ABeeZee"/>
              <a:buChar char="●"/>
            </a:pPr>
            <a:r>
              <a:rPr lang="en-GB" sz="1700">
                <a:solidFill>
                  <a:schemeClr val="dk1"/>
                </a:solidFill>
                <a:latin typeface="ABeeZee"/>
                <a:ea typeface="ABeeZee"/>
                <a:cs typeface="ABeeZee"/>
                <a:sym typeface="ABeeZee"/>
              </a:rPr>
              <a:t>Review Gender &amp; Sexuality Learning</a:t>
            </a:r>
            <a:endParaRPr sz="1700">
              <a:solidFill>
                <a:schemeClr val="dk1"/>
              </a:solidFill>
              <a:latin typeface="ABeeZee"/>
              <a:ea typeface="ABeeZee"/>
              <a:cs typeface="ABeeZee"/>
              <a:sym typeface="ABeeZee"/>
            </a:endParaRPr>
          </a:p>
          <a:p>
            <a:pPr indent="-336550" lvl="0" marL="457200" rtl="0" algn="l">
              <a:lnSpc>
                <a:spcPct val="115000"/>
              </a:lnSpc>
              <a:spcBef>
                <a:spcPts val="0"/>
              </a:spcBef>
              <a:spcAft>
                <a:spcPts val="0"/>
              </a:spcAft>
              <a:buClr>
                <a:schemeClr val="dk1"/>
              </a:buClr>
              <a:buSzPts val="1700"/>
              <a:buFont typeface="ABeeZee"/>
              <a:buChar char="●"/>
            </a:pPr>
            <a:r>
              <a:rPr lang="en-GB" sz="1700">
                <a:solidFill>
                  <a:schemeClr val="dk1"/>
                </a:solidFill>
                <a:latin typeface="ABeeZee"/>
                <a:ea typeface="ABeeZee"/>
                <a:cs typeface="ABeeZee"/>
                <a:sym typeface="ABeeZee"/>
              </a:rPr>
              <a:t>Identify impacts Sexuality has on our Hauora</a:t>
            </a:r>
            <a:endParaRPr sz="1700">
              <a:solidFill>
                <a:schemeClr val="dk1"/>
              </a:solidFill>
              <a:latin typeface="ABeeZee"/>
              <a:ea typeface="ABeeZee"/>
              <a:cs typeface="ABeeZee"/>
              <a:sym typeface="ABeeZee"/>
            </a:endParaRPr>
          </a:p>
          <a:p>
            <a:pPr indent="-336550" lvl="0" marL="457200" rtl="0" algn="l">
              <a:lnSpc>
                <a:spcPct val="115000"/>
              </a:lnSpc>
              <a:spcBef>
                <a:spcPts val="0"/>
              </a:spcBef>
              <a:spcAft>
                <a:spcPts val="0"/>
              </a:spcAft>
              <a:buClr>
                <a:schemeClr val="dk1"/>
              </a:buClr>
              <a:buSzPts val="1700"/>
              <a:buFont typeface="ABeeZee"/>
              <a:buChar char="●"/>
            </a:pPr>
            <a:r>
              <a:rPr lang="en-GB" sz="1700">
                <a:solidFill>
                  <a:schemeClr val="dk1"/>
                </a:solidFill>
                <a:latin typeface="ABeeZee"/>
                <a:ea typeface="ABeeZee"/>
                <a:cs typeface="ABeeZee"/>
                <a:sym typeface="ABeeZee"/>
              </a:rPr>
              <a:t>Identify Personal (Self), Interpersonal (Others) &amp; Societal (Society) strategies for promoting positive sexuality</a:t>
            </a:r>
            <a:endParaRPr sz="17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518" name="Google Shape;518;p65"/>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65"/>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pic>
        <p:nvPicPr>
          <p:cNvPr descr="AC Slides-01.jpeg" id="524" name="Google Shape;524;p66"/>
          <p:cNvPicPr preferRelativeResize="0"/>
          <p:nvPr/>
        </p:nvPicPr>
        <p:blipFill>
          <a:blip r:embed="rId3">
            <a:alphaModFix/>
          </a:blip>
          <a:stretch>
            <a:fillRect/>
          </a:stretch>
        </p:blipFill>
        <p:spPr>
          <a:xfrm>
            <a:off x="0" y="0"/>
            <a:ext cx="9144000" cy="5143500"/>
          </a:xfrm>
          <a:prstGeom prst="rect">
            <a:avLst/>
          </a:prstGeom>
          <a:noFill/>
          <a:ln>
            <a:noFill/>
          </a:ln>
        </p:spPr>
      </p:pic>
      <p:sp>
        <p:nvSpPr>
          <p:cNvPr id="525" name="Google Shape;525;p66"/>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66"/>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527" name="Google Shape;527;p66"/>
          <p:cNvSpPr txBox="1"/>
          <p:nvPr/>
        </p:nvSpPr>
        <p:spPr>
          <a:xfrm>
            <a:off x="2371875" y="357225"/>
            <a:ext cx="66888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600">
                <a:solidFill>
                  <a:schemeClr val="dk1"/>
                </a:solidFill>
                <a:latin typeface="Luckiest Guy"/>
                <a:ea typeface="Luckiest Guy"/>
                <a:cs typeface="Luckiest Guy"/>
                <a:sym typeface="Luckiest Guy"/>
              </a:rPr>
              <a:t>Review of gender &amp; Sexuality learning</a:t>
            </a:r>
            <a:endParaRPr sz="2300">
              <a:solidFill>
                <a:schemeClr val="dk1"/>
              </a:solidFill>
              <a:latin typeface="ABeeZee"/>
              <a:ea typeface="ABeeZee"/>
              <a:cs typeface="ABeeZee"/>
              <a:sym typeface="ABeeZee"/>
            </a:endParaRPr>
          </a:p>
        </p:txBody>
      </p:sp>
      <p:sp>
        <p:nvSpPr>
          <p:cNvPr id="528" name="Google Shape;528;p66"/>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66"/>
          <p:cNvSpPr txBox="1"/>
          <p:nvPr/>
        </p:nvSpPr>
        <p:spPr>
          <a:xfrm flipH="1" rot="-5400000">
            <a:off x="-605425" y="1771350"/>
            <a:ext cx="3972600" cy="1600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Review of learning</a:t>
            </a:r>
            <a:endParaRPr sz="4100">
              <a:solidFill>
                <a:srgbClr val="FFFFFF"/>
              </a:solidFill>
            </a:endParaRPr>
          </a:p>
        </p:txBody>
      </p:sp>
      <p:sp>
        <p:nvSpPr>
          <p:cNvPr id="530" name="Google Shape;530;p66"/>
          <p:cNvSpPr txBox="1"/>
          <p:nvPr/>
        </p:nvSpPr>
        <p:spPr>
          <a:xfrm>
            <a:off x="2321050" y="929650"/>
            <a:ext cx="6688800" cy="4217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solidFill>
                  <a:schemeClr val="dk1"/>
                </a:solidFill>
                <a:latin typeface="ABeeZee"/>
                <a:ea typeface="ABeeZee"/>
                <a:cs typeface="ABeeZee"/>
                <a:sym typeface="ABeeZee"/>
              </a:rPr>
              <a:t>Key Terms</a:t>
            </a:r>
            <a:endParaRPr b="1" sz="1600">
              <a:solidFill>
                <a:schemeClr val="dk1"/>
              </a:solidFill>
              <a:latin typeface="ABeeZee"/>
              <a:ea typeface="ABeeZee"/>
              <a:cs typeface="ABeeZee"/>
              <a:sym typeface="ABeeZee"/>
            </a:endParaRPr>
          </a:p>
          <a:p>
            <a:pPr indent="0" lvl="0" marL="0" rtl="0" algn="l">
              <a:spcBef>
                <a:spcPts val="0"/>
              </a:spcBef>
              <a:spcAft>
                <a:spcPts val="0"/>
              </a:spcAft>
              <a:buNone/>
            </a:pPr>
            <a:r>
              <a:rPr lang="en-GB" sz="1500">
                <a:solidFill>
                  <a:schemeClr val="dk1"/>
                </a:solidFill>
                <a:latin typeface="ABeeZee"/>
                <a:ea typeface="ABeeZee"/>
                <a:cs typeface="ABeeZee"/>
                <a:sym typeface="ABeeZee"/>
              </a:rPr>
              <a:t>Gender - the social construct of male and female characteristics which includes norms, roles and relationships.  Gender is fluid across male and female.</a:t>
            </a:r>
            <a:endParaRPr sz="1500">
              <a:solidFill>
                <a:schemeClr val="dk1"/>
              </a:solidFill>
              <a:latin typeface="ABeeZee"/>
              <a:ea typeface="ABeeZee"/>
              <a:cs typeface="ABeeZee"/>
              <a:sym typeface="ABeeZee"/>
            </a:endParaRPr>
          </a:p>
          <a:p>
            <a:pPr indent="0" lvl="0" marL="0" rtl="0" algn="l">
              <a:spcBef>
                <a:spcPts val="0"/>
              </a:spcBef>
              <a:spcAft>
                <a:spcPts val="0"/>
              </a:spcAft>
              <a:buNone/>
            </a:pPr>
            <a:r>
              <a:t/>
            </a:r>
            <a:endParaRPr sz="1500">
              <a:solidFill>
                <a:schemeClr val="dk1"/>
              </a:solidFill>
              <a:latin typeface="ABeeZee"/>
              <a:ea typeface="ABeeZee"/>
              <a:cs typeface="ABeeZee"/>
              <a:sym typeface="ABeeZee"/>
            </a:endParaRPr>
          </a:p>
          <a:p>
            <a:pPr indent="0" lvl="0" marL="0" rtl="0" algn="l">
              <a:spcBef>
                <a:spcPts val="0"/>
              </a:spcBef>
              <a:spcAft>
                <a:spcPts val="0"/>
              </a:spcAft>
              <a:buNone/>
            </a:pPr>
            <a:r>
              <a:rPr lang="en-GB" sz="1500">
                <a:solidFill>
                  <a:schemeClr val="dk1"/>
                </a:solidFill>
                <a:latin typeface="ABeeZee"/>
                <a:ea typeface="ABeeZee"/>
                <a:cs typeface="ABeeZee"/>
                <a:sym typeface="ABeeZee"/>
              </a:rPr>
              <a:t>Gender Identity - what a person identifies with as their internal sense of their gender, this is not always guided by their sex.</a:t>
            </a:r>
            <a:endParaRPr sz="1500">
              <a:solidFill>
                <a:schemeClr val="dk1"/>
              </a:solidFill>
              <a:latin typeface="ABeeZee"/>
              <a:ea typeface="ABeeZee"/>
              <a:cs typeface="ABeeZee"/>
              <a:sym typeface="ABeeZee"/>
            </a:endParaRPr>
          </a:p>
          <a:p>
            <a:pPr indent="0" lvl="0" marL="0" rtl="0" algn="l">
              <a:spcBef>
                <a:spcPts val="0"/>
              </a:spcBef>
              <a:spcAft>
                <a:spcPts val="0"/>
              </a:spcAft>
              <a:buNone/>
            </a:pPr>
            <a:r>
              <a:t/>
            </a:r>
            <a:endParaRPr sz="1500">
              <a:solidFill>
                <a:schemeClr val="dk1"/>
              </a:solidFill>
              <a:latin typeface="ABeeZee"/>
              <a:ea typeface="ABeeZee"/>
              <a:cs typeface="ABeeZee"/>
              <a:sym typeface="ABeeZee"/>
            </a:endParaRPr>
          </a:p>
          <a:p>
            <a:pPr indent="0" lvl="0" marL="0" rtl="0" algn="l">
              <a:spcBef>
                <a:spcPts val="0"/>
              </a:spcBef>
              <a:spcAft>
                <a:spcPts val="0"/>
              </a:spcAft>
              <a:buNone/>
            </a:pPr>
            <a:r>
              <a:rPr lang="en-GB" sz="1500">
                <a:solidFill>
                  <a:schemeClr val="dk1"/>
                </a:solidFill>
                <a:latin typeface="ABeeZee"/>
                <a:ea typeface="ABeeZee"/>
                <a:cs typeface="ABeeZee"/>
                <a:sym typeface="ABeeZee"/>
              </a:rPr>
              <a:t>Sex - the assigned biological label you are given at birth</a:t>
            </a:r>
            <a:endParaRPr sz="1500">
              <a:solidFill>
                <a:schemeClr val="dk1"/>
              </a:solidFill>
              <a:latin typeface="ABeeZee"/>
              <a:ea typeface="ABeeZee"/>
              <a:cs typeface="ABeeZee"/>
              <a:sym typeface="ABeeZee"/>
            </a:endParaRPr>
          </a:p>
          <a:p>
            <a:pPr indent="0" lvl="0" marL="0" rtl="0" algn="l">
              <a:spcBef>
                <a:spcPts val="0"/>
              </a:spcBef>
              <a:spcAft>
                <a:spcPts val="0"/>
              </a:spcAft>
              <a:buNone/>
            </a:pPr>
            <a:r>
              <a:t/>
            </a:r>
            <a:endParaRPr sz="1500">
              <a:solidFill>
                <a:schemeClr val="dk1"/>
              </a:solidFill>
              <a:latin typeface="ABeeZee"/>
              <a:ea typeface="ABeeZee"/>
              <a:cs typeface="ABeeZee"/>
              <a:sym typeface="ABeeZee"/>
            </a:endParaRPr>
          </a:p>
          <a:p>
            <a:pPr indent="0" lvl="0" marL="0" rtl="0" algn="l">
              <a:spcBef>
                <a:spcPts val="0"/>
              </a:spcBef>
              <a:spcAft>
                <a:spcPts val="0"/>
              </a:spcAft>
              <a:buNone/>
            </a:pPr>
            <a:r>
              <a:rPr lang="en-GB" sz="1500">
                <a:solidFill>
                  <a:schemeClr val="dk1"/>
                </a:solidFill>
                <a:latin typeface="ABeeZee"/>
                <a:ea typeface="ABeeZee"/>
                <a:cs typeface="ABeeZee"/>
                <a:sym typeface="ABeeZee"/>
              </a:rPr>
              <a:t>Sexuality - </a:t>
            </a:r>
            <a:r>
              <a:rPr lang="en-GB" sz="1500">
                <a:solidFill>
                  <a:schemeClr val="dk1"/>
                </a:solidFill>
                <a:latin typeface="ABeeZee"/>
                <a:ea typeface="ABeeZee"/>
                <a:cs typeface="ABeeZee"/>
                <a:sym typeface="ABeeZee"/>
              </a:rPr>
              <a:t>involves people's attitudes, values, beliefs and feelings about others and their relationships, sexual behaviour, sexual orientation and identity.</a:t>
            </a:r>
            <a:endParaRPr sz="1500">
              <a:solidFill>
                <a:schemeClr val="dk1"/>
              </a:solidFill>
              <a:latin typeface="ABeeZee"/>
              <a:ea typeface="ABeeZee"/>
              <a:cs typeface="ABeeZee"/>
              <a:sym typeface="ABeeZee"/>
            </a:endParaRPr>
          </a:p>
          <a:p>
            <a:pPr indent="0" lvl="0" marL="0" rtl="0" algn="l">
              <a:spcBef>
                <a:spcPts val="0"/>
              </a:spcBef>
              <a:spcAft>
                <a:spcPts val="0"/>
              </a:spcAft>
              <a:buNone/>
            </a:pPr>
            <a:r>
              <a:t/>
            </a:r>
            <a:endParaRPr sz="1500">
              <a:solidFill>
                <a:schemeClr val="dk1"/>
              </a:solidFill>
              <a:latin typeface="ABeeZee"/>
              <a:ea typeface="ABeeZee"/>
              <a:cs typeface="ABeeZee"/>
              <a:sym typeface="ABeeZee"/>
            </a:endParaRPr>
          </a:p>
          <a:p>
            <a:pPr indent="0" lvl="0" marL="0" rtl="0" algn="l">
              <a:spcBef>
                <a:spcPts val="0"/>
              </a:spcBef>
              <a:spcAft>
                <a:spcPts val="0"/>
              </a:spcAft>
              <a:buNone/>
            </a:pPr>
            <a:r>
              <a:rPr lang="en-GB" sz="1500">
                <a:solidFill>
                  <a:schemeClr val="dk1"/>
                </a:solidFill>
                <a:latin typeface="ABeeZee"/>
                <a:ea typeface="ABeeZee"/>
                <a:cs typeface="ABeeZee"/>
                <a:sym typeface="ABeeZee"/>
              </a:rPr>
              <a:t>Sexual Orientation - who you are attracted to romantically and sexually.  Can be fluid</a:t>
            </a:r>
            <a:endParaRPr sz="1500">
              <a:solidFill>
                <a:schemeClr val="dk1"/>
              </a:solidFill>
              <a:latin typeface="ABeeZee"/>
              <a:ea typeface="ABeeZee"/>
              <a:cs typeface="ABeeZee"/>
              <a:sym typeface="ABeeZee"/>
            </a:endParaRPr>
          </a:p>
          <a:p>
            <a:pPr indent="0" lvl="0" marL="0" rtl="0" algn="l">
              <a:spcBef>
                <a:spcPts val="0"/>
              </a:spcBef>
              <a:spcAft>
                <a:spcPts val="0"/>
              </a:spcAft>
              <a:buNone/>
            </a:pPr>
            <a:r>
              <a:t/>
            </a:r>
            <a:endParaRPr sz="21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pic>
        <p:nvPicPr>
          <p:cNvPr descr="AC Slides-01.jpeg" id="535" name="Google Shape;535;p67"/>
          <p:cNvPicPr preferRelativeResize="0"/>
          <p:nvPr/>
        </p:nvPicPr>
        <p:blipFill>
          <a:blip r:embed="rId3">
            <a:alphaModFix/>
          </a:blip>
          <a:stretch>
            <a:fillRect/>
          </a:stretch>
        </p:blipFill>
        <p:spPr>
          <a:xfrm>
            <a:off x="0" y="0"/>
            <a:ext cx="9144000" cy="5143500"/>
          </a:xfrm>
          <a:prstGeom prst="rect">
            <a:avLst/>
          </a:prstGeom>
          <a:noFill/>
          <a:ln>
            <a:noFill/>
          </a:ln>
        </p:spPr>
      </p:pic>
      <p:sp>
        <p:nvSpPr>
          <p:cNvPr id="536" name="Google Shape;536;p67"/>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67"/>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538" name="Google Shape;538;p67"/>
          <p:cNvSpPr txBox="1"/>
          <p:nvPr/>
        </p:nvSpPr>
        <p:spPr>
          <a:xfrm>
            <a:off x="2371875" y="357225"/>
            <a:ext cx="66303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600">
                <a:solidFill>
                  <a:schemeClr val="dk1"/>
                </a:solidFill>
                <a:latin typeface="Luckiest Guy"/>
                <a:ea typeface="Luckiest Guy"/>
                <a:cs typeface="Luckiest Guy"/>
                <a:sym typeface="Luckiest Guy"/>
              </a:rPr>
              <a:t>Hauora &amp; Sexuality</a:t>
            </a:r>
            <a:endParaRPr sz="3600">
              <a:solidFill>
                <a:schemeClr val="dk1"/>
              </a:solidFill>
              <a:latin typeface="Luckiest Guy"/>
              <a:ea typeface="Luckiest Guy"/>
              <a:cs typeface="Luckiest Guy"/>
              <a:sym typeface="Luckiest Guy"/>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Everyone experiences sexuality it has an impact on wellbeing/hauora.  This is especially relevant for youth as their are many changes happening in adolescence that are influencing youth and their sexuality as the move into adulthood.  Therefore, it is important youth have a clear understanding of the impact of sexuality on their hauora - most importantly the promotion of positive sexuality!</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p:txBody>
      </p:sp>
      <p:sp>
        <p:nvSpPr>
          <p:cNvPr id="539" name="Google Shape;539;p67"/>
          <p:cNvSpPr/>
          <p:nvPr/>
        </p:nvSpPr>
        <p:spPr>
          <a:xfrm flipH="1" rot="10800000">
            <a:off x="218475" y="358875"/>
            <a:ext cx="2153400" cy="4377000"/>
          </a:xfrm>
          <a:prstGeom prst="round2DiagRect">
            <a:avLst>
              <a:gd fmla="val 16667" name="adj1"/>
              <a:gd fmla="val 0" name="adj2"/>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67"/>
          <p:cNvSpPr txBox="1"/>
          <p:nvPr/>
        </p:nvSpPr>
        <p:spPr>
          <a:xfrm flipH="1" rot="-5400000">
            <a:off x="-605425" y="1771350"/>
            <a:ext cx="3972600" cy="1600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Hauora &amp; Sexuality</a:t>
            </a:r>
            <a:endParaRPr sz="4100">
              <a:solidFill>
                <a:srgbClr val="FFFFFF"/>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pic>
        <p:nvPicPr>
          <p:cNvPr descr="AC Slides-01.jpeg" id="545" name="Google Shape;545;p68"/>
          <p:cNvPicPr preferRelativeResize="0"/>
          <p:nvPr/>
        </p:nvPicPr>
        <p:blipFill>
          <a:blip r:embed="rId3">
            <a:alphaModFix/>
          </a:blip>
          <a:stretch>
            <a:fillRect/>
          </a:stretch>
        </p:blipFill>
        <p:spPr>
          <a:xfrm>
            <a:off x="0" y="0"/>
            <a:ext cx="9144000" cy="5143500"/>
          </a:xfrm>
          <a:prstGeom prst="rect">
            <a:avLst/>
          </a:prstGeom>
          <a:noFill/>
          <a:ln>
            <a:noFill/>
          </a:ln>
        </p:spPr>
      </p:pic>
      <p:sp>
        <p:nvSpPr>
          <p:cNvPr id="546" name="Google Shape;546;p68"/>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68"/>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548" name="Google Shape;548;p68"/>
          <p:cNvSpPr txBox="1"/>
          <p:nvPr/>
        </p:nvSpPr>
        <p:spPr>
          <a:xfrm>
            <a:off x="2371875" y="357225"/>
            <a:ext cx="66303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600">
                <a:solidFill>
                  <a:schemeClr val="dk1"/>
                </a:solidFill>
                <a:latin typeface="Luckiest Guy"/>
                <a:ea typeface="Luckiest Guy"/>
                <a:cs typeface="Luckiest Guy"/>
                <a:sym typeface="Luckiest Guy"/>
              </a:rPr>
              <a:t>Hauora &amp; Sexuality</a:t>
            </a:r>
            <a:endParaRPr sz="3600">
              <a:solidFill>
                <a:schemeClr val="dk1"/>
              </a:solidFill>
              <a:latin typeface="Luckiest Guy"/>
              <a:ea typeface="Luckiest Guy"/>
              <a:cs typeface="Luckiest Guy"/>
              <a:sym typeface="Luckiest Guy"/>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rPr lang="en-GB" sz="1600">
                <a:solidFill>
                  <a:schemeClr val="dk1"/>
                </a:solidFill>
                <a:latin typeface="ABeeZee"/>
                <a:ea typeface="ABeeZee"/>
                <a:cs typeface="ABeeZee"/>
                <a:sym typeface="ABeeZee"/>
              </a:rPr>
              <a:t>Here are some examples of Sexuality that youth may experience on their Hauora</a:t>
            </a:r>
            <a:endParaRPr sz="1600">
              <a:solidFill>
                <a:schemeClr val="dk1"/>
              </a:solidFill>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rPr lang="en-GB" sz="1600">
                <a:solidFill>
                  <a:schemeClr val="dk1"/>
                </a:solidFill>
                <a:latin typeface="ABeeZee"/>
                <a:ea typeface="ABeeZee"/>
                <a:cs typeface="ABeeZee"/>
                <a:sym typeface="ABeeZee"/>
              </a:rPr>
              <a:t>Taha tinana (physical) - puberty body changes, affection, body confidence</a:t>
            </a:r>
            <a:endParaRPr sz="1600">
              <a:solidFill>
                <a:schemeClr val="dk1"/>
              </a:solidFill>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rPr lang="en-GB" sz="1600">
                <a:solidFill>
                  <a:schemeClr val="dk1"/>
                </a:solidFill>
                <a:latin typeface="ABeeZee"/>
                <a:ea typeface="ABeeZee"/>
                <a:cs typeface="ABeeZee"/>
                <a:sym typeface="ABeeZee"/>
              </a:rPr>
              <a:t>Taha wairua (spiritual) - sexual identity, confident in knowing what positive relationships</a:t>
            </a:r>
            <a:endParaRPr sz="1600">
              <a:solidFill>
                <a:schemeClr val="dk1"/>
              </a:solidFill>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rPr lang="en-GB" sz="1600">
                <a:solidFill>
                  <a:schemeClr val="dk1"/>
                </a:solidFill>
                <a:latin typeface="ABeeZee"/>
                <a:ea typeface="ABeeZee"/>
                <a:cs typeface="ABeeZee"/>
                <a:sym typeface="ABeeZee"/>
              </a:rPr>
              <a:t>Taha hinengaro (emotional/mental) - boundaries and consent</a:t>
            </a:r>
            <a:endParaRPr sz="1600">
              <a:solidFill>
                <a:schemeClr val="dk1"/>
              </a:solidFill>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rPr lang="en-GB" sz="1600">
                <a:solidFill>
                  <a:schemeClr val="dk1"/>
                </a:solidFill>
                <a:latin typeface="ABeeZee"/>
                <a:ea typeface="ABeeZee"/>
                <a:cs typeface="ABeeZee"/>
                <a:sym typeface="ABeeZee"/>
              </a:rPr>
              <a:t>Taha whanau (social) - intimate relationships, trusting relationships with friends about personal sexual matters</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p:txBody>
      </p:sp>
      <p:sp>
        <p:nvSpPr>
          <p:cNvPr id="549" name="Google Shape;549;p68"/>
          <p:cNvSpPr/>
          <p:nvPr/>
        </p:nvSpPr>
        <p:spPr>
          <a:xfrm flipH="1" rot="10800000">
            <a:off x="218475" y="358875"/>
            <a:ext cx="2153400" cy="4377000"/>
          </a:xfrm>
          <a:prstGeom prst="round2DiagRect">
            <a:avLst>
              <a:gd fmla="val 16667" name="adj1"/>
              <a:gd fmla="val 0" name="adj2"/>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68"/>
          <p:cNvSpPr txBox="1"/>
          <p:nvPr/>
        </p:nvSpPr>
        <p:spPr>
          <a:xfrm flipH="1" rot="-5400000">
            <a:off x="-605425" y="1771350"/>
            <a:ext cx="3972600" cy="1600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Hauora &amp; Sexuality</a:t>
            </a:r>
            <a:endParaRPr sz="4100">
              <a:solidFill>
                <a:srgbClr val="FFFFFF"/>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pic>
        <p:nvPicPr>
          <p:cNvPr descr="AC Slides-01.jpeg" id="555" name="Google Shape;555;p69"/>
          <p:cNvPicPr preferRelativeResize="0"/>
          <p:nvPr/>
        </p:nvPicPr>
        <p:blipFill>
          <a:blip r:embed="rId3">
            <a:alphaModFix/>
          </a:blip>
          <a:stretch>
            <a:fillRect/>
          </a:stretch>
        </p:blipFill>
        <p:spPr>
          <a:xfrm>
            <a:off x="0" y="0"/>
            <a:ext cx="9144000" cy="5143500"/>
          </a:xfrm>
          <a:prstGeom prst="rect">
            <a:avLst/>
          </a:prstGeom>
          <a:noFill/>
          <a:ln>
            <a:noFill/>
          </a:ln>
        </p:spPr>
      </p:pic>
      <p:sp>
        <p:nvSpPr>
          <p:cNvPr id="556" name="Google Shape;556;p69"/>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69"/>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558" name="Google Shape;558;p69"/>
          <p:cNvSpPr txBox="1"/>
          <p:nvPr/>
        </p:nvSpPr>
        <p:spPr>
          <a:xfrm>
            <a:off x="2371875" y="357225"/>
            <a:ext cx="66303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600">
                <a:solidFill>
                  <a:schemeClr val="dk1"/>
                </a:solidFill>
                <a:latin typeface="Luckiest Guy"/>
                <a:ea typeface="Luckiest Guy"/>
                <a:cs typeface="Luckiest Guy"/>
                <a:sym typeface="Luckiest Guy"/>
              </a:rPr>
              <a:t>TAHA TINANA</a:t>
            </a:r>
            <a:endParaRPr sz="3600">
              <a:solidFill>
                <a:schemeClr val="dk1"/>
              </a:solidFill>
              <a:latin typeface="Luckiest Guy"/>
              <a:ea typeface="Luckiest Guy"/>
              <a:cs typeface="Luckiest Guy"/>
              <a:sym typeface="Luckiest Guy"/>
            </a:endParaRPr>
          </a:p>
          <a:p>
            <a:pPr indent="0" lvl="0" marL="0" rtl="0" algn="l">
              <a:spcBef>
                <a:spcPts val="0"/>
              </a:spcBef>
              <a:spcAft>
                <a:spcPts val="0"/>
              </a:spcAft>
              <a:buNone/>
            </a:pPr>
            <a:r>
              <a:rPr lang="en-GB" sz="3600">
                <a:solidFill>
                  <a:schemeClr val="dk1"/>
                </a:solidFill>
                <a:latin typeface="Luckiest Guy"/>
                <a:ea typeface="Luckiest Guy"/>
                <a:cs typeface="Luckiest Guy"/>
                <a:sym typeface="Luckiest Guy"/>
              </a:rPr>
              <a:t>(Physical)</a:t>
            </a:r>
            <a:endParaRPr sz="3600">
              <a:solidFill>
                <a:schemeClr val="dk1"/>
              </a:solidFill>
              <a:latin typeface="Luckiest Guy"/>
              <a:ea typeface="Luckiest Guy"/>
              <a:cs typeface="Luckiest Guy"/>
              <a:sym typeface="Luckiest Guy"/>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List as many positive and negative impacts Sexuality has on our</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Luckiest Guy"/>
                <a:ea typeface="Luckiest Guy"/>
                <a:cs typeface="Luckiest Guy"/>
                <a:sym typeface="Luckiest Guy"/>
              </a:rPr>
              <a:t>Positive impacts							negative impacts</a:t>
            </a:r>
            <a:endParaRPr sz="1600">
              <a:solidFill>
                <a:schemeClr val="dk1"/>
              </a:solidFill>
              <a:latin typeface="Luckiest Guy"/>
              <a:ea typeface="Luckiest Guy"/>
              <a:cs typeface="Luckiest Guy"/>
              <a:sym typeface="Luckiest Guy"/>
            </a:endParaRPr>
          </a:p>
          <a:p>
            <a:pPr indent="0" lvl="0" marL="0" rtl="0" algn="ctr">
              <a:spcBef>
                <a:spcPts val="0"/>
              </a:spcBef>
              <a:spcAft>
                <a:spcPts val="0"/>
              </a:spcAft>
              <a:buNone/>
            </a:pPr>
            <a:r>
              <a:t/>
            </a:r>
            <a:endParaRPr sz="1600">
              <a:solidFill>
                <a:schemeClr val="dk1"/>
              </a:solidFill>
              <a:latin typeface="ABeeZee"/>
              <a:ea typeface="ABeeZee"/>
              <a:cs typeface="ABeeZee"/>
              <a:sym typeface="ABeeZee"/>
            </a:endParaRPr>
          </a:p>
          <a:p>
            <a:pPr indent="0" lvl="0" marL="0" rtl="0" algn="ctr">
              <a:spcBef>
                <a:spcPts val="0"/>
              </a:spcBef>
              <a:spcAft>
                <a:spcPts val="0"/>
              </a:spcAft>
              <a:buNone/>
            </a:pPr>
            <a:r>
              <a:rPr lang="en-GB" sz="1600">
                <a:solidFill>
                  <a:schemeClr val="dk1"/>
                </a:solidFill>
                <a:latin typeface="ABeeZee"/>
                <a:ea typeface="ABeeZee"/>
                <a:cs typeface="ABeeZee"/>
                <a:sym typeface="ABeeZee"/>
              </a:rPr>
              <a:t>PUBERTY</a:t>
            </a:r>
            <a:endParaRPr sz="1600">
              <a:solidFill>
                <a:schemeClr val="dk1"/>
              </a:solidFill>
              <a:latin typeface="ABeeZee"/>
              <a:ea typeface="ABeeZee"/>
              <a:cs typeface="ABeeZee"/>
              <a:sym typeface="ABeeZee"/>
            </a:endParaRPr>
          </a:p>
          <a:p>
            <a:pPr indent="0" lvl="0" marL="0" rtl="0" algn="ctr">
              <a:spcBef>
                <a:spcPts val="0"/>
              </a:spcBef>
              <a:spcAft>
                <a:spcPts val="0"/>
              </a:spcAft>
              <a:buNone/>
            </a:pPr>
            <a:r>
              <a:t/>
            </a:r>
            <a:endParaRPr sz="1600">
              <a:solidFill>
                <a:schemeClr val="dk1"/>
              </a:solidFill>
              <a:latin typeface="ABeeZee"/>
              <a:ea typeface="ABeeZee"/>
              <a:cs typeface="ABeeZee"/>
              <a:sym typeface="ABeeZee"/>
            </a:endParaRPr>
          </a:p>
          <a:p>
            <a:pPr indent="0" lvl="0" marL="0" rtl="0" algn="ctr">
              <a:spcBef>
                <a:spcPts val="0"/>
              </a:spcBef>
              <a:spcAft>
                <a:spcPts val="0"/>
              </a:spcAft>
              <a:buNone/>
            </a:pPr>
            <a:r>
              <a:rPr lang="en-GB" sz="1600">
                <a:solidFill>
                  <a:schemeClr val="dk1"/>
                </a:solidFill>
                <a:latin typeface="ABeeZee"/>
                <a:ea typeface="ABeeZee"/>
                <a:cs typeface="ABeeZee"/>
                <a:sym typeface="ABeeZee"/>
              </a:rPr>
              <a:t>SPORT</a:t>
            </a:r>
            <a:endParaRPr sz="1600">
              <a:solidFill>
                <a:schemeClr val="dk1"/>
              </a:solidFill>
              <a:latin typeface="ABeeZee"/>
              <a:ea typeface="ABeeZee"/>
              <a:cs typeface="ABeeZee"/>
              <a:sym typeface="ABeeZee"/>
            </a:endParaRPr>
          </a:p>
          <a:p>
            <a:pPr indent="0" lvl="0" marL="0" rtl="0" algn="ctr">
              <a:spcBef>
                <a:spcPts val="0"/>
              </a:spcBef>
              <a:spcAft>
                <a:spcPts val="0"/>
              </a:spcAft>
              <a:buNone/>
            </a:pPr>
            <a:r>
              <a:t/>
            </a:r>
            <a:endParaRPr sz="1600">
              <a:solidFill>
                <a:schemeClr val="dk1"/>
              </a:solidFill>
              <a:latin typeface="ABeeZee"/>
              <a:ea typeface="ABeeZee"/>
              <a:cs typeface="ABeeZee"/>
              <a:sym typeface="ABeeZee"/>
            </a:endParaRPr>
          </a:p>
          <a:p>
            <a:pPr indent="0" lvl="0" marL="0" rtl="0" algn="ctr">
              <a:spcBef>
                <a:spcPts val="0"/>
              </a:spcBef>
              <a:spcAft>
                <a:spcPts val="0"/>
              </a:spcAft>
              <a:buNone/>
            </a:pPr>
            <a:r>
              <a:rPr lang="en-GB" sz="1600">
                <a:solidFill>
                  <a:schemeClr val="dk1"/>
                </a:solidFill>
                <a:latin typeface="ABeeZee"/>
                <a:ea typeface="ABeeZee"/>
                <a:cs typeface="ABeeZee"/>
                <a:sym typeface="ABeeZee"/>
              </a:rPr>
              <a:t>DANCE</a:t>
            </a:r>
            <a:endParaRPr sz="1600">
              <a:solidFill>
                <a:schemeClr val="dk1"/>
              </a:solidFill>
              <a:latin typeface="ABeeZee"/>
              <a:ea typeface="ABeeZee"/>
              <a:cs typeface="ABeeZee"/>
              <a:sym typeface="ABeeZee"/>
            </a:endParaRPr>
          </a:p>
          <a:p>
            <a:pPr indent="0" lvl="0" marL="0" rtl="0" algn="ctr">
              <a:spcBef>
                <a:spcPts val="0"/>
              </a:spcBef>
              <a:spcAft>
                <a:spcPts val="0"/>
              </a:spcAft>
              <a:buNone/>
            </a:pPr>
            <a:r>
              <a:t/>
            </a:r>
            <a:endParaRPr sz="1600">
              <a:solidFill>
                <a:schemeClr val="dk1"/>
              </a:solidFill>
              <a:latin typeface="ABeeZee"/>
              <a:ea typeface="ABeeZee"/>
              <a:cs typeface="ABeeZee"/>
              <a:sym typeface="ABeeZee"/>
            </a:endParaRPr>
          </a:p>
          <a:p>
            <a:pPr indent="0" lvl="0" marL="0" rtl="0" algn="ctr">
              <a:spcBef>
                <a:spcPts val="0"/>
              </a:spcBef>
              <a:spcAft>
                <a:spcPts val="0"/>
              </a:spcAft>
              <a:buNone/>
            </a:pPr>
            <a:r>
              <a:rPr lang="en-GB" sz="1600">
                <a:solidFill>
                  <a:schemeClr val="dk1"/>
                </a:solidFill>
                <a:latin typeface="ABeeZee"/>
                <a:ea typeface="ABeeZee"/>
                <a:cs typeface="ABeeZee"/>
                <a:sym typeface="ABeeZee"/>
              </a:rPr>
              <a:t>SEX EDUCATION</a:t>
            </a:r>
            <a:endParaRPr sz="1600">
              <a:solidFill>
                <a:schemeClr val="dk1"/>
              </a:solidFill>
              <a:latin typeface="ABeeZee"/>
              <a:ea typeface="ABeeZee"/>
              <a:cs typeface="ABeeZee"/>
              <a:sym typeface="ABeeZee"/>
            </a:endParaRPr>
          </a:p>
          <a:p>
            <a:pPr indent="0" lvl="0" marL="0" rtl="0" algn="ctr">
              <a:spcBef>
                <a:spcPts val="0"/>
              </a:spcBef>
              <a:spcAft>
                <a:spcPts val="0"/>
              </a:spcAft>
              <a:buNone/>
            </a:pPr>
            <a:r>
              <a:rPr lang="en-GB" sz="1600">
                <a:solidFill>
                  <a:schemeClr val="dk1"/>
                </a:solidFill>
                <a:latin typeface="ABeeZee"/>
                <a:ea typeface="ABeeZee"/>
                <a:cs typeface="ABeeZee"/>
                <a:sym typeface="ABeeZee"/>
              </a:rPr>
              <a:t>(SEX)</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p:txBody>
      </p:sp>
      <p:sp>
        <p:nvSpPr>
          <p:cNvPr id="559" name="Google Shape;559;p69"/>
          <p:cNvSpPr/>
          <p:nvPr/>
        </p:nvSpPr>
        <p:spPr>
          <a:xfrm flipH="1" rot="10800000">
            <a:off x="218475" y="358875"/>
            <a:ext cx="2153400" cy="4377000"/>
          </a:xfrm>
          <a:prstGeom prst="round2DiagRect">
            <a:avLst>
              <a:gd fmla="val 16667" name="adj1"/>
              <a:gd fmla="val 0" name="adj2"/>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69"/>
          <p:cNvSpPr txBox="1"/>
          <p:nvPr/>
        </p:nvSpPr>
        <p:spPr>
          <a:xfrm flipH="1" rot="-5400000">
            <a:off x="-605425" y="1771350"/>
            <a:ext cx="3972600" cy="1600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Hauora &amp; Sexuality</a:t>
            </a:r>
            <a:endParaRPr sz="4100">
              <a:solidFill>
                <a:srgbClr val="FFFFFF"/>
              </a:solidFill>
            </a:endParaRPr>
          </a:p>
        </p:txBody>
      </p:sp>
      <p:pic>
        <p:nvPicPr>
          <p:cNvPr descr="This timer counts down silently until it reaches 0:00, then a police siren sounds to alert you that time is up." id="561" name="Google Shape;561;p69" title="5 Minute Timer">
            <a:hlinkClick r:id="rId4"/>
          </p:cNvPr>
          <p:cNvPicPr preferRelativeResize="0"/>
          <p:nvPr/>
        </p:nvPicPr>
        <p:blipFill>
          <a:blip r:embed="rId5">
            <a:alphaModFix/>
          </a:blip>
          <a:stretch>
            <a:fillRect/>
          </a:stretch>
        </p:blipFill>
        <p:spPr>
          <a:xfrm>
            <a:off x="6944050" y="178700"/>
            <a:ext cx="2199950" cy="12374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gtEl>
                                        <p:attrNameLst>
                                          <p:attrName>style.visibility</p:attrName>
                                        </p:attrNameLst>
                                      </p:cBhvr>
                                      <p:to>
                                        <p:strVal val="visible"/>
                                      </p:to>
                                    </p:set>
                                    <p:animEffect filter="fade" transition="in">
                                      <p:cBhvr>
                                        <p:cTn dur="1000"/>
                                        <p:tgtEl>
                                          <p:spTgt spid="5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pic>
        <p:nvPicPr>
          <p:cNvPr descr="AC Slides-01.jpeg" id="566" name="Google Shape;566;p70"/>
          <p:cNvPicPr preferRelativeResize="0"/>
          <p:nvPr/>
        </p:nvPicPr>
        <p:blipFill>
          <a:blip r:embed="rId3">
            <a:alphaModFix/>
          </a:blip>
          <a:stretch>
            <a:fillRect/>
          </a:stretch>
        </p:blipFill>
        <p:spPr>
          <a:xfrm>
            <a:off x="0" y="0"/>
            <a:ext cx="9144000" cy="5143500"/>
          </a:xfrm>
          <a:prstGeom prst="rect">
            <a:avLst/>
          </a:prstGeom>
          <a:noFill/>
          <a:ln>
            <a:noFill/>
          </a:ln>
        </p:spPr>
      </p:pic>
      <p:sp>
        <p:nvSpPr>
          <p:cNvPr id="567" name="Google Shape;567;p70"/>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70"/>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569" name="Google Shape;569;p70"/>
          <p:cNvSpPr txBox="1"/>
          <p:nvPr/>
        </p:nvSpPr>
        <p:spPr>
          <a:xfrm>
            <a:off x="2371875" y="357225"/>
            <a:ext cx="66303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600">
                <a:solidFill>
                  <a:schemeClr val="dk1"/>
                </a:solidFill>
                <a:latin typeface="Luckiest Guy"/>
                <a:ea typeface="Luckiest Guy"/>
                <a:cs typeface="Luckiest Guy"/>
                <a:sym typeface="Luckiest Guy"/>
              </a:rPr>
              <a:t>TAHA WHANAU</a:t>
            </a:r>
            <a:endParaRPr sz="3600">
              <a:solidFill>
                <a:schemeClr val="dk1"/>
              </a:solidFill>
              <a:latin typeface="Luckiest Guy"/>
              <a:ea typeface="Luckiest Guy"/>
              <a:cs typeface="Luckiest Guy"/>
              <a:sym typeface="Luckiest Guy"/>
            </a:endParaRPr>
          </a:p>
          <a:p>
            <a:pPr indent="0" lvl="0" marL="0" rtl="0" algn="l">
              <a:spcBef>
                <a:spcPts val="0"/>
              </a:spcBef>
              <a:spcAft>
                <a:spcPts val="0"/>
              </a:spcAft>
              <a:buNone/>
            </a:pPr>
            <a:r>
              <a:rPr lang="en-GB" sz="3600">
                <a:solidFill>
                  <a:schemeClr val="dk1"/>
                </a:solidFill>
                <a:latin typeface="Luckiest Guy"/>
                <a:ea typeface="Luckiest Guy"/>
                <a:cs typeface="Luckiest Guy"/>
                <a:sym typeface="Luckiest Guy"/>
              </a:rPr>
              <a:t>(SOCIAL)</a:t>
            </a:r>
            <a:endParaRPr sz="3600">
              <a:solidFill>
                <a:schemeClr val="dk1"/>
              </a:solidFill>
              <a:latin typeface="Luckiest Guy"/>
              <a:ea typeface="Luckiest Guy"/>
              <a:cs typeface="Luckiest Guy"/>
              <a:sym typeface="Luckiest Guy"/>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List as many positive and negative impacts </a:t>
            </a:r>
            <a:r>
              <a:rPr lang="en-GB" sz="1600">
                <a:solidFill>
                  <a:schemeClr val="dk1"/>
                </a:solidFill>
                <a:latin typeface="ABeeZee"/>
                <a:ea typeface="ABeeZee"/>
                <a:cs typeface="ABeeZee"/>
                <a:sym typeface="ABeeZee"/>
              </a:rPr>
              <a:t>Sexuality has on our</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Luckiest Guy"/>
                <a:ea typeface="Luckiest Guy"/>
                <a:cs typeface="Luckiest Guy"/>
                <a:sym typeface="Luckiest Guy"/>
              </a:rPr>
              <a:t>Positive impacts							negative impacts</a:t>
            </a:r>
            <a:endParaRPr sz="1600">
              <a:solidFill>
                <a:schemeClr val="dk1"/>
              </a:solidFill>
              <a:latin typeface="Luckiest Guy"/>
              <a:ea typeface="Luckiest Guy"/>
              <a:cs typeface="Luckiest Guy"/>
              <a:sym typeface="Luckiest Guy"/>
            </a:endParaRPr>
          </a:p>
          <a:p>
            <a:pPr indent="0" lvl="0" marL="0" rtl="0" algn="ctr">
              <a:spcBef>
                <a:spcPts val="0"/>
              </a:spcBef>
              <a:spcAft>
                <a:spcPts val="0"/>
              </a:spcAft>
              <a:buNone/>
            </a:pPr>
            <a:r>
              <a:t/>
            </a:r>
            <a:endParaRPr sz="1600">
              <a:solidFill>
                <a:schemeClr val="dk1"/>
              </a:solidFill>
              <a:latin typeface="ABeeZee"/>
              <a:ea typeface="ABeeZee"/>
              <a:cs typeface="ABeeZee"/>
              <a:sym typeface="ABeeZee"/>
            </a:endParaRPr>
          </a:p>
          <a:p>
            <a:pPr indent="0" lvl="0" marL="0" rtl="0" algn="ctr">
              <a:spcBef>
                <a:spcPts val="0"/>
              </a:spcBef>
              <a:spcAft>
                <a:spcPts val="0"/>
              </a:spcAft>
              <a:buNone/>
            </a:pPr>
            <a:r>
              <a:rPr lang="en-GB" sz="1600">
                <a:solidFill>
                  <a:schemeClr val="dk1"/>
                </a:solidFill>
                <a:latin typeface="ABeeZee"/>
                <a:ea typeface="ABeeZee"/>
                <a:cs typeface="ABeeZee"/>
                <a:sym typeface="ABeeZee"/>
              </a:rPr>
              <a:t>INTIMATE RELATIONSHIPS</a:t>
            </a:r>
            <a:endParaRPr sz="1600">
              <a:solidFill>
                <a:schemeClr val="dk1"/>
              </a:solidFill>
              <a:latin typeface="ABeeZee"/>
              <a:ea typeface="ABeeZee"/>
              <a:cs typeface="ABeeZee"/>
              <a:sym typeface="ABeeZee"/>
            </a:endParaRPr>
          </a:p>
          <a:p>
            <a:pPr indent="0" lvl="0" marL="0" rtl="0" algn="ctr">
              <a:spcBef>
                <a:spcPts val="0"/>
              </a:spcBef>
              <a:spcAft>
                <a:spcPts val="0"/>
              </a:spcAft>
              <a:buNone/>
            </a:pPr>
            <a:r>
              <a:t/>
            </a:r>
            <a:endParaRPr sz="1600">
              <a:solidFill>
                <a:schemeClr val="dk1"/>
              </a:solidFill>
              <a:latin typeface="ABeeZee"/>
              <a:ea typeface="ABeeZee"/>
              <a:cs typeface="ABeeZee"/>
              <a:sym typeface="ABeeZee"/>
            </a:endParaRPr>
          </a:p>
          <a:p>
            <a:pPr indent="0" lvl="0" marL="0" rtl="0" algn="ctr">
              <a:spcBef>
                <a:spcPts val="0"/>
              </a:spcBef>
              <a:spcAft>
                <a:spcPts val="0"/>
              </a:spcAft>
              <a:buNone/>
            </a:pPr>
            <a:r>
              <a:rPr lang="en-GB" sz="1600">
                <a:solidFill>
                  <a:schemeClr val="dk1"/>
                </a:solidFill>
                <a:latin typeface="ABeeZee"/>
                <a:ea typeface="ABeeZee"/>
                <a:cs typeface="ABeeZee"/>
                <a:sym typeface="ABeeZee"/>
              </a:rPr>
              <a:t>FRIENDSHIPS</a:t>
            </a:r>
            <a:endParaRPr sz="1600">
              <a:solidFill>
                <a:schemeClr val="dk1"/>
              </a:solidFill>
              <a:latin typeface="ABeeZee"/>
              <a:ea typeface="ABeeZee"/>
              <a:cs typeface="ABeeZee"/>
              <a:sym typeface="ABeeZee"/>
            </a:endParaRPr>
          </a:p>
          <a:p>
            <a:pPr indent="0" lvl="0" marL="0" rtl="0" algn="ctr">
              <a:spcBef>
                <a:spcPts val="0"/>
              </a:spcBef>
              <a:spcAft>
                <a:spcPts val="0"/>
              </a:spcAft>
              <a:buNone/>
            </a:pPr>
            <a:r>
              <a:t/>
            </a:r>
            <a:endParaRPr sz="1600">
              <a:solidFill>
                <a:schemeClr val="dk1"/>
              </a:solidFill>
              <a:latin typeface="ABeeZee"/>
              <a:ea typeface="ABeeZee"/>
              <a:cs typeface="ABeeZee"/>
              <a:sym typeface="ABeeZee"/>
            </a:endParaRPr>
          </a:p>
          <a:p>
            <a:pPr indent="0" lvl="0" marL="0" rtl="0" algn="ctr">
              <a:spcBef>
                <a:spcPts val="0"/>
              </a:spcBef>
              <a:spcAft>
                <a:spcPts val="0"/>
              </a:spcAft>
              <a:buNone/>
            </a:pPr>
            <a:r>
              <a:rPr lang="en-GB" sz="1600">
                <a:solidFill>
                  <a:schemeClr val="dk1"/>
                </a:solidFill>
                <a:latin typeface="ABeeZee"/>
                <a:ea typeface="ABeeZee"/>
                <a:cs typeface="ABeeZee"/>
                <a:sym typeface="ABeeZee"/>
              </a:rPr>
              <a:t>WHANAU</a:t>
            </a:r>
            <a:endParaRPr sz="1600">
              <a:solidFill>
                <a:schemeClr val="dk1"/>
              </a:solidFill>
              <a:latin typeface="ABeeZee"/>
              <a:ea typeface="ABeeZee"/>
              <a:cs typeface="ABeeZee"/>
              <a:sym typeface="ABeeZee"/>
            </a:endParaRPr>
          </a:p>
          <a:p>
            <a:pPr indent="0" lvl="0" marL="0" rtl="0" algn="ctr">
              <a:spcBef>
                <a:spcPts val="0"/>
              </a:spcBef>
              <a:spcAft>
                <a:spcPts val="0"/>
              </a:spcAft>
              <a:buNone/>
            </a:pPr>
            <a:r>
              <a:t/>
            </a:r>
            <a:endParaRPr sz="1600">
              <a:solidFill>
                <a:schemeClr val="dk1"/>
              </a:solidFill>
              <a:latin typeface="ABeeZee"/>
              <a:ea typeface="ABeeZee"/>
              <a:cs typeface="ABeeZee"/>
              <a:sym typeface="ABeeZee"/>
            </a:endParaRPr>
          </a:p>
          <a:p>
            <a:pPr indent="0" lvl="0" marL="0" rtl="0" algn="ctr">
              <a:spcBef>
                <a:spcPts val="0"/>
              </a:spcBef>
              <a:spcAft>
                <a:spcPts val="0"/>
              </a:spcAft>
              <a:buNone/>
            </a:pPr>
            <a:r>
              <a:rPr lang="en-GB" sz="1600">
                <a:solidFill>
                  <a:schemeClr val="dk1"/>
                </a:solidFill>
                <a:latin typeface="ABeeZee"/>
                <a:ea typeface="ABeeZee"/>
                <a:cs typeface="ABeeZee"/>
                <a:sym typeface="ABeeZee"/>
              </a:rPr>
              <a:t>SEX EDUCATION</a:t>
            </a:r>
            <a:endParaRPr sz="1600">
              <a:solidFill>
                <a:schemeClr val="dk1"/>
              </a:solidFill>
              <a:latin typeface="ABeeZee"/>
              <a:ea typeface="ABeeZee"/>
              <a:cs typeface="ABeeZee"/>
              <a:sym typeface="ABeeZee"/>
            </a:endParaRPr>
          </a:p>
          <a:p>
            <a:pPr indent="0" lvl="0" marL="0" rtl="0" algn="ctr">
              <a:spcBef>
                <a:spcPts val="0"/>
              </a:spcBef>
              <a:spcAft>
                <a:spcPts val="0"/>
              </a:spcAft>
              <a:buNone/>
            </a:pPr>
            <a:r>
              <a:rPr lang="en-GB" sz="1600">
                <a:solidFill>
                  <a:schemeClr val="dk1"/>
                </a:solidFill>
                <a:latin typeface="ABeeZee"/>
                <a:ea typeface="ABeeZee"/>
                <a:cs typeface="ABeeZee"/>
                <a:sym typeface="ABeeZee"/>
              </a:rPr>
              <a:t>(SEX)</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p:txBody>
      </p:sp>
      <p:sp>
        <p:nvSpPr>
          <p:cNvPr id="570" name="Google Shape;570;p70"/>
          <p:cNvSpPr/>
          <p:nvPr/>
        </p:nvSpPr>
        <p:spPr>
          <a:xfrm flipH="1" rot="10800000">
            <a:off x="218475" y="358875"/>
            <a:ext cx="2153400" cy="4377000"/>
          </a:xfrm>
          <a:prstGeom prst="round2DiagRect">
            <a:avLst>
              <a:gd fmla="val 16667" name="adj1"/>
              <a:gd fmla="val 0" name="adj2"/>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70"/>
          <p:cNvSpPr txBox="1"/>
          <p:nvPr/>
        </p:nvSpPr>
        <p:spPr>
          <a:xfrm flipH="1" rot="-5400000">
            <a:off x="-605425" y="1771350"/>
            <a:ext cx="3972600" cy="1600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Hauora &amp; Sexuality</a:t>
            </a:r>
            <a:endParaRPr sz="4100">
              <a:solidFill>
                <a:srgbClr val="FFFFFF"/>
              </a:solidFill>
            </a:endParaRPr>
          </a:p>
        </p:txBody>
      </p:sp>
      <p:pic>
        <p:nvPicPr>
          <p:cNvPr descr="This timer counts down silently until it reaches 0:00, then a police siren sounds to alert you that time is up." id="572" name="Google Shape;572;p70" title="5 Minute Timer">
            <a:hlinkClick r:id="rId4"/>
          </p:cNvPr>
          <p:cNvPicPr preferRelativeResize="0"/>
          <p:nvPr/>
        </p:nvPicPr>
        <p:blipFill>
          <a:blip r:embed="rId5">
            <a:alphaModFix/>
          </a:blip>
          <a:stretch>
            <a:fillRect/>
          </a:stretch>
        </p:blipFill>
        <p:spPr>
          <a:xfrm>
            <a:off x="6944050" y="178700"/>
            <a:ext cx="2199950" cy="12374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gtEl>
                                        <p:attrNameLst>
                                          <p:attrName>style.visibility</p:attrName>
                                        </p:attrNameLst>
                                      </p:cBhvr>
                                      <p:to>
                                        <p:strVal val="visible"/>
                                      </p:to>
                                    </p:set>
                                    <p:animEffect filter="fade" transition="in">
                                      <p:cBhvr>
                                        <p:cTn dur="1000"/>
                                        <p:tgtEl>
                                          <p:spTgt spid="5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pic>
        <p:nvPicPr>
          <p:cNvPr descr="AC Slides-01.jpeg" id="577" name="Google Shape;577;p71"/>
          <p:cNvPicPr preferRelativeResize="0"/>
          <p:nvPr/>
        </p:nvPicPr>
        <p:blipFill>
          <a:blip r:embed="rId3">
            <a:alphaModFix/>
          </a:blip>
          <a:stretch>
            <a:fillRect/>
          </a:stretch>
        </p:blipFill>
        <p:spPr>
          <a:xfrm>
            <a:off x="0" y="0"/>
            <a:ext cx="9144000" cy="5143500"/>
          </a:xfrm>
          <a:prstGeom prst="rect">
            <a:avLst/>
          </a:prstGeom>
          <a:noFill/>
          <a:ln>
            <a:noFill/>
          </a:ln>
        </p:spPr>
      </p:pic>
      <p:sp>
        <p:nvSpPr>
          <p:cNvPr id="578" name="Google Shape;578;p71"/>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71"/>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580" name="Google Shape;580;p71"/>
          <p:cNvSpPr txBox="1"/>
          <p:nvPr/>
        </p:nvSpPr>
        <p:spPr>
          <a:xfrm>
            <a:off x="2371875" y="357225"/>
            <a:ext cx="66303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600">
                <a:solidFill>
                  <a:schemeClr val="dk1"/>
                </a:solidFill>
                <a:latin typeface="Luckiest Guy"/>
                <a:ea typeface="Luckiest Guy"/>
                <a:cs typeface="Luckiest Guy"/>
                <a:sym typeface="Luckiest Guy"/>
              </a:rPr>
              <a:t>TAHA HINENGARO</a:t>
            </a:r>
            <a:endParaRPr sz="3600">
              <a:solidFill>
                <a:schemeClr val="dk1"/>
              </a:solidFill>
              <a:latin typeface="Luckiest Guy"/>
              <a:ea typeface="Luckiest Guy"/>
              <a:cs typeface="Luckiest Guy"/>
              <a:sym typeface="Luckiest Guy"/>
            </a:endParaRPr>
          </a:p>
          <a:p>
            <a:pPr indent="0" lvl="0" marL="0" rtl="0" algn="l">
              <a:spcBef>
                <a:spcPts val="0"/>
              </a:spcBef>
              <a:spcAft>
                <a:spcPts val="0"/>
              </a:spcAft>
              <a:buNone/>
            </a:pPr>
            <a:r>
              <a:rPr lang="en-GB" sz="3600">
                <a:solidFill>
                  <a:schemeClr val="dk1"/>
                </a:solidFill>
                <a:latin typeface="Luckiest Guy"/>
                <a:ea typeface="Luckiest Guy"/>
                <a:cs typeface="Luckiest Guy"/>
                <a:sym typeface="Luckiest Guy"/>
              </a:rPr>
              <a:t>(MENTAL/EMOTIONAL)</a:t>
            </a:r>
            <a:endParaRPr sz="3600">
              <a:solidFill>
                <a:schemeClr val="dk1"/>
              </a:solidFill>
              <a:latin typeface="Luckiest Guy"/>
              <a:ea typeface="Luckiest Guy"/>
              <a:cs typeface="Luckiest Guy"/>
              <a:sym typeface="Luckiest Guy"/>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List as many positive and negative impacts Sexuality has on our</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Luckiest Guy"/>
                <a:ea typeface="Luckiest Guy"/>
                <a:cs typeface="Luckiest Guy"/>
                <a:sym typeface="Luckiest Guy"/>
              </a:rPr>
              <a:t>Positive impacts							negative impacts</a:t>
            </a:r>
            <a:endParaRPr sz="1600">
              <a:solidFill>
                <a:schemeClr val="dk1"/>
              </a:solidFill>
              <a:latin typeface="Luckiest Guy"/>
              <a:ea typeface="Luckiest Guy"/>
              <a:cs typeface="Luckiest Guy"/>
              <a:sym typeface="Luckiest Guy"/>
            </a:endParaRPr>
          </a:p>
          <a:p>
            <a:pPr indent="0" lvl="0" marL="0" rtl="0" algn="ctr">
              <a:spcBef>
                <a:spcPts val="0"/>
              </a:spcBef>
              <a:spcAft>
                <a:spcPts val="0"/>
              </a:spcAft>
              <a:buNone/>
            </a:pPr>
            <a:r>
              <a:t/>
            </a:r>
            <a:endParaRPr sz="1600">
              <a:solidFill>
                <a:schemeClr val="dk1"/>
              </a:solidFill>
              <a:latin typeface="ABeeZee"/>
              <a:ea typeface="ABeeZee"/>
              <a:cs typeface="ABeeZee"/>
              <a:sym typeface="ABeeZee"/>
            </a:endParaRPr>
          </a:p>
          <a:p>
            <a:pPr indent="0" lvl="0" marL="0" rtl="0" algn="ctr">
              <a:spcBef>
                <a:spcPts val="0"/>
              </a:spcBef>
              <a:spcAft>
                <a:spcPts val="0"/>
              </a:spcAft>
              <a:buNone/>
            </a:pPr>
            <a:r>
              <a:t/>
            </a:r>
            <a:endParaRPr sz="1600">
              <a:solidFill>
                <a:schemeClr val="dk1"/>
              </a:solidFill>
              <a:latin typeface="ABeeZee"/>
              <a:ea typeface="ABeeZee"/>
              <a:cs typeface="ABeeZee"/>
              <a:sym typeface="ABeeZee"/>
            </a:endParaRPr>
          </a:p>
          <a:p>
            <a:pPr indent="0" lvl="0" marL="0" rtl="0" algn="ctr">
              <a:spcBef>
                <a:spcPts val="0"/>
              </a:spcBef>
              <a:spcAft>
                <a:spcPts val="0"/>
              </a:spcAft>
              <a:buNone/>
            </a:pPr>
            <a:r>
              <a:rPr lang="en-GB" sz="1600">
                <a:solidFill>
                  <a:schemeClr val="dk1"/>
                </a:solidFill>
                <a:latin typeface="ABeeZee"/>
                <a:ea typeface="ABeeZee"/>
                <a:cs typeface="ABeeZee"/>
                <a:sym typeface="ABeeZee"/>
              </a:rPr>
              <a:t>CONSENT</a:t>
            </a:r>
            <a:endParaRPr sz="1600">
              <a:solidFill>
                <a:schemeClr val="dk1"/>
              </a:solidFill>
              <a:latin typeface="ABeeZee"/>
              <a:ea typeface="ABeeZee"/>
              <a:cs typeface="ABeeZee"/>
              <a:sym typeface="ABeeZee"/>
            </a:endParaRPr>
          </a:p>
          <a:p>
            <a:pPr indent="0" lvl="0" marL="0" rtl="0" algn="ctr">
              <a:spcBef>
                <a:spcPts val="0"/>
              </a:spcBef>
              <a:spcAft>
                <a:spcPts val="0"/>
              </a:spcAft>
              <a:buNone/>
            </a:pPr>
            <a:r>
              <a:t/>
            </a:r>
            <a:endParaRPr sz="1600">
              <a:solidFill>
                <a:schemeClr val="dk1"/>
              </a:solidFill>
              <a:latin typeface="ABeeZee"/>
              <a:ea typeface="ABeeZee"/>
              <a:cs typeface="ABeeZee"/>
              <a:sym typeface="ABeeZee"/>
            </a:endParaRPr>
          </a:p>
          <a:p>
            <a:pPr indent="0" lvl="0" marL="0" rtl="0" algn="ctr">
              <a:spcBef>
                <a:spcPts val="0"/>
              </a:spcBef>
              <a:spcAft>
                <a:spcPts val="0"/>
              </a:spcAft>
              <a:buNone/>
            </a:pPr>
            <a:r>
              <a:rPr lang="en-GB" sz="1600">
                <a:solidFill>
                  <a:schemeClr val="dk1"/>
                </a:solidFill>
                <a:latin typeface="ABeeZee"/>
                <a:ea typeface="ABeeZee"/>
                <a:cs typeface="ABeeZee"/>
                <a:sym typeface="ABeeZee"/>
              </a:rPr>
              <a:t>QUALITY OF INTIMATE RELATIONSHIPS</a:t>
            </a:r>
            <a:endParaRPr sz="1600">
              <a:solidFill>
                <a:schemeClr val="dk1"/>
              </a:solidFill>
              <a:latin typeface="ABeeZee"/>
              <a:ea typeface="ABeeZee"/>
              <a:cs typeface="ABeeZee"/>
              <a:sym typeface="ABeeZee"/>
            </a:endParaRPr>
          </a:p>
          <a:p>
            <a:pPr indent="0" lvl="0" marL="0" rtl="0" algn="ctr">
              <a:spcBef>
                <a:spcPts val="0"/>
              </a:spcBef>
              <a:spcAft>
                <a:spcPts val="0"/>
              </a:spcAft>
              <a:buNone/>
            </a:pPr>
            <a:r>
              <a:t/>
            </a:r>
            <a:endParaRPr sz="1600">
              <a:solidFill>
                <a:schemeClr val="dk1"/>
              </a:solidFill>
              <a:latin typeface="ABeeZee"/>
              <a:ea typeface="ABeeZee"/>
              <a:cs typeface="ABeeZee"/>
              <a:sym typeface="ABeeZee"/>
            </a:endParaRPr>
          </a:p>
          <a:p>
            <a:pPr indent="0" lvl="0" marL="0" rtl="0" algn="ctr">
              <a:spcBef>
                <a:spcPts val="0"/>
              </a:spcBef>
              <a:spcAft>
                <a:spcPts val="0"/>
              </a:spcAft>
              <a:buNone/>
            </a:pPr>
            <a:r>
              <a:rPr lang="en-GB" sz="1600">
                <a:solidFill>
                  <a:schemeClr val="dk1"/>
                </a:solidFill>
                <a:latin typeface="ABeeZee"/>
                <a:ea typeface="ABeeZee"/>
                <a:cs typeface="ABeeZee"/>
                <a:sym typeface="ABeeZee"/>
              </a:rPr>
              <a:t>SELF CONFIDENCE</a:t>
            </a:r>
            <a:endParaRPr sz="1600">
              <a:solidFill>
                <a:schemeClr val="dk1"/>
              </a:solidFill>
              <a:latin typeface="ABeeZee"/>
              <a:ea typeface="ABeeZee"/>
              <a:cs typeface="ABeeZee"/>
              <a:sym typeface="ABeeZee"/>
            </a:endParaRPr>
          </a:p>
          <a:p>
            <a:pPr indent="0" lvl="0" marL="0" rtl="0" algn="ctr">
              <a:spcBef>
                <a:spcPts val="0"/>
              </a:spcBef>
              <a:spcAft>
                <a:spcPts val="0"/>
              </a:spcAft>
              <a:buNone/>
            </a:pPr>
            <a:r>
              <a:t/>
            </a:r>
            <a:endParaRPr sz="1600">
              <a:solidFill>
                <a:schemeClr val="dk1"/>
              </a:solidFill>
              <a:latin typeface="ABeeZee"/>
              <a:ea typeface="ABeeZee"/>
              <a:cs typeface="ABeeZee"/>
              <a:sym typeface="ABeeZee"/>
            </a:endParaRPr>
          </a:p>
          <a:p>
            <a:pPr indent="0" lvl="0" marL="0" rtl="0" algn="ctr">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p:txBody>
      </p:sp>
      <p:sp>
        <p:nvSpPr>
          <p:cNvPr id="581" name="Google Shape;581;p71"/>
          <p:cNvSpPr/>
          <p:nvPr/>
        </p:nvSpPr>
        <p:spPr>
          <a:xfrm flipH="1" rot="10800000">
            <a:off x="218475" y="358875"/>
            <a:ext cx="2153400" cy="4377000"/>
          </a:xfrm>
          <a:prstGeom prst="round2DiagRect">
            <a:avLst>
              <a:gd fmla="val 16667" name="adj1"/>
              <a:gd fmla="val 0" name="adj2"/>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71"/>
          <p:cNvSpPr txBox="1"/>
          <p:nvPr/>
        </p:nvSpPr>
        <p:spPr>
          <a:xfrm flipH="1" rot="-5400000">
            <a:off x="-605425" y="1771350"/>
            <a:ext cx="3972600" cy="1600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Hauora &amp; Sexuality</a:t>
            </a:r>
            <a:endParaRPr sz="4100">
              <a:solidFill>
                <a:srgbClr val="FFFFFF"/>
              </a:solidFill>
            </a:endParaRPr>
          </a:p>
        </p:txBody>
      </p:sp>
      <p:pic>
        <p:nvPicPr>
          <p:cNvPr descr="This timer counts down silently until it reaches 0:00, then a police siren sounds to alert you that time is up." id="583" name="Google Shape;583;p71" title="5 Minute Timer">
            <a:hlinkClick r:id="rId4"/>
          </p:cNvPr>
          <p:cNvPicPr preferRelativeResize="0"/>
          <p:nvPr/>
        </p:nvPicPr>
        <p:blipFill>
          <a:blip r:embed="rId5">
            <a:alphaModFix/>
          </a:blip>
          <a:stretch>
            <a:fillRect/>
          </a:stretch>
        </p:blipFill>
        <p:spPr>
          <a:xfrm>
            <a:off x="6944050" y="178700"/>
            <a:ext cx="2199950" cy="12374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3"/>
                                        </p:tgtEl>
                                        <p:attrNameLst>
                                          <p:attrName>style.visibility</p:attrName>
                                        </p:attrNameLst>
                                      </p:cBhvr>
                                      <p:to>
                                        <p:strVal val="visible"/>
                                      </p:to>
                                    </p:set>
                                    <p:animEffect filter="fade" transition="in">
                                      <p:cBhvr>
                                        <p:cTn dur="1000"/>
                                        <p:tgtEl>
                                          <p:spTgt spid="5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pic>
        <p:nvPicPr>
          <p:cNvPr descr="AC Slides-01.jpeg" id="588" name="Google Shape;588;p72"/>
          <p:cNvPicPr preferRelativeResize="0"/>
          <p:nvPr/>
        </p:nvPicPr>
        <p:blipFill>
          <a:blip r:embed="rId3">
            <a:alphaModFix/>
          </a:blip>
          <a:stretch>
            <a:fillRect/>
          </a:stretch>
        </p:blipFill>
        <p:spPr>
          <a:xfrm>
            <a:off x="0" y="0"/>
            <a:ext cx="9144000" cy="5143500"/>
          </a:xfrm>
          <a:prstGeom prst="rect">
            <a:avLst/>
          </a:prstGeom>
          <a:noFill/>
          <a:ln>
            <a:noFill/>
          </a:ln>
        </p:spPr>
      </p:pic>
      <p:sp>
        <p:nvSpPr>
          <p:cNvPr id="589" name="Google Shape;589;p72"/>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72"/>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591" name="Google Shape;591;p72"/>
          <p:cNvSpPr txBox="1"/>
          <p:nvPr/>
        </p:nvSpPr>
        <p:spPr>
          <a:xfrm>
            <a:off x="2371875" y="357225"/>
            <a:ext cx="66303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600">
                <a:solidFill>
                  <a:schemeClr val="dk1"/>
                </a:solidFill>
                <a:latin typeface="Luckiest Guy"/>
                <a:ea typeface="Luckiest Guy"/>
                <a:cs typeface="Luckiest Guy"/>
                <a:sym typeface="Luckiest Guy"/>
              </a:rPr>
              <a:t>TAHA WAIRUA</a:t>
            </a:r>
            <a:endParaRPr sz="3600">
              <a:solidFill>
                <a:schemeClr val="dk1"/>
              </a:solidFill>
              <a:latin typeface="Luckiest Guy"/>
              <a:ea typeface="Luckiest Guy"/>
              <a:cs typeface="Luckiest Guy"/>
              <a:sym typeface="Luckiest Guy"/>
            </a:endParaRPr>
          </a:p>
          <a:p>
            <a:pPr indent="0" lvl="0" marL="0" rtl="0" algn="l">
              <a:spcBef>
                <a:spcPts val="0"/>
              </a:spcBef>
              <a:spcAft>
                <a:spcPts val="0"/>
              </a:spcAft>
              <a:buNone/>
            </a:pPr>
            <a:r>
              <a:rPr lang="en-GB" sz="3600">
                <a:solidFill>
                  <a:schemeClr val="dk1"/>
                </a:solidFill>
                <a:latin typeface="Luckiest Guy"/>
                <a:ea typeface="Luckiest Guy"/>
                <a:cs typeface="Luckiest Guy"/>
                <a:sym typeface="Luckiest Guy"/>
              </a:rPr>
              <a:t>(SPIRITUAL)</a:t>
            </a:r>
            <a:endParaRPr sz="3600">
              <a:solidFill>
                <a:schemeClr val="dk1"/>
              </a:solidFill>
              <a:latin typeface="Luckiest Guy"/>
              <a:ea typeface="Luckiest Guy"/>
              <a:cs typeface="Luckiest Guy"/>
              <a:sym typeface="Luckiest Guy"/>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List as many positive and negative impacts Sexuality has on our</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Luckiest Guy"/>
                <a:ea typeface="Luckiest Guy"/>
                <a:cs typeface="Luckiest Guy"/>
                <a:sym typeface="Luckiest Guy"/>
              </a:rPr>
              <a:t>Positive impacts							negative impacts</a:t>
            </a:r>
            <a:endParaRPr sz="1600">
              <a:solidFill>
                <a:schemeClr val="dk1"/>
              </a:solidFill>
              <a:latin typeface="Luckiest Guy"/>
              <a:ea typeface="Luckiest Guy"/>
              <a:cs typeface="Luckiest Guy"/>
              <a:sym typeface="Luckiest Guy"/>
            </a:endParaRPr>
          </a:p>
          <a:p>
            <a:pPr indent="0" lvl="0" marL="0" rtl="0" algn="ctr">
              <a:spcBef>
                <a:spcPts val="0"/>
              </a:spcBef>
              <a:spcAft>
                <a:spcPts val="0"/>
              </a:spcAft>
              <a:buNone/>
            </a:pPr>
            <a:r>
              <a:t/>
            </a:r>
            <a:endParaRPr sz="1600">
              <a:solidFill>
                <a:schemeClr val="dk1"/>
              </a:solidFill>
              <a:latin typeface="ABeeZee"/>
              <a:ea typeface="ABeeZee"/>
              <a:cs typeface="ABeeZee"/>
              <a:sym typeface="ABeeZee"/>
            </a:endParaRPr>
          </a:p>
          <a:p>
            <a:pPr indent="0" lvl="0" marL="0" rtl="0" algn="ctr">
              <a:spcBef>
                <a:spcPts val="0"/>
              </a:spcBef>
              <a:spcAft>
                <a:spcPts val="0"/>
              </a:spcAft>
              <a:buNone/>
            </a:pPr>
            <a:r>
              <a:rPr lang="en-GB" sz="1600">
                <a:solidFill>
                  <a:schemeClr val="dk1"/>
                </a:solidFill>
                <a:latin typeface="ABeeZee"/>
                <a:ea typeface="ABeeZee"/>
                <a:cs typeface="ABeeZee"/>
                <a:sym typeface="ABeeZee"/>
              </a:rPr>
              <a:t>RELIGION</a:t>
            </a:r>
            <a:endParaRPr sz="1600">
              <a:solidFill>
                <a:schemeClr val="dk1"/>
              </a:solidFill>
              <a:latin typeface="ABeeZee"/>
              <a:ea typeface="ABeeZee"/>
              <a:cs typeface="ABeeZee"/>
              <a:sym typeface="ABeeZee"/>
            </a:endParaRPr>
          </a:p>
          <a:p>
            <a:pPr indent="0" lvl="0" marL="0" rtl="0" algn="ctr">
              <a:spcBef>
                <a:spcPts val="0"/>
              </a:spcBef>
              <a:spcAft>
                <a:spcPts val="0"/>
              </a:spcAft>
              <a:buNone/>
            </a:pPr>
            <a:r>
              <a:t/>
            </a:r>
            <a:endParaRPr sz="1600">
              <a:solidFill>
                <a:schemeClr val="dk1"/>
              </a:solidFill>
              <a:latin typeface="ABeeZee"/>
              <a:ea typeface="ABeeZee"/>
              <a:cs typeface="ABeeZee"/>
              <a:sym typeface="ABeeZee"/>
            </a:endParaRPr>
          </a:p>
          <a:p>
            <a:pPr indent="0" lvl="0" marL="0" rtl="0" algn="ctr">
              <a:spcBef>
                <a:spcPts val="0"/>
              </a:spcBef>
              <a:spcAft>
                <a:spcPts val="0"/>
              </a:spcAft>
              <a:buNone/>
            </a:pPr>
            <a:r>
              <a:rPr lang="en-GB" sz="1600">
                <a:solidFill>
                  <a:schemeClr val="dk1"/>
                </a:solidFill>
                <a:latin typeface="ABeeZee"/>
                <a:ea typeface="ABeeZee"/>
                <a:cs typeface="ABeeZee"/>
                <a:sym typeface="ABeeZee"/>
              </a:rPr>
              <a:t>SEXUAL IDENTITY</a:t>
            </a:r>
            <a:endParaRPr sz="1600">
              <a:solidFill>
                <a:schemeClr val="dk1"/>
              </a:solidFill>
              <a:latin typeface="ABeeZee"/>
              <a:ea typeface="ABeeZee"/>
              <a:cs typeface="ABeeZee"/>
              <a:sym typeface="ABeeZee"/>
            </a:endParaRPr>
          </a:p>
          <a:p>
            <a:pPr indent="0" lvl="0" marL="0" rtl="0" algn="ctr">
              <a:spcBef>
                <a:spcPts val="0"/>
              </a:spcBef>
              <a:spcAft>
                <a:spcPts val="0"/>
              </a:spcAft>
              <a:buNone/>
            </a:pPr>
            <a:r>
              <a:t/>
            </a:r>
            <a:endParaRPr sz="1600">
              <a:solidFill>
                <a:schemeClr val="dk1"/>
              </a:solidFill>
              <a:latin typeface="ABeeZee"/>
              <a:ea typeface="ABeeZee"/>
              <a:cs typeface="ABeeZee"/>
              <a:sym typeface="ABeeZee"/>
            </a:endParaRPr>
          </a:p>
          <a:p>
            <a:pPr indent="0" lvl="0" marL="0" rtl="0" algn="ctr">
              <a:spcBef>
                <a:spcPts val="0"/>
              </a:spcBef>
              <a:spcAft>
                <a:spcPts val="0"/>
              </a:spcAft>
              <a:buClr>
                <a:schemeClr val="dk1"/>
              </a:buClr>
              <a:buSzPts val="1100"/>
              <a:buFont typeface="Arial"/>
              <a:buNone/>
            </a:pPr>
            <a:r>
              <a:rPr lang="en-GB" sz="1600">
                <a:solidFill>
                  <a:schemeClr val="dk1"/>
                </a:solidFill>
                <a:latin typeface="ABeeZee"/>
                <a:ea typeface="ABeeZee"/>
                <a:cs typeface="ABeeZee"/>
                <a:sym typeface="ABeeZee"/>
              </a:rPr>
              <a:t>RELATIONSHIP VALUES</a:t>
            </a:r>
            <a:br>
              <a:rPr lang="en-GB" sz="1600">
                <a:solidFill>
                  <a:schemeClr val="dk1"/>
                </a:solidFill>
                <a:latin typeface="ABeeZee"/>
                <a:ea typeface="ABeeZee"/>
                <a:cs typeface="ABeeZee"/>
                <a:sym typeface="ABeeZee"/>
              </a:rPr>
            </a:br>
            <a:r>
              <a:rPr lang="en-GB" sz="1600">
                <a:solidFill>
                  <a:schemeClr val="dk1"/>
                </a:solidFill>
                <a:latin typeface="ABeeZee"/>
                <a:ea typeface="ABeeZee"/>
                <a:cs typeface="ABeeZee"/>
                <a:sym typeface="ABeeZee"/>
              </a:rPr>
              <a:t>&amp; BELIEFS</a:t>
            </a:r>
            <a:endParaRPr sz="1600">
              <a:solidFill>
                <a:schemeClr val="dk1"/>
              </a:solidFill>
              <a:latin typeface="ABeeZee"/>
              <a:ea typeface="ABeeZee"/>
              <a:cs typeface="ABeeZee"/>
              <a:sym typeface="ABeeZee"/>
            </a:endParaRPr>
          </a:p>
          <a:p>
            <a:pPr indent="0" lvl="0" marL="0" rtl="0" algn="ctr">
              <a:spcBef>
                <a:spcPts val="0"/>
              </a:spcBef>
              <a:spcAft>
                <a:spcPts val="0"/>
              </a:spcAft>
              <a:buNone/>
            </a:pPr>
            <a:r>
              <a:t/>
            </a:r>
            <a:endParaRPr sz="1600">
              <a:solidFill>
                <a:schemeClr val="dk1"/>
              </a:solidFill>
              <a:latin typeface="ABeeZee"/>
              <a:ea typeface="ABeeZee"/>
              <a:cs typeface="ABeeZee"/>
              <a:sym typeface="ABeeZee"/>
            </a:endParaRPr>
          </a:p>
          <a:p>
            <a:pPr indent="0" lvl="0" marL="0" rtl="0" algn="ctr">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p:txBody>
      </p:sp>
      <p:sp>
        <p:nvSpPr>
          <p:cNvPr id="592" name="Google Shape;592;p72"/>
          <p:cNvSpPr/>
          <p:nvPr/>
        </p:nvSpPr>
        <p:spPr>
          <a:xfrm flipH="1" rot="10800000">
            <a:off x="218475" y="358875"/>
            <a:ext cx="2153400" cy="4377000"/>
          </a:xfrm>
          <a:prstGeom prst="round2DiagRect">
            <a:avLst>
              <a:gd fmla="val 16667" name="adj1"/>
              <a:gd fmla="val 0" name="adj2"/>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72"/>
          <p:cNvSpPr txBox="1"/>
          <p:nvPr/>
        </p:nvSpPr>
        <p:spPr>
          <a:xfrm flipH="1" rot="-5400000">
            <a:off x="-605425" y="1771350"/>
            <a:ext cx="3972600" cy="1600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Hauora &amp; Sexuality</a:t>
            </a:r>
            <a:endParaRPr sz="4100">
              <a:solidFill>
                <a:srgbClr val="FFFFFF"/>
              </a:solidFill>
            </a:endParaRPr>
          </a:p>
        </p:txBody>
      </p:sp>
      <p:pic>
        <p:nvPicPr>
          <p:cNvPr descr="This timer counts down silently until it reaches 0:00, then a police siren sounds to alert you that time is up." id="594" name="Google Shape;594;p72" title="5 Minute Timer">
            <a:hlinkClick r:id="rId4"/>
          </p:cNvPr>
          <p:cNvPicPr preferRelativeResize="0"/>
          <p:nvPr/>
        </p:nvPicPr>
        <p:blipFill>
          <a:blip r:embed="rId5">
            <a:alphaModFix/>
          </a:blip>
          <a:stretch>
            <a:fillRect/>
          </a:stretch>
        </p:blipFill>
        <p:spPr>
          <a:xfrm>
            <a:off x="6944050" y="178700"/>
            <a:ext cx="2199950" cy="12374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4"/>
                                        </p:tgtEl>
                                        <p:attrNameLst>
                                          <p:attrName>style.visibility</p:attrName>
                                        </p:attrNameLst>
                                      </p:cBhvr>
                                      <p:to>
                                        <p:strVal val="visible"/>
                                      </p:to>
                                    </p:set>
                                    <p:animEffect filter="fade" transition="in">
                                      <p:cBhvr>
                                        <p:cTn dur="1000"/>
                                        <p:tgtEl>
                                          <p:spTgt spid="5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pic>
        <p:nvPicPr>
          <p:cNvPr descr="AC Slides-01.jpeg" id="599" name="Google Shape;599;p73"/>
          <p:cNvPicPr preferRelativeResize="0"/>
          <p:nvPr/>
        </p:nvPicPr>
        <p:blipFill>
          <a:blip r:embed="rId3">
            <a:alphaModFix/>
          </a:blip>
          <a:stretch>
            <a:fillRect/>
          </a:stretch>
        </p:blipFill>
        <p:spPr>
          <a:xfrm>
            <a:off x="0" y="0"/>
            <a:ext cx="9144000" cy="5143500"/>
          </a:xfrm>
          <a:prstGeom prst="rect">
            <a:avLst/>
          </a:prstGeom>
          <a:noFill/>
          <a:ln>
            <a:noFill/>
          </a:ln>
        </p:spPr>
      </p:pic>
      <p:sp>
        <p:nvSpPr>
          <p:cNvPr id="600" name="Google Shape;600;p73"/>
          <p:cNvSpPr txBox="1"/>
          <p:nvPr/>
        </p:nvSpPr>
        <p:spPr>
          <a:xfrm>
            <a:off x="451700" y="2797700"/>
            <a:ext cx="7265100" cy="2143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GB" sz="2200">
                <a:latin typeface="Calibri"/>
                <a:ea typeface="Calibri"/>
                <a:cs typeface="Calibri"/>
                <a:sym typeface="Calibri"/>
              </a:rPr>
              <a:t>Vision</a:t>
            </a:r>
            <a:endParaRPr b="1" sz="2200">
              <a:latin typeface="Calibri"/>
              <a:ea typeface="Calibri"/>
              <a:cs typeface="Calibri"/>
              <a:sym typeface="Calibri"/>
            </a:endParaRPr>
          </a:p>
          <a:p>
            <a:pPr indent="0" lvl="0" marL="0" rtl="0" algn="just">
              <a:spcBef>
                <a:spcPts val="0"/>
              </a:spcBef>
              <a:spcAft>
                <a:spcPts val="0"/>
              </a:spcAft>
              <a:buNone/>
            </a:pPr>
            <a:r>
              <a:rPr lang="en-GB" sz="2200">
                <a:solidFill>
                  <a:srgbClr val="000000"/>
                </a:solidFill>
                <a:latin typeface="Calibri"/>
                <a:ea typeface="Calibri"/>
                <a:cs typeface="Calibri"/>
                <a:sym typeface="Calibri"/>
              </a:rPr>
              <a:t>Alfriston College is a learning community</a:t>
            </a:r>
            <a:r>
              <a:rPr b="1" lang="en-GB" sz="2200">
                <a:solidFill>
                  <a:srgbClr val="000000"/>
                </a:solidFill>
                <a:latin typeface="Calibri"/>
                <a:ea typeface="Calibri"/>
                <a:cs typeface="Calibri"/>
                <a:sym typeface="Calibri"/>
              </a:rPr>
              <a:t> </a:t>
            </a:r>
            <a:r>
              <a:rPr lang="en-GB" sz="2200">
                <a:solidFill>
                  <a:srgbClr val="000000"/>
                </a:solidFill>
                <a:latin typeface="Calibri"/>
                <a:ea typeface="Calibri"/>
                <a:cs typeface="Calibri"/>
                <a:sym typeface="Calibri"/>
              </a:rPr>
              <a:t>dedicated to developing and supporting </a:t>
            </a:r>
            <a:r>
              <a:rPr b="1" lang="en-GB" sz="2200">
                <a:solidFill>
                  <a:srgbClr val="980000"/>
                </a:solidFill>
                <a:latin typeface="Calibri"/>
                <a:ea typeface="Calibri"/>
                <a:cs typeface="Calibri"/>
                <a:sym typeface="Calibri"/>
              </a:rPr>
              <a:t>lifelong independent learners</a:t>
            </a:r>
            <a:r>
              <a:rPr lang="en-GB" sz="2200">
                <a:solidFill>
                  <a:srgbClr val="000000"/>
                </a:solidFill>
                <a:latin typeface="Calibri"/>
                <a:ea typeface="Calibri"/>
                <a:cs typeface="Calibri"/>
                <a:sym typeface="Calibri"/>
              </a:rPr>
              <a:t> by creating an environment that fosters a sense of </a:t>
            </a:r>
            <a:r>
              <a:rPr b="1" lang="en-GB" sz="2200">
                <a:solidFill>
                  <a:srgbClr val="980000"/>
                </a:solidFill>
                <a:latin typeface="Calibri"/>
                <a:ea typeface="Calibri"/>
                <a:cs typeface="Calibri"/>
                <a:sym typeface="Calibri"/>
              </a:rPr>
              <a:t>Belonging</a:t>
            </a:r>
            <a:r>
              <a:rPr lang="en-GB" sz="2200">
                <a:solidFill>
                  <a:srgbClr val="000000"/>
                </a:solidFill>
                <a:latin typeface="Calibri"/>
                <a:ea typeface="Calibri"/>
                <a:cs typeface="Calibri"/>
                <a:sym typeface="Calibri"/>
              </a:rPr>
              <a:t>, values </a:t>
            </a:r>
            <a:r>
              <a:rPr b="1" lang="en-GB" sz="2200">
                <a:solidFill>
                  <a:srgbClr val="980000"/>
                </a:solidFill>
                <a:latin typeface="Calibri"/>
                <a:ea typeface="Calibri"/>
                <a:cs typeface="Calibri"/>
                <a:sym typeface="Calibri"/>
              </a:rPr>
              <a:t>Learning</a:t>
            </a:r>
            <a:r>
              <a:rPr lang="en-GB" sz="2200">
                <a:solidFill>
                  <a:srgbClr val="000000"/>
                </a:solidFill>
                <a:latin typeface="Calibri"/>
                <a:ea typeface="Calibri"/>
                <a:cs typeface="Calibri"/>
                <a:sym typeface="Calibri"/>
              </a:rPr>
              <a:t>, and expects </a:t>
            </a:r>
            <a:r>
              <a:rPr b="1" lang="en-GB" sz="2200">
                <a:solidFill>
                  <a:srgbClr val="980000"/>
                </a:solidFill>
                <a:latin typeface="Calibri"/>
                <a:ea typeface="Calibri"/>
                <a:cs typeface="Calibri"/>
                <a:sym typeface="Calibri"/>
              </a:rPr>
              <a:t>Success</a:t>
            </a:r>
            <a:r>
              <a:rPr lang="en-GB" sz="2200">
                <a:solidFill>
                  <a:srgbClr val="000000"/>
                </a:solidFill>
                <a:latin typeface="Calibri"/>
                <a:ea typeface="Calibri"/>
                <a:cs typeface="Calibri"/>
                <a:sym typeface="Calibri"/>
              </a:rPr>
              <a:t>.</a:t>
            </a:r>
            <a:endParaRPr sz="2200">
              <a:solidFill>
                <a:srgbClr val="000000"/>
              </a:solidFill>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3000">
              <a:solidFill>
                <a:srgbClr val="222B67"/>
              </a:solidFill>
            </a:endParaRPr>
          </a:p>
        </p:txBody>
      </p:sp>
      <p:pic>
        <p:nvPicPr>
          <p:cNvPr descr="Alfriston College Logo-12.png" id="601" name="Google Shape;601;p73"/>
          <p:cNvPicPr preferRelativeResize="0"/>
          <p:nvPr/>
        </p:nvPicPr>
        <p:blipFill>
          <a:blip r:embed="rId4">
            <a:alphaModFix/>
          </a:blip>
          <a:stretch>
            <a:fillRect/>
          </a:stretch>
        </p:blipFill>
        <p:spPr>
          <a:xfrm>
            <a:off x="7997098" y="79002"/>
            <a:ext cx="1092277" cy="1524425"/>
          </a:xfrm>
          <a:prstGeom prst="rect">
            <a:avLst/>
          </a:prstGeom>
          <a:noFill/>
          <a:ln>
            <a:noFill/>
          </a:ln>
        </p:spPr>
      </p:pic>
      <p:pic>
        <p:nvPicPr>
          <p:cNvPr descr="AC Slides with corner pattern-01.jpeg" id="602" name="Google Shape;602;p73"/>
          <p:cNvPicPr preferRelativeResize="0"/>
          <p:nvPr/>
        </p:nvPicPr>
        <p:blipFill>
          <a:blip r:embed="rId5">
            <a:alphaModFix/>
          </a:blip>
          <a:stretch>
            <a:fillRect/>
          </a:stretch>
        </p:blipFill>
        <p:spPr>
          <a:xfrm>
            <a:off x="0" y="0"/>
            <a:ext cx="9144000" cy="5143500"/>
          </a:xfrm>
          <a:prstGeom prst="rect">
            <a:avLst/>
          </a:prstGeom>
          <a:noFill/>
          <a:ln>
            <a:noFill/>
          </a:ln>
        </p:spPr>
      </p:pic>
      <p:pic>
        <p:nvPicPr>
          <p:cNvPr descr="Alfriston College Logo-12.png" id="603" name="Google Shape;603;p73"/>
          <p:cNvPicPr preferRelativeResize="0"/>
          <p:nvPr/>
        </p:nvPicPr>
        <p:blipFill>
          <a:blip r:embed="rId4">
            <a:alphaModFix/>
          </a:blip>
          <a:stretch>
            <a:fillRect/>
          </a:stretch>
        </p:blipFill>
        <p:spPr>
          <a:xfrm>
            <a:off x="7997098" y="79002"/>
            <a:ext cx="1092277" cy="1524425"/>
          </a:xfrm>
          <a:prstGeom prst="rect">
            <a:avLst/>
          </a:prstGeom>
          <a:noFill/>
          <a:ln>
            <a:noFill/>
          </a:ln>
        </p:spPr>
      </p:pic>
      <p:sp>
        <p:nvSpPr>
          <p:cNvPr id="604" name="Google Shape;604;p73"/>
          <p:cNvSpPr txBox="1"/>
          <p:nvPr/>
        </p:nvSpPr>
        <p:spPr>
          <a:xfrm>
            <a:off x="1507600" y="1742275"/>
            <a:ext cx="5711700" cy="133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4100">
                <a:latin typeface="Luckiest Guy"/>
                <a:ea typeface="Luckiest Guy"/>
                <a:cs typeface="Luckiest Guy"/>
                <a:sym typeface="Luckiest Guy"/>
              </a:rPr>
              <a:t>Level 2 health</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Term 2 | week 2</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Tues 6 may</a:t>
            </a:r>
            <a:endParaRPr sz="4100">
              <a:latin typeface="Luckiest Guy"/>
              <a:ea typeface="Luckiest Guy"/>
              <a:cs typeface="Luckiest Guy"/>
              <a:sym typeface="Luckiest Guy"/>
            </a:endParaRPr>
          </a:p>
          <a:p>
            <a:pPr indent="0" lvl="0" marL="0" rtl="0" algn="ctr">
              <a:spcBef>
                <a:spcPts val="0"/>
              </a:spcBef>
              <a:spcAft>
                <a:spcPts val="0"/>
              </a:spcAft>
              <a:buNone/>
            </a:pPr>
            <a:r>
              <a:t/>
            </a:r>
            <a:endParaRPr sz="4100">
              <a:latin typeface="Luckiest Guy"/>
              <a:ea typeface="Luckiest Guy"/>
              <a:cs typeface="Luckiest Guy"/>
              <a:sym typeface="Luckiest Guy"/>
            </a:endParaRPr>
          </a:p>
          <a:p>
            <a:pPr indent="0" lvl="0" marL="0" rtl="0" algn="ctr">
              <a:spcBef>
                <a:spcPts val="0"/>
              </a:spcBef>
              <a:spcAft>
                <a:spcPts val="0"/>
              </a:spcAft>
              <a:buNone/>
            </a:pPr>
            <a:r>
              <a:t/>
            </a:r>
            <a:endParaRPr sz="1800">
              <a:highlight>
                <a:srgbClr val="FF00FF"/>
              </a:highlight>
              <a:latin typeface="Luckiest Guy"/>
              <a:ea typeface="Luckiest Guy"/>
              <a:cs typeface="Luckiest Guy"/>
              <a:sym typeface="Luckiest Guy"/>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pic>
        <p:nvPicPr>
          <p:cNvPr descr="AC Slides-01.jpeg" id="609" name="Google Shape;609;p74"/>
          <p:cNvPicPr preferRelativeResize="0"/>
          <p:nvPr/>
        </p:nvPicPr>
        <p:blipFill>
          <a:blip r:embed="rId3">
            <a:alphaModFix/>
          </a:blip>
          <a:stretch>
            <a:fillRect/>
          </a:stretch>
        </p:blipFill>
        <p:spPr>
          <a:xfrm>
            <a:off x="0" y="0"/>
            <a:ext cx="9144000" cy="5143500"/>
          </a:xfrm>
          <a:prstGeom prst="rect">
            <a:avLst/>
          </a:prstGeom>
          <a:noFill/>
          <a:ln>
            <a:noFill/>
          </a:ln>
        </p:spPr>
      </p:pic>
      <p:sp>
        <p:nvSpPr>
          <p:cNvPr id="610" name="Google Shape;610;p74"/>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74"/>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612" name="Google Shape;612;p74"/>
          <p:cNvSpPr txBox="1"/>
          <p:nvPr/>
        </p:nvSpPr>
        <p:spPr>
          <a:xfrm>
            <a:off x="2371875" y="357225"/>
            <a:ext cx="57801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300">
              <a:solidFill>
                <a:schemeClr val="dk1"/>
              </a:solidFill>
              <a:latin typeface="ABeeZee"/>
              <a:ea typeface="ABeeZee"/>
              <a:cs typeface="ABeeZee"/>
              <a:sym typeface="ABeeZee"/>
            </a:endParaRPr>
          </a:p>
        </p:txBody>
      </p:sp>
      <p:sp>
        <p:nvSpPr>
          <p:cNvPr id="613" name="Google Shape;613;p74"/>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74"/>
          <p:cNvSpPr txBox="1"/>
          <p:nvPr/>
        </p:nvSpPr>
        <p:spPr>
          <a:xfrm flipH="1" rot="-5400000">
            <a:off x="-7308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Do now</a:t>
            </a:r>
            <a:endParaRPr sz="4100">
              <a:solidFill>
                <a:srgbClr val="FFFFFF"/>
              </a:solidFill>
            </a:endParaRPr>
          </a:p>
        </p:txBody>
      </p:sp>
      <p:pic>
        <p:nvPicPr>
          <p:cNvPr id="615" name="Google Shape;615;p74"/>
          <p:cNvPicPr preferRelativeResize="0"/>
          <p:nvPr/>
        </p:nvPicPr>
        <p:blipFill>
          <a:blip r:embed="rId4">
            <a:alphaModFix/>
          </a:blip>
          <a:stretch>
            <a:fillRect/>
          </a:stretch>
        </p:blipFill>
        <p:spPr>
          <a:xfrm>
            <a:off x="2371875" y="-16346"/>
            <a:ext cx="6772125" cy="2975099"/>
          </a:xfrm>
          <a:prstGeom prst="rect">
            <a:avLst/>
          </a:prstGeom>
          <a:noFill/>
          <a:ln>
            <a:noFill/>
          </a:ln>
        </p:spPr>
      </p:pic>
      <p:sp>
        <p:nvSpPr>
          <p:cNvPr id="616" name="Google Shape;616;p74"/>
          <p:cNvSpPr txBox="1"/>
          <p:nvPr/>
        </p:nvSpPr>
        <p:spPr>
          <a:xfrm>
            <a:off x="2569475" y="2926075"/>
            <a:ext cx="6592800" cy="14160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ABeeZee"/>
              <a:buAutoNum type="arabicPeriod"/>
            </a:pPr>
            <a:r>
              <a:rPr lang="en-GB" sz="1600">
                <a:solidFill>
                  <a:schemeClr val="dk1"/>
                </a:solidFill>
                <a:latin typeface="ABeeZee"/>
                <a:ea typeface="ABeeZee"/>
                <a:cs typeface="ABeeZee"/>
                <a:sym typeface="ABeeZee"/>
              </a:rPr>
              <a:t>Read the above description on Attitudes and Values</a:t>
            </a:r>
            <a:endParaRPr sz="1600">
              <a:solidFill>
                <a:schemeClr val="dk1"/>
              </a:solidFill>
              <a:latin typeface="ABeeZee"/>
              <a:ea typeface="ABeeZee"/>
              <a:cs typeface="ABeeZee"/>
              <a:sym typeface="ABeeZee"/>
            </a:endParaRPr>
          </a:p>
          <a:p>
            <a:pPr indent="-330200" lvl="0" marL="457200" rtl="0" algn="l">
              <a:spcBef>
                <a:spcPts val="0"/>
              </a:spcBef>
              <a:spcAft>
                <a:spcPts val="0"/>
              </a:spcAft>
              <a:buClr>
                <a:schemeClr val="dk1"/>
              </a:buClr>
              <a:buSzPts val="1600"/>
              <a:buFont typeface="ABeeZee"/>
              <a:buAutoNum type="arabicPeriod"/>
            </a:pPr>
            <a:r>
              <a:rPr lang="en-GB" sz="1600">
                <a:solidFill>
                  <a:schemeClr val="dk1"/>
                </a:solidFill>
                <a:latin typeface="ABeeZee"/>
                <a:ea typeface="ABeeZee"/>
                <a:cs typeface="ABeeZee"/>
                <a:sym typeface="ABeeZee"/>
              </a:rPr>
              <a:t>Name one person who influences your attitudes and values and </a:t>
            </a:r>
            <a:r>
              <a:rPr lang="en-GB" sz="1600">
                <a:solidFill>
                  <a:schemeClr val="dk1"/>
                </a:solidFill>
                <a:latin typeface="ABeeZee"/>
                <a:ea typeface="ABeeZee"/>
                <a:cs typeface="ABeeZee"/>
                <a:sym typeface="ABeeZee"/>
              </a:rPr>
              <a:t>explain why?</a:t>
            </a:r>
            <a:endParaRPr sz="1600">
              <a:solidFill>
                <a:schemeClr val="dk1"/>
              </a:solidFill>
              <a:latin typeface="ABeeZee"/>
              <a:ea typeface="ABeeZee"/>
              <a:cs typeface="ABeeZee"/>
              <a:sym typeface="ABeeZee"/>
            </a:endParaRPr>
          </a:p>
          <a:p>
            <a:pPr indent="-330200" lvl="0" marL="457200" rtl="0" algn="l">
              <a:spcBef>
                <a:spcPts val="0"/>
              </a:spcBef>
              <a:spcAft>
                <a:spcPts val="0"/>
              </a:spcAft>
              <a:buClr>
                <a:schemeClr val="dk1"/>
              </a:buClr>
              <a:buSzPts val="1600"/>
              <a:buFont typeface="ABeeZee"/>
              <a:buAutoNum type="arabicPeriod"/>
            </a:pPr>
            <a:r>
              <a:rPr lang="en-GB" sz="1600">
                <a:solidFill>
                  <a:schemeClr val="dk1"/>
                </a:solidFill>
                <a:latin typeface="ABeeZee"/>
                <a:ea typeface="ABeeZee"/>
                <a:cs typeface="ABeeZee"/>
                <a:sym typeface="ABeeZee"/>
              </a:rPr>
              <a:t>Name one societal influence that influences your attitudes and values and why?</a:t>
            </a:r>
            <a:endParaRPr sz="1600">
              <a:solidFill>
                <a:schemeClr val="dk1"/>
              </a:solidFill>
              <a:latin typeface="ABeeZee"/>
              <a:ea typeface="ABeeZee"/>
              <a:cs typeface="ABeeZee"/>
              <a:sym typeface="ABeeZee"/>
            </a:endParaRPr>
          </a:p>
        </p:txBody>
      </p:sp>
      <p:pic>
        <p:nvPicPr>
          <p:cNvPr descr="This timer silently counts down to 0:00, then alerts you that time is up with a gentle beep sound." id="617" name="Google Shape;617;p74" title="10 Minute Timer">
            <a:hlinkClick r:id="rId5"/>
          </p:cNvPr>
          <p:cNvPicPr preferRelativeResize="0"/>
          <p:nvPr/>
        </p:nvPicPr>
        <p:blipFill>
          <a:blip r:embed="rId6">
            <a:alphaModFix/>
          </a:blip>
          <a:stretch>
            <a:fillRect/>
          </a:stretch>
        </p:blipFill>
        <p:spPr>
          <a:xfrm>
            <a:off x="7829333" y="4122450"/>
            <a:ext cx="1815194" cy="1021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1000"/>
                                        <p:tgtEl>
                                          <p:spTgt spid="6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pic>
        <p:nvPicPr>
          <p:cNvPr descr="AC Slides-01.jpeg" id="622" name="Google Shape;622;p75"/>
          <p:cNvPicPr preferRelativeResize="0"/>
          <p:nvPr/>
        </p:nvPicPr>
        <p:blipFill>
          <a:blip r:embed="rId3">
            <a:alphaModFix/>
          </a:blip>
          <a:stretch>
            <a:fillRect/>
          </a:stretch>
        </p:blipFill>
        <p:spPr>
          <a:xfrm>
            <a:off x="0" y="0"/>
            <a:ext cx="9144000" cy="5143500"/>
          </a:xfrm>
          <a:prstGeom prst="rect">
            <a:avLst/>
          </a:prstGeom>
          <a:noFill/>
          <a:ln>
            <a:noFill/>
          </a:ln>
        </p:spPr>
      </p:pic>
      <p:sp>
        <p:nvSpPr>
          <p:cNvPr id="623" name="Google Shape;623;p75"/>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75"/>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625" name="Google Shape;625;p75"/>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Learning intention</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600">
                <a:solidFill>
                  <a:schemeClr val="dk1"/>
                </a:solidFill>
                <a:latin typeface="ABeeZee"/>
                <a:ea typeface="ABeeZee"/>
                <a:cs typeface="ABeeZee"/>
                <a:sym typeface="ABeeZee"/>
              </a:rPr>
              <a:t>T</a:t>
            </a:r>
            <a:r>
              <a:rPr lang="en-GB" sz="1800">
                <a:solidFill>
                  <a:schemeClr val="dk1"/>
                </a:solidFill>
                <a:latin typeface="ABeeZee"/>
                <a:ea typeface="ABeeZee"/>
                <a:cs typeface="ABeeZee"/>
                <a:sym typeface="ABeeZee"/>
              </a:rPr>
              <a:t>o build knowledge of Attitudes and Values and PIPS</a:t>
            </a:r>
            <a:endParaRPr sz="2500">
              <a:latin typeface="Luckiest Guy"/>
              <a:ea typeface="Luckiest Guy"/>
              <a:cs typeface="Luckiest Guy"/>
              <a:sym typeface="Luckiest Guy"/>
            </a:endParaRPr>
          </a:p>
          <a:p>
            <a:pPr indent="0" lvl="0" marL="0" rtl="0" algn="l">
              <a:spcBef>
                <a:spcPts val="1200"/>
              </a:spcBef>
              <a:spcAft>
                <a:spcPts val="0"/>
              </a:spcAft>
              <a:buNone/>
            </a:pPr>
            <a:r>
              <a:t/>
            </a:r>
            <a:endParaRPr b="1" sz="2300">
              <a:latin typeface="Jost"/>
              <a:ea typeface="Jost"/>
              <a:cs typeface="Jost"/>
              <a:sym typeface="Jost"/>
            </a:endParaRPr>
          </a:p>
          <a:p>
            <a:pPr indent="0" lvl="0" marL="0" rtl="0" algn="l">
              <a:spcBef>
                <a:spcPts val="0"/>
              </a:spcBef>
              <a:spcAft>
                <a:spcPts val="0"/>
              </a:spcAft>
              <a:buNone/>
            </a:pPr>
            <a:r>
              <a:rPr lang="en-GB" sz="2500">
                <a:solidFill>
                  <a:schemeClr val="dk1"/>
                </a:solidFill>
                <a:latin typeface="Luckiest Guy"/>
                <a:ea typeface="Luckiest Guy"/>
                <a:cs typeface="Luckiest Guy"/>
                <a:sym typeface="Luckiest Guy"/>
              </a:rPr>
              <a:t>Success criteria</a:t>
            </a:r>
            <a:endParaRPr sz="1700">
              <a:solidFill>
                <a:schemeClr val="dk1"/>
              </a:solidFill>
              <a:latin typeface="Jost"/>
              <a:ea typeface="Jost"/>
              <a:cs typeface="Jost"/>
              <a:sym typeface="Jost"/>
            </a:endParaRPr>
          </a:p>
          <a:p>
            <a:pPr indent="-336550" lvl="0" marL="457200" rtl="0" algn="l">
              <a:lnSpc>
                <a:spcPct val="115000"/>
              </a:lnSpc>
              <a:spcBef>
                <a:spcPts val="1200"/>
              </a:spcBef>
              <a:spcAft>
                <a:spcPts val="0"/>
              </a:spcAft>
              <a:buClr>
                <a:schemeClr val="dk1"/>
              </a:buClr>
              <a:buSzPts val="1700"/>
              <a:buFont typeface="ABeeZee"/>
              <a:buChar char="●"/>
            </a:pPr>
            <a:r>
              <a:rPr lang="en-GB" sz="1700">
                <a:solidFill>
                  <a:schemeClr val="dk1"/>
                </a:solidFill>
                <a:latin typeface="ABeeZee"/>
                <a:ea typeface="ABeeZee"/>
                <a:cs typeface="ABeeZee"/>
                <a:sym typeface="ABeeZee"/>
              </a:rPr>
              <a:t>Review the socio-ecological perspective - Personal, Interpersonal, Societal</a:t>
            </a:r>
            <a:endParaRPr sz="1700">
              <a:solidFill>
                <a:schemeClr val="dk1"/>
              </a:solidFill>
              <a:latin typeface="ABeeZee"/>
              <a:ea typeface="ABeeZee"/>
              <a:cs typeface="ABeeZee"/>
              <a:sym typeface="ABeeZee"/>
            </a:endParaRPr>
          </a:p>
          <a:p>
            <a:pPr indent="-336550" lvl="0" marL="457200" rtl="0" algn="l">
              <a:lnSpc>
                <a:spcPct val="115000"/>
              </a:lnSpc>
              <a:spcBef>
                <a:spcPts val="0"/>
              </a:spcBef>
              <a:spcAft>
                <a:spcPts val="0"/>
              </a:spcAft>
              <a:buClr>
                <a:schemeClr val="dk1"/>
              </a:buClr>
              <a:buSzPts val="1700"/>
              <a:buFont typeface="ABeeZee"/>
              <a:buChar char="●"/>
            </a:pPr>
            <a:r>
              <a:rPr lang="en-GB" sz="1700">
                <a:solidFill>
                  <a:schemeClr val="dk1"/>
                </a:solidFill>
                <a:latin typeface="ABeeZee"/>
                <a:ea typeface="ABeeZee"/>
                <a:cs typeface="ABeeZee"/>
                <a:sym typeface="ABeeZee"/>
              </a:rPr>
              <a:t>Identify and explain strategies related to gender and sexuality scenarios</a:t>
            </a:r>
            <a:endParaRPr sz="17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626" name="Google Shape;626;p75"/>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75"/>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pic>
        <p:nvPicPr>
          <p:cNvPr descr="AC Slides-01.jpeg" id="632" name="Google Shape;632;p76"/>
          <p:cNvPicPr preferRelativeResize="0"/>
          <p:nvPr/>
        </p:nvPicPr>
        <p:blipFill>
          <a:blip r:embed="rId3">
            <a:alphaModFix/>
          </a:blip>
          <a:stretch>
            <a:fillRect/>
          </a:stretch>
        </p:blipFill>
        <p:spPr>
          <a:xfrm>
            <a:off x="0" y="0"/>
            <a:ext cx="9144000" cy="5143500"/>
          </a:xfrm>
          <a:prstGeom prst="rect">
            <a:avLst/>
          </a:prstGeom>
          <a:noFill/>
          <a:ln>
            <a:noFill/>
          </a:ln>
        </p:spPr>
      </p:pic>
      <p:sp>
        <p:nvSpPr>
          <p:cNvPr id="633" name="Google Shape;633;p76"/>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76"/>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635" name="Google Shape;635;p76"/>
          <p:cNvSpPr txBox="1"/>
          <p:nvPr/>
        </p:nvSpPr>
        <p:spPr>
          <a:xfrm>
            <a:off x="2371875" y="357225"/>
            <a:ext cx="57801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300">
              <a:solidFill>
                <a:schemeClr val="dk1"/>
              </a:solidFill>
              <a:latin typeface="ABeeZee"/>
              <a:ea typeface="ABeeZee"/>
              <a:cs typeface="ABeeZee"/>
              <a:sym typeface="ABeeZee"/>
            </a:endParaRPr>
          </a:p>
        </p:txBody>
      </p:sp>
      <p:sp>
        <p:nvSpPr>
          <p:cNvPr id="636" name="Google Shape;636;p76"/>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76"/>
          <p:cNvSpPr txBox="1"/>
          <p:nvPr/>
        </p:nvSpPr>
        <p:spPr>
          <a:xfrm flipH="1" rot="-5400000">
            <a:off x="-605425" y="1771350"/>
            <a:ext cx="3972600" cy="1600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Attitudes &amp; values</a:t>
            </a:r>
            <a:endParaRPr sz="4100">
              <a:solidFill>
                <a:srgbClr val="FFFFFF"/>
              </a:solidFill>
            </a:endParaRPr>
          </a:p>
        </p:txBody>
      </p:sp>
      <p:pic>
        <p:nvPicPr>
          <p:cNvPr id="638" name="Google Shape;638;p76"/>
          <p:cNvPicPr preferRelativeResize="0"/>
          <p:nvPr/>
        </p:nvPicPr>
        <p:blipFill>
          <a:blip r:embed="rId4">
            <a:alphaModFix/>
          </a:blip>
          <a:stretch>
            <a:fillRect/>
          </a:stretch>
        </p:blipFill>
        <p:spPr>
          <a:xfrm>
            <a:off x="2623500" y="186063"/>
            <a:ext cx="5276850" cy="43719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pic>
        <p:nvPicPr>
          <p:cNvPr descr="AC Slides-01.jpeg" id="643" name="Google Shape;643;p77"/>
          <p:cNvPicPr preferRelativeResize="0"/>
          <p:nvPr/>
        </p:nvPicPr>
        <p:blipFill>
          <a:blip r:embed="rId3">
            <a:alphaModFix/>
          </a:blip>
          <a:stretch>
            <a:fillRect/>
          </a:stretch>
        </p:blipFill>
        <p:spPr>
          <a:xfrm>
            <a:off x="0" y="0"/>
            <a:ext cx="9144000" cy="5143500"/>
          </a:xfrm>
          <a:prstGeom prst="rect">
            <a:avLst/>
          </a:prstGeom>
          <a:noFill/>
          <a:ln>
            <a:noFill/>
          </a:ln>
        </p:spPr>
      </p:pic>
      <p:sp>
        <p:nvSpPr>
          <p:cNvPr id="644" name="Google Shape;644;p77"/>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77"/>
          <p:cNvSpPr txBox="1"/>
          <p:nvPr/>
        </p:nvSpPr>
        <p:spPr>
          <a:xfrm>
            <a:off x="2371875" y="357225"/>
            <a:ext cx="66303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1"/>
                </a:solidFill>
                <a:latin typeface="ABeeZee"/>
                <a:ea typeface="ABeeZee"/>
                <a:cs typeface="ABeeZee"/>
                <a:sym typeface="ABeeZee"/>
              </a:rPr>
              <a:t>C</a:t>
            </a:r>
            <a:r>
              <a:rPr lang="en-GB">
                <a:solidFill>
                  <a:schemeClr val="dk1"/>
                </a:solidFill>
                <a:latin typeface="ABeeZee"/>
                <a:ea typeface="ABeeZee"/>
                <a:cs typeface="ABeeZee"/>
                <a:sym typeface="ABeeZee"/>
              </a:rPr>
              <a:t>omplete this table in your books.  Under the attitudes and values column, write a statement that reflects your </a:t>
            </a:r>
            <a:r>
              <a:rPr lang="en-GB">
                <a:solidFill>
                  <a:schemeClr val="dk1"/>
                </a:solidFill>
                <a:latin typeface="ABeeZee"/>
                <a:ea typeface="ABeeZee"/>
                <a:cs typeface="ABeeZee"/>
                <a:sym typeface="ABeeZee"/>
              </a:rPr>
              <a:t>attitude</a:t>
            </a:r>
            <a:r>
              <a:rPr lang="en-GB">
                <a:solidFill>
                  <a:schemeClr val="dk1"/>
                </a:solidFill>
                <a:latin typeface="ABeeZee"/>
                <a:ea typeface="ABeeZee"/>
                <a:cs typeface="ABeeZee"/>
                <a:sym typeface="ABeeZee"/>
              </a:rPr>
              <a:t> towards the topic in the middle column</a:t>
            </a:r>
            <a:endParaRPr>
              <a:solidFill>
                <a:schemeClr val="dk1"/>
              </a:solidFill>
              <a:latin typeface="ABeeZee"/>
              <a:ea typeface="ABeeZee"/>
              <a:cs typeface="ABeeZee"/>
              <a:sym typeface="ABeeZee"/>
            </a:endParaRPr>
          </a:p>
          <a:p>
            <a:pPr indent="0" lvl="0" marL="0" rtl="0" algn="l">
              <a:spcBef>
                <a:spcPts val="0"/>
              </a:spcBef>
              <a:spcAft>
                <a:spcPts val="0"/>
              </a:spcAft>
              <a:buNone/>
            </a:pPr>
            <a:r>
              <a:rPr b="1" lang="en-GB">
                <a:solidFill>
                  <a:schemeClr val="dk1"/>
                </a:solidFill>
                <a:latin typeface="ABeeZee"/>
                <a:ea typeface="ABeeZee"/>
                <a:cs typeface="ABeeZee"/>
                <a:sym typeface="ABeeZee"/>
              </a:rPr>
              <a:t>Attitudes </a:t>
            </a:r>
            <a:r>
              <a:rPr lang="en-GB">
                <a:solidFill>
                  <a:schemeClr val="dk1"/>
                </a:solidFill>
                <a:latin typeface="ABeeZee"/>
                <a:ea typeface="ABeeZee"/>
                <a:cs typeface="ABeeZee"/>
                <a:sym typeface="ABeeZee"/>
              </a:rPr>
              <a:t>- way of thinking of feeling towards something</a:t>
            </a:r>
            <a:endParaRPr>
              <a:solidFill>
                <a:schemeClr val="dk1"/>
              </a:solidFill>
              <a:latin typeface="ABeeZee"/>
              <a:ea typeface="ABeeZee"/>
              <a:cs typeface="ABeeZee"/>
              <a:sym typeface="ABeeZee"/>
            </a:endParaRPr>
          </a:p>
          <a:p>
            <a:pPr indent="0" lvl="0" marL="0" rtl="0" algn="l">
              <a:spcBef>
                <a:spcPts val="0"/>
              </a:spcBef>
              <a:spcAft>
                <a:spcPts val="0"/>
              </a:spcAft>
              <a:buNone/>
            </a:pPr>
            <a:r>
              <a:rPr b="1" lang="en-GB">
                <a:solidFill>
                  <a:schemeClr val="dk1"/>
                </a:solidFill>
                <a:latin typeface="ABeeZee"/>
                <a:ea typeface="ABeeZee"/>
                <a:cs typeface="ABeeZee"/>
                <a:sym typeface="ABeeZee"/>
              </a:rPr>
              <a:t>Values </a:t>
            </a:r>
            <a:r>
              <a:rPr lang="en-GB">
                <a:solidFill>
                  <a:schemeClr val="dk1"/>
                </a:solidFill>
                <a:latin typeface="ABeeZee"/>
                <a:ea typeface="ABeeZee"/>
                <a:cs typeface="ABeeZee"/>
                <a:sym typeface="ABeeZee"/>
              </a:rPr>
              <a:t>- what rules you set for yourself as the right thing to do</a:t>
            </a:r>
            <a:endParaRPr>
              <a:solidFill>
                <a:schemeClr val="dk1"/>
              </a:solidFill>
              <a:latin typeface="ABeeZee"/>
              <a:ea typeface="ABeeZee"/>
              <a:cs typeface="ABeeZee"/>
              <a:sym typeface="ABeeZee"/>
            </a:endParaRPr>
          </a:p>
        </p:txBody>
      </p:sp>
      <p:sp>
        <p:nvSpPr>
          <p:cNvPr id="646" name="Google Shape;646;p77"/>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77"/>
          <p:cNvSpPr txBox="1"/>
          <p:nvPr/>
        </p:nvSpPr>
        <p:spPr>
          <a:xfrm flipH="1" rot="-5400000">
            <a:off x="-605425" y="1771350"/>
            <a:ext cx="3972600" cy="1600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Attitudes &amp; values</a:t>
            </a:r>
            <a:endParaRPr sz="4100">
              <a:solidFill>
                <a:srgbClr val="FFFFFF"/>
              </a:solidFill>
            </a:endParaRPr>
          </a:p>
        </p:txBody>
      </p:sp>
      <p:graphicFrame>
        <p:nvGraphicFramePr>
          <p:cNvPr id="648" name="Google Shape;648;p77"/>
          <p:cNvGraphicFramePr/>
          <p:nvPr/>
        </p:nvGraphicFramePr>
        <p:xfrm>
          <a:off x="2466300" y="1670825"/>
          <a:ext cx="3000000" cy="3000000"/>
        </p:xfrm>
        <a:graphic>
          <a:graphicData uri="http://schemas.openxmlformats.org/drawingml/2006/table">
            <a:tbl>
              <a:tblPr>
                <a:noFill/>
                <a:tableStyleId>{7344CE13-53E3-47EE-8B10-A4E9E377D5A6}</a:tableStyleId>
              </a:tblPr>
              <a:tblGrid>
                <a:gridCol w="1916025"/>
                <a:gridCol w="2211750"/>
                <a:gridCol w="2068775"/>
              </a:tblGrid>
              <a:tr h="381000">
                <a:tc>
                  <a:txBody>
                    <a:bodyPr/>
                    <a:lstStyle/>
                    <a:p>
                      <a:pPr indent="0" lvl="0" marL="0" rtl="0" algn="ctr">
                        <a:spcBef>
                          <a:spcPts val="0"/>
                        </a:spcBef>
                        <a:spcAft>
                          <a:spcPts val="0"/>
                        </a:spcAft>
                        <a:buNone/>
                      </a:pPr>
                      <a:r>
                        <a:rPr b="1" lang="en-GB">
                          <a:latin typeface="ABeeZee"/>
                          <a:ea typeface="ABeeZee"/>
                          <a:cs typeface="ABeeZee"/>
                          <a:sym typeface="ABeeZee"/>
                        </a:rPr>
                        <a:t>Attitudes</a:t>
                      </a:r>
                      <a:endParaRPr b="1">
                        <a:latin typeface="ABeeZee"/>
                        <a:ea typeface="ABeeZee"/>
                        <a:cs typeface="ABeeZee"/>
                        <a:sym typeface="ABeeZee"/>
                      </a:endParaRPr>
                    </a:p>
                  </a:txBody>
                  <a:tcPr marT="91425" marB="91425" marR="91425" marL="91425"/>
                </a:tc>
                <a:tc>
                  <a:txBody>
                    <a:bodyPr/>
                    <a:lstStyle/>
                    <a:p>
                      <a:pPr indent="0" lvl="0" marL="0" rtl="0" algn="ctr">
                        <a:spcBef>
                          <a:spcPts val="0"/>
                        </a:spcBef>
                        <a:spcAft>
                          <a:spcPts val="0"/>
                        </a:spcAft>
                        <a:buNone/>
                      </a:pPr>
                      <a:r>
                        <a:rPr b="1" lang="en-GB">
                          <a:latin typeface="ABeeZee"/>
                          <a:ea typeface="ABeeZee"/>
                          <a:cs typeface="ABeeZee"/>
                          <a:sym typeface="ABeeZee"/>
                        </a:rPr>
                        <a:t>Topic</a:t>
                      </a:r>
                      <a:endParaRPr b="1">
                        <a:latin typeface="ABeeZee"/>
                        <a:ea typeface="ABeeZee"/>
                        <a:cs typeface="ABeeZee"/>
                        <a:sym typeface="ABeeZee"/>
                      </a:endParaRPr>
                    </a:p>
                  </a:txBody>
                  <a:tcPr marT="91425" marB="91425" marR="91425" marL="91425"/>
                </a:tc>
                <a:tc>
                  <a:txBody>
                    <a:bodyPr/>
                    <a:lstStyle/>
                    <a:p>
                      <a:pPr indent="0" lvl="0" marL="0" rtl="0" algn="ctr">
                        <a:spcBef>
                          <a:spcPts val="0"/>
                        </a:spcBef>
                        <a:spcAft>
                          <a:spcPts val="0"/>
                        </a:spcAft>
                        <a:buNone/>
                      </a:pPr>
                      <a:r>
                        <a:rPr b="1" lang="en-GB">
                          <a:latin typeface="ABeeZee"/>
                          <a:ea typeface="ABeeZee"/>
                          <a:cs typeface="ABeeZee"/>
                          <a:sym typeface="ABeeZee"/>
                        </a:rPr>
                        <a:t>Values</a:t>
                      </a:r>
                      <a:endParaRPr b="1">
                        <a:latin typeface="ABeeZee"/>
                        <a:ea typeface="ABeeZee"/>
                        <a:cs typeface="ABeeZee"/>
                        <a:sym typeface="ABeeZee"/>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GB"/>
                        <a:t>Marriage before Sex</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GB"/>
                        <a:t>Contraception</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GB"/>
                        <a:t>LBTQIA+</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GB"/>
                        <a:t>Monogamous Relationships</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GB"/>
                        <a:t>Women as Housewives</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descr="AC Slides-01.jpeg" id="653" name="Google Shape;653;p78"/>
          <p:cNvPicPr preferRelativeResize="0"/>
          <p:nvPr/>
        </p:nvPicPr>
        <p:blipFill>
          <a:blip r:embed="rId3">
            <a:alphaModFix/>
          </a:blip>
          <a:stretch>
            <a:fillRect/>
          </a:stretch>
        </p:blipFill>
        <p:spPr>
          <a:xfrm>
            <a:off x="0" y="0"/>
            <a:ext cx="9144000" cy="5143500"/>
          </a:xfrm>
          <a:prstGeom prst="rect">
            <a:avLst/>
          </a:prstGeom>
          <a:noFill/>
          <a:ln>
            <a:noFill/>
          </a:ln>
        </p:spPr>
      </p:pic>
      <p:sp>
        <p:nvSpPr>
          <p:cNvPr id="654" name="Google Shape;654;p78"/>
          <p:cNvSpPr txBox="1"/>
          <p:nvPr/>
        </p:nvSpPr>
        <p:spPr>
          <a:xfrm>
            <a:off x="2371875" y="357225"/>
            <a:ext cx="66990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Luckiest Guy"/>
                <a:ea typeface="Luckiest Guy"/>
                <a:cs typeface="Luckiest Guy"/>
                <a:sym typeface="Luckiest Guy"/>
              </a:rPr>
              <a:t>PERSONAL, INTERPERSONAL &amp; sOCIETAL</a:t>
            </a:r>
            <a:endParaRPr sz="2800">
              <a:solidFill>
                <a:schemeClr val="dk1"/>
              </a:solidFill>
              <a:latin typeface="Luckiest Guy"/>
              <a:ea typeface="Luckiest Guy"/>
              <a:cs typeface="Luckiest Guy"/>
              <a:sym typeface="Luckiest Guy"/>
            </a:endParaRPr>
          </a:p>
          <a:p>
            <a:pPr indent="0" lvl="0" marL="0" rtl="0" algn="l">
              <a:spcBef>
                <a:spcPts val="0"/>
              </a:spcBef>
              <a:spcAft>
                <a:spcPts val="0"/>
              </a:spcAft>
              <a:buNone/>
            </a:pPr>
            <a:r>
              <a:t/>
            </a:r>
            <a:endParaRPr sz="2800">
              <a:solidFill>
                <a:schemeClr val="dk1"/>
              </a:solidFill>
              <a:latin typeface="Luckiest Guy"/>
              <a:ea typeface="Luckiest Guy"/>
              <a:cs typeface="Luckiest Guy"/>
              <a:sym typeface="Luckiest Guy"/>
            </a:endParaRPr>
          </a:p>
          <a:p>
            <a:pPr indent="0" lvl="0" marL="0" rtl="0" algn="l">
              <a:spcBef>
                <a:spcPts val="0"/>
              </a:spcBef>
              <a:spcAft>
                <a:spcPts val="0"/>
              </a:spcAft>
              <a:buNone/>
            </a:pPr>
            <a:r>
              <a:rPr b="1" lang="en-GB" sz="1600">
                <a:solidFill>
                  <a:schemeClr val="dk1"/>
                </a:solidFill>
                <a:latin typeface="ABeeZee"/>
                <a:ea typeface="ABeeZee"/>
                <a:cs typeface="ABeeZee"/>
                <a:sym typeface="ABeeZee"/>
              </a:rPr>
              <a:t>Personal </a:t>
            </a:r>
            <a:r>
              <a:rPr lang="en-GB" sz="1600">
                <a:solidFill>
                  <a:schemeClr val="dk1"/>
                </a:solidFill>
                <a:latin typeface="ABeeZee"/>
                <a:ea typeface="ABeeZee"/>
                <a:cs typeface="ABeeZee"/>
                <a:sym typeface="ABeeZee"/>
              </a:rPr>
              <a:t>- actions that you are in control of yourself eg goal setting, self talk, journaling, physical exercise</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b="1" lang="en-GB" sz="1600">
                <a:solidFill>
                  <a:schemeClr val="dk1"/>
                </a:solidFill>
                <a:latin typeface="ABeeZee"/>
                <a:ea typeface="ABeeZee"/>
                <a:cs typeface="ABeeZee"/>
                <a:sym typeface="ABeeZee"/>
              </a:rPr>
              <a:t>Interpersonal </a:t>
            </a:r>
            <a:r>
              <a:rPr lang="en-GB" sz="1600">
                <a:solidFill>
                  <a:schemeClr val="dk1"/>
                </a:solidFill>
                <a:latin typeface="ABeeZee"/>
                <a:ea typeface="ABeeZee"/>
                <a:cs typeface="ABeeZee"/>
                <a:sym typeface="ABeeZee"/>
              </a:rPr>
              <a:t>- actions that involve working with others eg. friends, family, employment, teachers, church, school</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b="1" lang="en-GB" sz="1600">
                <a:solidFill>
                  <a:schemeClr val="dk1"/>
                </a:solidFill>
                <a:latin typeface="ABeeZee"/>
                <a:ea typeface="ABeeZee"/>
                <a:cs typeface="ABeeZee"/>
                <a:sym typeface="ABeeZee"/>
              </a:rPr>
              <a:t>Societal </a:t>
            </a:r>
            <a:r>
              <a:rPr lang="en-GB" sz="1600">
                <a:solidFill>
                  <a:schemeClr val="dk1"/>
                </a:solidFill>
                <a:latin typeface="ABeeZee"/>
                <a:ea typeface="ABeeZee"/>
                <a:cs typeface="ABeeZee"/>
                <a:sym typeface="ABeeZee"/>
              </a:rPr>
              <a:t>- actions that involve working with a group of people, community, organisation, media, government, health services, religion, education</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In a health context we regularly recommend strategies to support people to work through any factors on a personal, interpersonal and societal level</a:t>
            </a:r>
            <a:endParaRPr sz="1600">
              <a:solidFill>
                <a:schemeClr val="dk1"/>
              </a:solidFill>
              <a:latin typeface="ABeeZee"/>
              <a:ea typeface="ABeeZee"/>
              <a:cs typeface="ABeeZee"/>
              <a:sym typeface="ABeeZee"/>
            </a:endParaRPr>
          </a:p>
        </p:txBody>
      </p:sp>
      <p:sp>
        <p:nvSpPr>
          <p:cNvPr id="655" name="Google Shape;655;p78"/>
          <p:cNvSpPr/>
          <p:nvPr/>
        </p:nvSpPr>
        <p:spPr>
          <a:xfrm flipH="1" rot="10800000">
            <a:off x="154450" y="383250"/>
            <a:ext cx="2153400" cy="4377000"/>
          </a:xfrm>
          <a:prstGeom prst="round2DiagRect">
            <a:avLst>
              <a:gd fmla="val 16667" name="adj1"/>
              <a:gd fmla="val 0" name="adj2"/>
            </a:avLst>
          </a:prstGeom>
          <a:solidFill>
            <a:srgbClr val="FF9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78"/>
          <p:cNvSpPr txBox="1"/>
          <p:nvPr/>
        </p:nvSpPr>
        <p:spPr>
          <a:xfrm flipH="1" rot="-5400000">
            <a:off x="-8070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P | IP | s</a:t>
            </a:r>
            <a:endParaRPr sz="4100">
              <a:solidFill>
                <a:srgbClr val="FFFFFF"/>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pic>
        <p:nvPicPr>
          <p:cNvPr descr="AC Slides-01.jpeg" id="661" name="Google Shape;661;p79"/>
          <p:cNvPicPr preferRelativeResize="0"/>
          <p:nvPr/>
        </p:nvPicPr>
        <p:blipFill>
          <a:blip r:embed="rId3">
            <a:alphaModFix/>
          </a:blip>
          <a:stretch>
            <a:fillRect/>
          </a:stretch>
        </p:blipFill>
        <p:spPr>
          <a:xfrm>
            <a:off x="0" y="0"/>
            <a:ext cx="9144000" cy="5143500"/>
          </a:xfrm>
          <a:prstGeom prst="rect">
            <a:avLst/>
          </a:prstGeom>
          <a:noFill/>
          <a:ln>
            <a:noFill/>
          </a:ln>
        </p:spPr>
      </p:pic>
      <p:sp>
        <p:nvSpPr>
          <p:cNvPr id="662" name="Google Shape;662;p79"/>
          <p:cNvSpPr txBox="1"/>
          <p:nvPr/>
        </p:nvSpPr>
        <p:spPr>
          <a:xfrm>
            <a:off x="2371875" y="357225"/>
            <a:ext cx="66990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Luckiest Guy"/>
                <a:ea typeface="Luckiest Guy"/>
                <a:cs typeface="Luckiest Guy"/>
                <a:sym typeface="Luckiest Guy"/>
              </a:rPr>
              <a:t>strategies</a:t>
            </a:r>
            <a:endParaRPr sz="2800">
              <a:solidFill>
                <a:schemeClr val="dk1"/>
              </a:solidFill>
              <a:latin typeface="Luckiest Guy"/>
              <a:ea typeface="Luckiest Guy"/>
              <a:cs typeface="Luckiest Guy"/>
              <a:sym typeface="Luckiest Guy"/>
            </a:endParaRPr>
          </a:p>
          <a:p>
            <a:pPr indent="0" lvl="0" marL="0" rtl="0" algn="l">
              <a:spcBef>
                <a:spcPts val="0"/>
              </a:spcBef>
              <a:spcAft>
                <a:spcPts val="0"/>
              </a:spcAft>
              <a:buNone/>
            </a:pPr>
            <a:r>
              <a:rPr b="1" lang="en-GB" sz="1600">
                <a:solidFill>
                  <a:schemeClr val="dk1"/>
                </a:solidFill>
                <a:latin typeface="ABeeZee"/>
                <a:ea typeface="ABeeZee"/>
                <a:cs typeface="ABeeZee"/>
                <a:sym typeface="ABeeZee"/>
              </a:rPr>
              <a:t>Strategies </a:t>
            </a:r>
            <a:r>
              <a:rPr lang="en-GB" sz="1600">
                <a:solidFill>
                  <a:schemeClr val="dk1"/>
                </a:solidFill>
                <a:latin typeface="ABeeZee"/>
                <a:ea typeface="ABeeZee"/>
                <a:cs typeface="ABeeZee"/>
                <a:sym typeface="ABeeZee"/>
              </a:rPr>
              <a:t>in a health context are actions one can take to enhance their well-being</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Look at this scenario 1, then in pairs recommend a </a:t>
            </a:r>
            <a:r>
              <a:rPr b="1" lang="en-GB" sz="1600">
                <a:solidFill>
                  <a:schemeClr val="dk1"/>
                </a:solidFill>
                <a:latin typeface="ABeeZee"/>
                <a:ea typeface="ABeeZee"/>
                <a:cs typeface="ABeeZee"/>
                <a:sym typeface="ABeeZee"/>
              </a:rPr>
              <a:t>personal</a:t>
            </a:r>
            <a:r>
              <a:rPr lang="en-GB" sz="1600">
                <a:solidFill>
                  <a:schemeClr val="dk1"/>
                </a:solidFill>
                <a:latin typeface="ABeeZee"/>
                <a:ea typeface="ABeeZee"/>
                <a:cs typeface="ABeeZee"/>
                <a:sym typeface="ABeeZee"/>
              </a:rPr>
              <a:t>, </a:t>
            </a:r>
            <a:r>
              <a:rPr b="1" lang="en-GB" sz="1600">
                <a:solidFill>
                  <a:schemeClr val="dk1"/>
                </a:solidFill>
                <a:latin typeface="ABeeZee"/>
                <a:ea typeface="ABeeZee"/>
                <a:cs typeface="ABeeZee"/>
                <a:sym typeface="ABeeZee"/>
              </a:rPr>
              <a:t>interpersonal </a:t>
            </a:r>
            <a:r>
              <a:rPr lang="en-GB" sz="1600">
                <a:solidFill>
                  <a:schemeClr val="dk1"/>
                </a:solidFill>
                <a:latin typeface="ABeeZee"/>
                <a:ea typeface="ABeeZee"/>
                <a:cs typeface="ABeeZee"/>
                <a:sym typeface="ABeeZee"/>
              </a:rPr>
              <a:t>and </a:t>
            </a:r>
            <a:r>
              <a:rPr b="1" lang="en-GB" sz="1600">
                <a:solidFill>
                  <a:schemeClr val="dk1"/>
                </a:solidFill>
                <a:latin typeface="ABeeZee"/>
                <a:ea typeface="ABeeZee"/>
                <a:cs typeface="ABeeZee"/>
                <a:sym typeface="ABeeZee"/>
              </a:rPr>
              <a:t>societal strategy </a:t>
            </a:r>
            <a:r>
              <a:rPr lang="en-GB" sz="1600">
                <a:solidFill>
                  <a:schemeClr val="dk1"/>
                </a:solidFill>
                <a:latin typeface="ABeeZee"/>
                <a:ea typeface="ABeeZee"/>
                <a:cs typeface="ABeeZee"/>
                <a:sym typeface="ABeeZee"/>
              </a:rPr>
              <a:t>for this persons scenario:</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i="1" lang="en-GB" sz="1500">
                <a:solidFill>
                  <a:schemeClr val="dk1"/>
                </a:solidFill>
                <a:latin typeface="ABeeZee"/>
                <a:ea typeface="ABeeZee"/>
                <a:cs typeface="ABeeZee"/>
                <a:sym typeface="ABeeZee"/>
              </a:rPr>
              <a:t>Damian is unsure about his sexual orientation.  He comes from a family of four brothers who are all very masculine and play rugby.  Damian also plays rugby and gets </a:t>
            </a:r>
            <a:r>
              <a:rPr i="1" lang="en-GB" sz="1500">
                <a:solidFill>
                  <a:schemeClr val="dk1"/>
                </a:solidFill>
                <a:latin typeface="ABeeZee"/>
                <a:ea typeface="ABeeZee"/>
                <a:cs typeface="ABeeZee"/>
                <a:sym typeface="ABeeZee"/>
              </a:rPr>
              <a:t>along</a:t>
            </a:r>
            <a:r>
              <a:rPr i="1" lang="en-GB" sz="1500">
                <a:solidFill>
                  <a:schemeClr val="dk1"/>
                </a:solidFill>
                <a:latin typeface="ABeeZee"/>
                <a:ea typeface="ABeeZee"/>
                <a:cs typeface="ABeeZee"/>
                <a:sym typeface="ABeeZee"/>
              </a:rPr>
              <a:t> with his brothers.  Damian has a few friends that have girlfriends and some that are single.  Damian feels that he is more attracted to males than females and wants to be able to express this to someone who is not going to judge him and he is worried about </a:t>
            </a:r>
            <a:r>
              <a:rPr i="1" lang="en-GB" sz="1500">
                <a:solidFill>
                  <a:schemeClr val="dk1"/>
                </a:solidFill>
                <a:latin typeface="ABeeZee"/>
                <a:ea typeface="ABeeZee"/>
                <a:cs typeface="ABeeZee"/>
                <a:sym typeface="ABeeZee"/>
              </a:rPr>
              <a:t>losing</a:t>
            </a:r>
            <a:r>
              <a:rPr i="1" lang="en-GB" sz="1500">
                <a:solidFill>
                  <a:schemeClr val="dk1"/>
                </a:solidFill>
                <a:latin typeface="ABeeZee"/>
                <a:ea typeface="ABeeZee"/>
                <a:cs typeface="ABeeZee"/>
                <a:sym typeface="ABeeZee"/>
              </a:rPr>
              <a:t> his friendships through potentially “coming out.”</a:t>
            </a:r>
            <a:endParaRPr sz="15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Personal</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Interpersonal</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Societal</a:t>
            </a:r>
            <a:endParaRPr sz="1600">
              <a:solidFill>
                <a:schemeClr val="dk1"/>
              </a:solidFill>
              <a:latin typeface="ABeeZee"/>
              <a:ea typeface="ABeeZee"/>
              <a:cs typeface="ABeeZee"/>
              <a:sym typeface="ABeeZee"/>
            </a:endParaRPr>
          </a:p>
        </p:txBody>
      </p:sp>
      <p:sp>
        <p:nvSpPr>
          <p:cNvPr id="663" name="Google Shape;663;p79"/>
          <p:cNvSpPr/>
          <p:nvPr/>
        </p:nvSpPr>
        <p:spPr>
          <a:xfrm flipH="1" rot="10800000">
            <a:off x="154450" y="383250"/>
            <a:ext cx="2153400" cy="4377000"/>
          </a:xfrm>
          <a:prstGeom prst="round2DiagRect">
            <a:avLst>
              <a:gd fmla="val 16667" name="adj1"/>
              <a:gd fmla="val 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79"/>
          <p:cNvSpPr txBox="1"/>
          <p:nvPr/>
        </p:nvSpPr>
        <p:spPr>
          <a:xfrm flipH="1" rot="-5400000">
            <a:off x="-8070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P | IP | s</a:t>
            </a:r>
            <a:endParaRPr sz="4100">
              <a:solidFill>
                <a:srgbClr val="FFFFFF"/>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pic>
        <p:nvPicPr>
          <p:cNvPr descr="AC Slides-01.jpeg" id="669" name="Google Shape;669;p80"/>
          <p:cNvPicPr preferRelativeResize="0"/>
          <p:nvPr/>
        </p:nvPicPr>
        <p:blipFill>
          <a:blip r:embed="rId3">
            <a:alphaModFix/>
          </a:blip>
          <a:stretch>
            <a:fillRect/>
          </a:stretch>
        </p:blipFill>
        <p:spPr>
          <a:xfrm>
            <a:off x="0" y="0"/>
            <a:ext cx="9144000" cy="5143500"/>
          </a:xfrm>
          <a:prstGeom prst="rect">
            <a:avLst/>
          </a:prstGeom>
          <a:noFill/>
          <a:ln>
            <a:noFill/>
          </a:ln>
        </p:spPr>
      </p:pic>
      <p:sp>
        <p:nvSpPr>
          <p:cNvPr id="670" name="Google Shape;670;p80"/>
          <p:cNvSpPr txBox="1"/>
          <p:nvPr/>
        </p:nvSpPr>
        <p:spPr>
          <a:xfrm>
            <a:off x="2371875" y="357225"/>
            <a:ext cx="66990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Luckiest Guy"/>
                <a:ea typeface="Luckiest Guy"/>
                <a:cs typeface="Luckiest Guy"/>
                <a:sym typeface="Luckiest Guy"/>
              </a:rPr>
              <a:t>Strategy tasks 1</a:t>
            </a:r>
            <a:endParaRPr sz="2800">
              <a:solidFill>
                <a:schemeClr val="dk1"/>
              </a:solidFill>
              <a:latin typeface="Luckiest Guy"/>
              <a:ea typeface="Luckiest Guy"/>
              <a:cs typeface="Luckiest Guy"/>
              <a:sym typeface="Luckiest Guy"/>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Complete the following task independently in your books:</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p:txBody>
      </p:sp>
      <p:sp>
        <p:nvSpPr>
          <p:cNvPr id="671" name="Google Shape;671;p80"/>
          <p:cNvSpPr/>
          <p:nvPr/>
        </p:nvSpPr>
        <p:spPr>
          <a:xfrm flipH="1" rot="10800000">
            <a:off x="154450" y="383250"/>
            <a:ext cx="2153400" cy="4377000"/>
          </a:xfrm>
          <a:prstGeom prst="round2DiagRect">
            <a:avLst>
              <a:gd fmla="val 16667" name="adj1"/>
              <a:gd fmla="val 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80"/>
          <p:cNvSpPr txBox="1"/>
          <p:nvPr/>
        </p:nvSpPr>
        <p:spPr>
          <a:xfrm flipH="1" rot="-5400000">
            <a:off x="-8070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P | IP | s</a:t>
            </a:r>
            <a:endParaRPr sz="4100">
              <a:solidFill>
                <a:srgbClr val="FFFFFF"/>
              </a:solidFill>
            </a:endParaRPr>
          </a:p>
        </p:txBody>
      </p:sp>
      <p:pic>
        <p:nvPicPr>
          <p:cNvPr id="673" name="Google Shape;673;p80"/>
          <p:cNvPicPr preferRelativeResize="0"/>
          <p:nvPr/>
        </p:nvPicPr>
        <p:blipFill rotWithShape="1">
          <a:blip r:embed="rId4">
            <a:alphaModFix/>
          </a:blip>
          <a:srcRect b="45584" l="0" r="2950" t="0"/>
          <a:stretch/>
        </p:blipFill>
        <p:spPr>
          <a:xfrm>
            <a:off x="2584300" y="1366925"/>
            <a:ext cx="6131251" cy="2962751"/>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pic>
        <p:nvPicPr>
          <p:cNvPr descr="AC Slides-01.jpeg" id="678" name="Google Shape;678;p81"/>
          <p:cNvPicPr preferRelativeResize="0"/>
          <p:nvPr/>
        </p:nvPicPr>
        <p:blipFill>
          <a:blip r:embed="rId3">
            <a:alphaModFix/>
          </a:blip>
          <a:stretch>
            <a:fillRect/>
          </a:stretch>
        </p:blipFill>
        <p:spPr>
          <a:xfrm>
            <a:off x="0" y="0"/>
            <a:ext cx="9144000" cy="5143500"/>
          </a:xfrm>
          <a:prstGeom prst="rect">
            <a:avLst/>
          </a:prstGeom>
          <a:noFill/>
          <a:ln>
            <a:noFill/>
          </a:ln>
        </p:spPr>
      </p:pic>
      <p:sp>
        <p:nvSpPr>
          <p:cNvPr id="679" name="Google Shape;679;p81"/>
          <p:cNvSpPr txBox="1"/>
          <p:nvPr/>
        </p:nvSpPr>
        <p:spPr>
          <a:xfrm>
            <a:off x="2371875" y="357225"/>
            <a:ext cx="66990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Luckiest Guy"/>
                <a:ea typeface="Luckiest Guy"/>
                <a:cs typeface="Luckiest Guy"/>
                <a:sym typeface="Luckiest Guy"/>
              </a:rPr>
              <a:t>Strategy tasks 2</a:t>
            </a:r>
            <a:endParaRPr sz="2800">
              <a:solidFill>
                <a:schemeClr val="dk1"/>
              </a:solidFill>
              <a:latin typeface="Luckiest Guy"/>
              <a:ea typeface="Luckiest Guy"/>
              <a:cs typeface="Luckiest Guy"/>
              <a:sym typeface="Luckiest Guy"/>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Complete the following task independently in your books:</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p:txBody>
      </p:sp>
      <p:sp>
        <p:nvSpPr>
          <p:cNvPr id="680" name="Google Shape;680;p81"/>
          <p:cNvSpPr/>
          <p:nvPr/>
        </p:nvSpPr>
        <p:spPr>
          <a:xfrm flipH="1" rot="10800000">
            <a:off x="154450" y="383250"/>
            <a:ext cx="2153400" cy="4377000"/>
          </a:xfrm>
          <a:prstGeom prst="round2DiagRect">
            <a:avLst>
              <a:gd fmla="val 16667" name="adj1"/>
              <a:gd fmla="val 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81"/>
          <p:cNvSpPr txBox="1"/>
          <p:nvPr/>
        </p:nvSpPr>
        <p:spPr>
          <a:xfrm flipH="1" rot="-5400000">
            <a:off x="-8070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P | IP | s</a:t>
            </a:r>
            <a:endParaRPr sz="4100">
              <a:solidFill>
                <a:srgbClr val="FFFFFF"/>
              </a:solidFill>
            </a:endParaRPr>
          </a:p>
        </p:txBody>
      </p:sp>
      <p:pic>
        <p:nvPicPr>
          <p:cNvPr id="682" name="Google Shape;682;p81"/>
          <p:cNvPicPr preferRelativeResize="0"/>
          <p:nvPr/>
        </p:nvPicPr>
        <p:blipFill rotWithShape="1">
          <a:blip r:embed="rId4">
            <a:alphaModFix/>
          </a:blip>
          <a:srcRect b="0" l="0" r="1410" t="52267"/>
          <a:stretch/>
        </p:blipFill>
        <p:spPr>
          <a:xfrm>
            <a:off x="2371874" y="1443118"/>
            <a:ext cx="6698998" cy="2795133"/>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pic>
        <p:nvPicPr>
          <p:cNvPr descr="AC Slides-01.jpeg" id="687" name="Google Shape;687;p82"/>
          <p:cNvPicPr preferRelativeResize="0"/>
          <p:nvPr/>
        </p:nvPicPr>
        <p:blipFill>
          <a:blip r:embed="rId3">
            <a:alphaModFix/>
          </a:blip>
          <a:stretch>
            <a:fillRect/>
          </a:stretch>
        </p:blipFill>
        <p:spPr>
          <a:xfrm>
            <a:off x="0" y="0"/>
            <a:ext cx="9144000" cy="5143500"/>
          </a:xfrm>
          <a:prstGeom prst="rect">
            <a:avLst/>
          </a:prstGeom>
          <a:noFill/>
          <a:ln>
            <a:noFill/>
          </a:ln>
        </p:spPr>
      </p:pic>
      <p:sp>
        <p:nvSpPr>
          <p:cNvPr id="688" name="Google Shape;688;p82"/>
          <p:cNvSpPr txBox="1"/>
          <p:nvPr/>
        </p:nvSpPr>
        <p:spPr>
          <a:xfrm>
            <a:off x="2371875" y="357225"/>
            <a:ext cx="66990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Luckiest Guy"/>
                <a:ea typeface="Luckiest Guy"/>
                <a:cs typeface="Luckiest Guy"/>
                <a:sym typeface="Luckiest Guy"/>
              </a:rPr>
              <a:t>reflection</a:t>
            </a:r>
            <a:endParaRPr sz="2800">
              <a:solidFill>
                <a:schemeClr val="dk1"/>
              </a:solidFill>
              <a:latin typeface="Luckiest Guy"/>
              <a:ea typeface="Luckiest Guy"/>
              <a:cs typeface="Luckiest Guy"/>
              <a:sym typeface="Luckiest Guy"/>
            </a:endParaRPr>
          </a:p>
          <a:p>
            <a:pPr indent="0" lvl="0" marL="0" rtl="0" algn="l">
              <a:spcBef>
                <a:spcPts val="0"/>
              </a:spcBef>
              <a:spcAft>
                <a:spcPts val="0"/>
              </a:spcAft>
              <a:buNone/>
            </a:pPr>
            <a:r>
              <a:rPr b="1" lang="en-GB" sz="1600">
                <a:solidFill>
                  <a:schemeClr val="dk1"/>
                </a:solidFill>
                <a:latin typeface="ABeeZee"/>
                <a:ea typeface="ABeeZee"/>
                <a:cs typeface="ABeeZee"/>
                <a:sym typeface="ABeeZee"/>
              </a:rPr>
              <a:t>Write down three things you learnt today on a post it note</a:t>
            </a:r>
            <a:endParaRPr sz="1600">
              <a:solidFill>
                <a:schemeClr val="dk1"/>
              </a:solidFill>
              <a:latin typeface="ABeeZee"/>
              <a:ea typeface="ABeeZee"/>
              <a:cs typeface="ABeeZee"/>
              <a:sym typeface="ABeeZee"/>
            </a:endParaRPr>
          </a:p>
        </p:txBody>
      </p:sp>
      <p:sp>
        <p:nvSpPr>
          <p:cNvPr id="689" name="Google Shape;689;p82"/>
          <p:cNvSpPr/>
          <p:nvPr/>
        </p:nvSpPr>
        <p:spPr>
          <a:xfrm flipH="1" rot="10800000">
            <a:off x="154450" y="383250"/>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82"/>
          <p:cNvSpPr txBox="1"/>
          <p:nvPr/>
        </p:nvSpPr>
        <p:spPr>
          <a:xfrm flipH="1" rot="-5400000">
            <a:off x="-8070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reflection</a:t>
            </a:r>
            <a:endParaRPr sz="4100">
              <a:solidFill>
                <a:srgbClr val="FFFFFF"/>
              </a:solidFill>
            </a:endParaRPr>
          </a:p>
        </p:txBody>
      </p:sp>
      <p:pic>
        <p:nvPicPr>
          <p:cNvPr id="691" name="Google Shape;691;p82"/>
          <p:cNvPicPr preferRelativeResize="0"/>
          <p:nvPr/>
        </p:nvPicPr>
        <p:blipFill>
          <a:blip r:embed="rId4">
            <a:alphaModFix/>
          </a:blip>
          <a:stretch>
            <a:fillRect/>
          </a:stretch>
        </p:blipFill>
        <p:spPr>
          <a:xfrm>
            <a:off x="3359100" y="1202325"/>
            <a:ext cx="3793300" cy="3886199"/>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pic>
        <p:nvPicPr>
          <p:cNvPr descr="AC Slides-01.jpeg" id="696" name="Google Shape;696;p83"/>
          <p:cNvPicPr preferRelativeResize="0"/>
          <p:nvPr/>
        </p:nvPicPr>
        <p:blipFill>
          <a:blip r:embed="rId3">
            <a:alphaModFix/>
          </a:blip>
          <a:stretch>
            <a:fillRect/>
          </a:stretch>
        </p:blipFill>
        <p:spPr>
          <a:xfrm>
            <a:off x="0" y="0"/>
            <a:ext cx="9144000" cy="5143500"/>
          </a:xfrm>
          <a:prstGeom prst="rect">
            <a:avLst/>
          </a:prstGeom>
          <a:noFill/>
          <a:ln>
            <a:noFill/>
          </a:ln>
        </p:spPr>
      </p:pic>
      <p:sp>
        <p:nvSpPr>
          <p:cNvPr id="697" name="Google Shape;697;p83"/>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83"/>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699" name="Google Shape;699;p83"/>
          <p:cNvSpPr txBox="1"/>
          <p:nvPr/>
        </p:nvSpPr>
        <p:spPr>
          <a:xfrm>
            <a:off x="2371875" y="357225"/>
            <a:ext cx="57801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300">
              <a:solidFill>
                <a:schemeClr val="dk1"/>
              </a:solidFill>
              <a:latin typeface="ABeeZee"/>
              <a:ea typeface="ABeeZee"/>
              <a:cs typeface="ABeeZee"/>
              <a:sym typeface="ABeeZee"/>
            </a:endParaRPr>
          </a:p>
        </p:txBody>
      </p:sp>
      <p:sp>
        <p:nvSpPr>
          <p:cNvPr id="700" name="Google Shape;700;p83"/>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83"/>
          <p:cNvSpPr txBox="1"/>
          <p:nvPr/>
        </p:nvSpPr>
        <p:spPr>
          <a:xfrm flipH="1" rot="-5400000">
            <a:off x="-7308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Do now</a:t>
            </a:r>
            <a:endParaRPr sz="4100">
              <a:solidFill>
                <a:srgbClr val="FFFFFF"/>
              </a:solidFill>
            </a:endParaRPr>
          </a:p>
        </p:txBody>
      </p:sp>
      <p:sp>
        <p:nvSpPr>
          <p:cNvPr id="702" name="Google Shape;702;p83"/>
          <p:cNvSpPr txBox="1"/>
          <p:nvPr/>
        </p:nvSpPr>
        <p:spPr>
          <a:xfrm>
            <a:off x="2569475" y="3307075"/>
            <a:ext cx="6592800" cy="6771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ABeeZee"/>
              <a:buAutoNum type="arabicPeriod"/>
            </a:pPr>
            <a:r>
              <a:rPr lang="en-GB" sz="1600">
                <a:solidFill>
                  <a:schemeClr val="dk1"/>
                </a:solidFill>
                <a:latin typeface="ABeeZee"/>
                <a:ea typeface="ABeeZee"/>
                <a:cs typeface="ABeeZee"/>
                <a:sym typeface="ABeeZee"/>
              </a:rPr>
              <a:t>In groups of 3-4, complete the above task by using your knowledge of societal strategies</a:t>
            </a:r>
            <a:endParaRPr sz="1600">
              <a:solidFill>
                <a:schemeClr val="dk1"/>
              </a:solidFill>
              <a:latin typeface="ABeeZee"/>
              <a:ea typeface="ABeeZee"/>
              <a:cs typeface="ABeeZee"/>
              <a:sym typeface="ABeeZee"/>
            </a:endParaRPr>
          </a:p>
        </p:txBody>
      </p:sp>
      <p:pic>
        <p:nvPicPr>
          <p:cNvPr id="703" name="Google Shape;703;p83"/>
          <p:cNvPicPr preferRelativeResize="0"/>
          <p:nvPr/>
        </p:nvPicPr>
        <p:blipFill rotWithShape="1">
          <a:blip r:embed="rId4">
            <a:alphaModFix/>
          </a:blip>
          <a:srcRect b="45584" l="0" r="2950" t="0"/>
          <a:stretch/>
        </p:blipFill>
        <p:spPr>
          <a:xfrm>
            <a:off x="2800250" y="187625"/>
            <a:ext cx="6131251" cy="2962751"/>
          </a:xfrm>
          <a:prstGeom prst="rect">
            <a:avLst/>
          </a:prstGeom>
          <a:noFill/>
          <a:ln>
            <a:noFill/>
          </a:ln>
        </p:spPr>
      </p:pic>
      <p:pic>
        <p:nvPicPr>
          <p:cNvPr descr="This timer silently counts down to 0:00, then alerts you that time is up with a gentle beep sound." id="704" name="Google Shape;704;p83" title="15 Minute Timer">
            <a:hlinkClick r:id="rId5"/>
          </p:cNvPr>
          <p:cNvPicPr preferRelativeResize="0"/>
          <p:nvPr/>
        </p:nvPicPr>
        <p:blipFill>
          <a:blip r:embed="rId6">
            <a:alphaModFix/>
          </a:blip>
          <a:stretch>
            <a:fillRect/>
          </a:stretch>
        </p:blipFill>
        <p:spPr>
          <a:xfrm>
            <a:off x="6362100" y="3733800"/>
            <a:ext cx="2506125" cy="1409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4"/>
                                        </p:tgtEl>
                                        <p:attrNameLst>
                                          <p:attrName>style.visibility</p:attrName>
                                        </p:attrNameLst>
                                      </p:cBhvr>
                                      <p:to>
                                        <p:strVal val="visible"/>
                                      </p:to>
                                    </p:set>
                                    <p:animEffect filter="fade" transition="in">
                                      <p:cBhvr>
                                        <p:cTn dur="1000"/>
                                        <p:tgtEl>
                                          <p:spTgt spid="7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pic>
        <p:nvPicPr>
          <p:cNvPr descr="AC Slides-01.jpeg" id="709" name="Google Shape;709;p84"/>
          <p:cNvPicPr preferRelativeResize="0"/>
          <p:nvPr/>
        </p:nvPicPr>
        <p:blipFill>
          <a:blip r:embed="rId3">
            <a:alphaModFix/>
          </a:blip>
          <a:stretch>
            <a:fillRect/>
          </a:stretch>
        </p:blipFill>
        <p:spPr>
          <a:xfrm>
            <a:off x="0" y="0"/>
            <a:ext cx="9144000" cy="5143500"/>
          </a:xfrm>
          <a:prstGeom prst="rect">
            <a:avLst/>
          </a:prstGeom>
          <a:noFill/>
          <a:ln>
            <a:noFill/>
          </a:ln>
        </p:spPr>
      </p:pic>
      <p:sp>
        <p:nvSpPr>
          <p:cNvPr id="710" name="Google Shape;710;p84"/>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84"/>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712" name="Google Shape;712;p84"/>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Learning intention</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600">
                <a:solidFill>
                  <a:schemeClr val="dk1"/>
                </a:solidFill>
                <a:latin typeface="ABeeZee"/>
                <a:ea typeface="ABeeZee"/>
                <a:cs typeface="ABeeZee"/>
                <a:sym typeface="ABeeZee"/>
              </a:rPr>
              <a:t>T</a:t>
            </a:r>
            <a:r>
              <a:rPr lang="en-GB" sz="1800">
                <a:solidFill>
                  <a:schemeClr val="dk1"/>
                </a:solidFill>
                <a:latin typeface="ABeeZee"/>
                <a:ea typeface="ABeeZee"/>
                <a:cs typeface="ABeeZee"/>
                <a:sym typeface="ABeeZee"/>
              </a:rPr>
              <a:t>o build knowledge and make sense of </a:t>
            </a:r>
            <a:r>
              <a:rPr lang="en-GB" sz="1800">
                <a:solidFill>
                  <a:schemeClr val="dk1"/>
                </a:solidFill>
                <a:latin typeface="ABeeZee"/>
                <a:ea typeface="ABeeZee"/>
                <a:cs typeface="ABeeZee"/>
                <a:sym typeface="ABeeZee"/>
              </a:rPr>
              <a:t>stereotypes</a:t>
            </a:r>
            <a:endParaRPr sz="2500">
              <a:latin typeface="Luckiest Guy"/>
              <a:ea typeface="Luckiest Guy"/>
              <a:cs typeface="Luckiest Guy"/>
              <a:sym typeface="Luckiest Guy"/>
            </a:endParaRPr>
          </a:p>
          <a:p>
            <a:pPr indent="0" lvl="0" marL="0" rtl="0" algn="l">
              <a:spcBef>
                <a:spcPts val="1200"/>
              </a:spcBef>
              <a:spcAft>
                <a:spcPts val="0"/>
              </a:spcAft>
              <a:buNone/>
            </a:pPr>
            <a:r>
              <a:t/>
            </a:r>
            <a:endParaRPr b="1" sz="2300">
              <a:latin typeface="Jost"/>
              <a:ea typeface="Jost"/>
              <a:cs typeface="Jost"/>
              <a:sym typeface="Jost"/>
            </a:endParaRPr>
          </a:p>
          <a:p>
            <a:pPr indent="0" lvl="0" marL="0" rtl="0" algn="l">
              <a:spcBef>
                <a:spcPts val="0"/>
              </a:spcBef>
              <a:spcAft>
                <a:spcPts val="0"/>
              </a:spcAft>
              <a:buNone/>
            </a:pPr>
            <a:r>
              <a:rPr lang="en-GB" sz="2500">
                <a:solidFill>
                  <a:schemeClr val="dk1"/>
                </a:solidFill>
                <a:latin typeface="Luckiest Guy"/>
                <a:ea typeface="Luckiest Guy"/>
                <a:cs typeface="Luckiest Guy"/>
                <a:sym typeface="Luckiest Guy"/>
              </a:rPr>
              <a:t>Success criteria</a:t>
            </a:r>
            <a:endParaRPr sz="1700">
              <a:solidFill>
                <a:schemeClr val="dk1"/>
              </a:solidFill>
              <a:latin typeface="Jost"/>
              <a:ea typeface="Jost"/>
              <a:cs typeface="Jost"/>
              <a:sym typeface="Jost"/>
            </a:endParaRPr>
          </a:p>
          <a:p>
            <a:pPr indent="-336550" lvl="0" marL="457200" rtl="0" algn="l">
              <a:lnSpc>
                <a:spcPct val="115000"/>
              </a:lnSpc>
              <a:spcBef>
                <a:spcPts val="1200"/>
              </a:spcBef>
              <a:spcAft>
                <a:spcPts val="0"/>
              </a:spcAft>
              <a:buClr>
                <a:schemeClr val="dk1"/>
              </a:buClr>
              <a:buSzPts val="1700"/>
              <a:buFont typeface="ABeeZee"/>
              <a:buChar char="●"/>
            </a:pPr>
            <a:r>
              <a:rPr lang="en-GB" sz="1700">
                <a:solidFill>
                  <a:schemeClr val="dk1"/>
                </a:solidFill>
                <a:latin typeface="ABeeZee"/>
                <a:ea typeface="ABeeZee"/>
                <a:cs typeface="ABeeZee"/>
                <a:sym typeface="ABeeZee"/>
              </a:rPr>
              <a:t>Make sense of feminism </a:t>
            </a:r>
            <a:endParaRPr sz="1700">
              <a:solidFill>
                <a:schemeClr val="dk1"/>
              </a:solidFill>
              <a:latin typeface="ABeeZee"/>
              <a:ea typeface="ABeeZee"/>
              <a:cs typeface="ABeeZee"/>
              <a:sym typeface="ABeeZee"/>
            </a:endParaRPr>
          </a:p>
          <a:p>
            <a:pPr indent="-336550" lvl="0" marL="457200" rtl="0" algn="l">
              <a:lnSpc>
                <a:spcPct val="115000"/>
              </a:lnSpc>
              <a:spcBef>
                <a:spcPts val="0"/>
              </a:spcBef>
              <a:spcAft>
                <a:spcPts val="0"/>
              </a:spcAft>
              <a:buClr>
                <a:schemeClr val="dk1"/>
              </a:buClr>
              <a:buSzPts val="1700"/>
              <a:buFont typeface="ABeeZee"/>
              <a:buChar char="●"/>
            </a:pPr>
            <a:r>
              <a:rPr lang="en-GB" sz="1700">
                <a:solidFill>
                  <a:schemeClr val="dk1"/>
                </a:solidFill>
                <a:latin typeface="ABeeZee"/>
                <a:ea typeface="ABeeZee"/>
                <a:cs typeface="ABeeZee"/>
                <a:sym typeface="ABeeZee"/>
              </a:rPr>
              <a:t>Identify stereotypes for men and women</a:t>
            </a:r>
            <a:endParaRPr sz="1700">
              <a:solidFill>
                <a:schemeClr val="dk1"/>
              </a:solidFill>
              <a:latin typeface="ABeeZee"/>
              <a:ea typeface="ABeeZee"/>
              <a:cs typeface="ABeeZee"/>
              <a:sym typeface="ABeeZee"/>
            </a:endParaRPr>
          </a:p>
          <a:p>
            <a:pPr indent="-336550" lvl="0" marL="457200" rtl="0" algn="l">
              <a:lnSpc>
                <a:spcPct val="115000"/>
              </a:lnSpc>
              <a:spcBef>
                <a:spcPts val="0"/>
              </a:spcBef>
              <a:spcAft>
                <a:spcPts val="0"/>
              </a:spcAft>
              <a:buClr>
                <a:schemeClr val="dk1"/>
              </a:buClr>
              <a:buSzPts val="1700"/>
              <a:buFont typeface="ABeeZee"/>
              <a:buChar char="●"/>
            </a:pPr>
            <a:r>
              <a:rPr lang="en-GB" sz="1700">
                <a:solidFill>
                  <a:schemeClr val="dk1"/>
                </a:solidFill>
                <a:latin typeface="ABeeZee"/>
                <a:ea typeface="ABeeZee"/>
                <a:cs typeface="ABeeZee"/>
                <a:sym typeface="ABeeZee"/>
              </a:rPr>
              <a:t>Identify the problems associated with stereotyping and give examples</a:t>
            </a:r>
            <a:endParaRPr sz="1700">
              <a:solidFill>
                <a:schemeClr val="dk1"/>
              </a:solidFill>
              <a:latin typeface="ABeeZee"/>
              <a:ea typeface="ABeeZee"/>
              <a:cs typeface="ABeeZee"/>
              <a:sym typeface="ABeeZee"/>
            </a:endParaRPr>
          </a:p>
          <a:p>
            <a:pPr indent="0" lvl="0" marL="457200" rtl="0" algn="l">
              <a:lnSpc>
                <a:spcPct val="115000"/>
              </a:lnSpc>
              <a:spcBef>
                <a:spcPts val="1200"/>
              </a:spcBef>
              <a:spcAft>
                <a:spcPts val="0"/>
              </a:spcAft>
              <a:buNone/>
            </a:pPr>
            <a:r>
              <a:t/>
            </a:r>
            <a:endParaRPr sz="17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713" name="Google Shape;713;p84"/>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84"/>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pic>
        <p:nvPicPr>
          <p:cNvPr descr="AC Slides-01.jpeg" id="719" name="Google Shape;719;p85"/>
          <p:cNvPicPr preferRelativeResize="0"/>
          <p:nvPr/>
        </p:nvPicPr>
        <p:blipFill>
          <a:blip r:embed="rId3">
            <a:alphaModFix/>
          </a:blip>
          <a:stretch>
            <a:fillRect/>
          </a:stretch>
        </p:blipFill>
        <p:spPr>
          <a:xfrm>
            <a:off x="0" y="0"/>
            <a:ext cx="9144000" cy="5143500"/>
          </a:xfrm>
          <a:prstGeom prst="rect">
            <a:avLst/>
          </a:prstGeom>
          <a:noFill/>
          <a:ln>
            <a:noFill/>
          </a:ln>
        </p:spPr>
      </p:pic>
      <p:sp>
        <p:nvSpPr>
          <p:cNvPr id="720" name="Google Shape;720;p85"/>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721" name="Google Shape;721;p85"/>
          <p:cNvSpPr txBox="1"/>
          <p:nvPr/>
        </p:nvSpPr>
        <p:spPr>
          <a:xfrm>
            <a:off x="388625" y="306950"/>
            <a:ext cx="8284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brainstorm</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600">
                <a:solidFill>
                  <a:schemeClr val="dk1"/>
                </a:solidFill>
                <a:latin typeface="ABeeZee"/>
                <a:ea typeface="ABeeZee"/>
                <a:cs typeface="ABeeZee"/>
                <a:sym typeface="ABeeZee"/>
              </a:rPr>
              <a:t>In pairs, on a piece of paper write down 10 words you associate with the word feminism and write them up on the board</a:t>
            </a:r>
            <a:endParaRPr sz="1800">
              <a:latin typeface="Jost"/>
              <a:ea typeface="Jost"/>
              <a:cs typeface="Jost"/>
              <a:sym typeface="Jost"/>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722" name="Google Shape;722;p85"/>
          <p:cNvSpPr/>
          <p:nvPr/>
        </p:nvSpPr>
        <p:spPr>
          <a:xfrm flipH="1" rot="-5400000">
            <a:off x="4248175" y="1253450"/>
            <a:ext cx="1261800" cy="3086100"/>
          </a:xfrm>
          <a:prstGeom prst="round2DiagRect">
            <a:avLst>
              <a:gd fmla="val 16667" name="adj1"/>
              <a:gd fmla="val 0" name="adj2"/>
            </a:avLst>
          </a:prstGeom>
          <a:solidFill>
            <a:srgbClr val="FF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85"/>
          <p:cNvSpPr txBox="1"/>
          <p:nvPr/>
        </p:nvSpPr>
        <p:spPr>
          <a:xfrm flipH="1">
            <a:off x="2850575" y="2353950"/>
            <a:ext cx="3972600" cy="76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3800">
                <a:solidFill>
                  <a:srgbClr val="FFFFFF"/>
                </a:solidFill>
                <a:latin typeface="Luckiest Guy"/>
                <a:ea typeface="Luckiest Guy"/>
                <a:cs typeface="Luckiest Guy"/>
                <a:sym typeface="Luckiest Guy"/>
              </a:rPr>
              <a:t>feminism</a:t>
            </a:r>
            <a:endParaRPr sz="3300">
              <a:solidFill>
                <a:srgbClr val="FFFFFF"/>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pic>
        <p:nvPicPr>
          <p:cNvPr descr="AC Slides-01.jpeg" id="728" name="Google Shape;728;p86"/>
          <p:cNvPicPr preferRelativeResize="0"/>
          <p:nvPr/>
        </p:nvPicPr>
        <p:blipFill>
          <a:blip r:embed="rId3">
            <a:alphaModFix/>
          </a:blip>
          <a:stretch>
            <a:fillRect/>
          </a:stretch>
        </p:blipFill>
        <p:spPr>
          <a:xfrm>
            <a:off x="0" y="0"/>
            <a:ext cx="9144000" cy="5143500"/>
          </a:xfrm>
          <a:prstGeom prst="rect">
            <a:avLst/>
          </a:prstGeom>
          <a:noFill/>
          <a:ln>
            <a:noFill/>
          </a:ln>
        </p:spPr>
      </p:pic>
      <p:sp>
        <p:nvSpPr>
          <p:cNvPr id="729" name="Google Shape;729;p86"/>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86"/>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731" name="Google Shape;731;p86"/>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What is feminism?</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600">
                <a:solidFill>
                  <a:schemeClr val="dk1"/>
                </a:solidFill>
                <a:latin typeface="ABeeZee"/>
                <a:ea typeface="ABeeZee"/>
                <a:cs typeface="ABeeZee"/>
                <a:sym typeface="ABeeZee"/>
              </a:rPr>
              <a:t>Feminism is a social movement that began with women around the world fighting for the right to vote in the late 19th century. It has continued over the past 100+ years with second-wave feminism in the 1960s, third-wave feminism in the early 1990s, merging into the fourth-wave feminism of today.</a:t>
            </a:r>
            <a:endParaRPr sz="16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600">
                <a:solidFill>
                  <a:schemeClr val="dk1"/>
                </a:solidFill>
                <a:latin typeface="ABeeZee"/>
                <a:ea typeface="ABeeZee"/>
                <a:cs typeface="ABeeZee"/>
                <a:sym typeface="ABeeZee"/>
              </a:rPr>
              <a:t>These waves were all influenced by society at their respective times and included activism for women’s rights around sexual and reproductive health (especially in relation to access to the Pill and abortion) and to support in the workplace, access to childcare, equal pay, and a range of other equity issues. </a:t>
            </a:r>
            <a:endParaRPr sz="1800">
              <a:latin typeface="Jost"/>
              <a:ea typeface="Jost"/>
              <a:cs typeface="Jost"/>
              <a:sym typeface="Jost"/>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732" name="Google Shape;732;p86"/>
          <p:cNvSpPr/>
          <p:nvPr/>
        </p:nvSpPr>
        <p:spPr>
          <a:xfrm flipH="1" rot="10800000">
            <a:off x="218475" y="358875"/>
            <a:ext cx="2153400" cy="4377000"/>
          </a:xfrm>
          <a:prstGeom prst="round2DiagRect">
            <a:avLst>
              <a:gd fmla="val 16667" name="adj1"/>
              <a:gd fmla="val 0" name="adj2"/>
            </a:avLst>
          </a:prstGeom>
          <a:solidFill>
            <a:srgbClr val="FF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86"/>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feminism</a:t>
            </a:r>
            <a:endParaRPr sz="4100">
              <a:solidFill>
                <a:srgbClr val="FFFFFF"/>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pic>
        <p:nvPicPr>
          <p:cNvPr descr="AC Slides-01.jpeg" id="738" name="Google Shape;738;p87"/>
          <p:cNvPicPr preferRelativeResize="0"/>
          <p:nvPr/>
        </p:nvPicPr>
        <p:blipFill>
          <a:blip r:embed="rId3">
            <a:alphaModFix/>
          </a:blip>
          <a:stretch>
            <a:fillRect/>
          </a:stretch>
        </p:blipFill>
        <p:spPr>
          <a:xfrm>
            <a:off x="0" y="0"/>
            <a:ext cx="9144000" cy="5143500"/>
          </a:xfrm>
          <a:prstGeom prst="rect">
            <a:avLst/>
          </a:prstGeom>
          <a:noFill/>
          <a:ln>
            <a:noFill/>
          </a:ln>
        </p:spPr>
      </p:pic>
      <p:sp>
        <p:nvSpPr>
          <p:cNvPr id="739" name="Google Shape;739;p87"/>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87"/>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741" name="Google Shape;741;p87"/>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What is feminism?</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Clr>
                <a:schemeClr val="dk1"/>
              </a:buClr>
              <a:buSzPts val="1100"/>
              <a:buFont typeface="Arial"/>
              <a:buNone/>
            </a:pPr>
            <a:r>
              <a:rPr lang="en-GB" sz="1600">
                <a:solidFill>
                  <a:schemeClr val="dk1"/>
                </a:solidFill>
                <a:latin typeface="ABeeZee"/>
                <a:ea typeface="ABeeZee"/>
                <a:cs typeface="ABeeZee"/>
                <a:sym typeface="ABeeZee"/>
              </a:rPr>
              <a:t>Feminism in contemporary times is seen as important for both men and women to be involved with, as it concerns gender equity and the rights of all people to self-determine, be treated with respect, and without violence or oppression. For more information, see: and www.rosie.org.au</a:t>
            </a:r>
            <a:endParaRPr sz="17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t/>
            </a:r>
            <a:endParaRPr sz="16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742" name="Google Shape;742;p87"/>
          <p:cNvSpPr/>
          <p:nvPr/>
        </p:nvSpPr>
        <p:spPr>
          <a:xfrm flipH="1" rot="10800000">
            <a:off x="218475" y="358875"/>
            <a:ext cx="2153400" cy="4377000"/>
          </a:xfrm>
          <a:prstGeom prst="round2DiagRect">
            <a:avLst>
              <a:gd fmla="val 16667" name="adj1"/>
              <a:gd fmla="val 0" name="adj2"/>
            </a:avLst>
          </a:prstGeom>
          <a:solidFill>
            <a:srgbClr val="FF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87"/>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feminism</a:t>
            </a:r>
            <a:endParaRPr sz="4100">
              <a:solidFill>
                <a:srgbClr val="FFFFFF"/>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pic>
        <p:nvPicPr>
          <p:cNvPr descr="AC Slides-01.jpeg" id="748" name="Google Shape;748;p88"/>
          <p:cNvPicPr preferRelativeResize="0"/>
          <p:nvPr/>
        </p:nvPicPr>
        <p:blipFill>
          <a:blip r:embed="rId3">
            <a:alphaModFix/>
          </a:blip>
          <a:stretch>
            <a:fillRect/>
          </a:stretch>
        </p:blipFill>
        <p:spPr>
          <a:xfrm>
            <a:off x="0" y="0"/>
            <a:ext cx="9144000" cy="5143500"/>
          </a:xfrm>
          <a:prstGeom prst="rect">
            <a:avLst/>
          </a:prstGeom>
          <a:noFill/>
          <a:ln>
            <a:noFill/>
          </a:ln>
        </p:spPr>
      </p:pic>
      <p:sp>
        <p:nvSpPr>
          <p:cNvPr id="749" name="Google Shape;749;p88"/>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750" name="Google Shape;750;p88"/>
          <p:cNvSpPr txBox="1"/>
          <p:nvPr/>
        </p:nvSpPr>
        <p:spPr>
          <a:xfrm>
            <a:off x="388625" y="306950"/>
            <a:ext cx="8284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Stereotypes</a:t>
            </a:r>
            <a:r>
              <a:rPr lang="en-GB" sz="1600">
                <a:solidFill>
                  <a:schemeClr val="dk1"/>
                </a:solidFill>
                <a:latin typeface="ABeeZee"/>
                <a:ea typeface="ABeeZee"/>
                <a:cs typeface="ABeeZee"/>
                <a:sym typeface="ABeeZee"/>
              </a:rPr>
              <a:t> </a:t>
            </a:r>
            <a:r>
              <a:rPr lang="en-GB" sz="1600">
                <a:solidFill>
                  <a:srgbClr val="1F1F1F"/>
                </a:solidFill>
                <a:highlight>
                  <a:srgbClr val="FFFFFF"/>
                </a:highlight>
                <a:latin typeface="ABeeZee"/>
                <a:ea typeface="ABeeZee"/>
                <a:cs typeface="ABeeZee"/>
                <a:sym typeface="ABeeZee"/>
              </a:rPr>
              <a:t>a widely held but fixed oversimplified image or idea of a particular type of person or thing.</a:t>
            </a:r>
            <a:endParaRPr sz="1600">
              <a:latin typeface="ABeeZee"/>
              <a:ea typeface="ABeeZee"/>
              <a:cs typeface="ABeeZee"/>
              <a:sym typeface="ABeeZee"/>
            </a:endParaRPr>
          </a:p>
          <a:p>
            <a:pPr indent="0" lvl="0" marL="0" rtl="0" algn="l">
              <a:spcBef>
                <a:spcPts val="0"/>
              </a:spcBef>
              <a:spcAft>
                <a:spcPts val="0"/>
              </a:spcAft>
              <a:buNone/>
            </a:pPr>
            <a:r>
              <a:rPr lang="en-GB" sz="1600">
                <a:latin typeface="ABeeZee"/>
                <a:ea typeface="ABeeZee"/>
                <a:cs typeface="ABeeZee"/>
                <a:sym typeface="ABeeZee"/>
              </a:rPr>
              <a:t>In pairs write down all the “stereotypes” society have of women and men</a:t>
            </a:r>
            <a:endParaRPr sz="1600">
              <a:latin typeface="ABeeZee"/>
              <a:ea typeface="ABeeZee"/>
              <a:cs typeface="ABeeZee"/>
              <a:sym typeface="ABeeZee"/>
            </a:endParaRPr>
          </a:p>
          <a:p>
            <a:pPr indent="0" lvl="0" marL="0" rtl="0" algn="l">
              <a:spcBef>
                <a:spcPts val="0"/>
              </a:spcBef>
              <a:spcAft>
                <a:spcPts val="0"/>
              </a:spcAft>
              <a:buNone/>
            </a:pPr>
            <a:r>
              <a:t/>
            </a:r>
            <a:endParaRPr sz="1600">
              <a:latin typeface="ABeeZee"/>
              <a:ea typeface="ABeeZee"/>
              <a:cs typeface="ABeeZee"/>
              <a:sym typeface="ABeeZee"/>
            </a:endParaRPr>
          </a:p>
          <a:p>
            <a:pPr indent="0" lvl="0" marL="0" rtl="0" algn="l">
              <a:spcBef>
                <a:spcPts val="0"/>
              </a:spcBef>
              <a:spcAft>
                <a:spcPts val="0"/>
              </a:spcAft>
              <a:buNone/>
            </a:pPr>
            <a:r>
              <a:rPr lang="en-GB" sz="1600">
                <a:latin typeface="ABeeZee"/>
                <a:ea typeface="ABeeZee"/>
                <a:cs typeface="ABeeZee"/>
                <a:sym typeface="ABeeZee"/>
              </a:rPr>
              <a:t>Once you have completed this write your words up on the board</a:t>
            </a:r>
            <a:endParaRPr sz="1600">
              <a:latin typeface="ABeeZee"/>
              <a:ea typeface="ABeeZee"/>
              <a:cs typeface="ABeeZee"/>
              <a:sym typeface="ABeeZee"/>
            </a:endParaRPr>
          </a:p>
        </p:txBody>
      </p:sp>
      <p:sp>
        <p:nvSpPr>
          <p:cNvPr id="751" name="Google Shape;751;p88"/>
          <p:cNvSpPr/>
          <p:nvPr/>
        </p:nvSpPr>
        <p:spPr>
          <a:xfrm flipH="1" rot="-5400000">
            <a:off x="1367825" y="1177250"/>
            <a:ext cx="1261800" cy="3086100"/>
          </a:xfrm>
          <a:prstGeom prst="round2DiagRect">
            <a:avLst>
              <a:gd fmla="val 16667" name="adj1"/>
              <a:gd fmla="val 0" name="adj2"/>
            </a:avLst>
          </a:prstGeom>
          <a:solidFill>
            <a:srgbClr val="FF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88"/>
          <p:cNvSpPr txBox="1"/>
          <p:nvPr/>
        </p:nvSpPr>
        <p:spPr>
          <a:xfrm flipH="1">
            <a:off x="750575" y="2280675"/>
            <a:ext cx="2496300" cy="76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3800">
                <a:solidFill>
                  <a:srgbClr val="FFFFFF"/>
                </a:solidFill>
                <a:latin typeface="Luckiest Guy"/>
                <a:ea typeface="Luckiest Guy"/>
                <a:cs typeface="Luckiest Guy"/>
                <a:sym typeface="Luckiest Guy"/>
              </a:rPr>
              <a:t>women</a:t>
            </a:r>
            <a:endParaRPr sz="3300">
              <a:solidFill>
                <a:srgbClr val="FFFFFF"/>
              </a:solidFill>
            </a:endParaRPr>
          </a:p>
        </p:txBody>
      </p:sp>
      <p:sp>
        <p:nvSpPr>
          <p:cNvPr id="753" name="Google Shape;753;p88"/>
          <p:cNvSpPr/>
          <p:nvPr/>
        </p:nvSpPr>
        <p:spPr>
          <a:xfrm flipH="1" rot="-5400000">
            <a:off x="5939825" y="1177250"/>
            <a:ext cx="1261800" cy="3086100"/>
          </a:xfrm>
          <a:prstGeom prst="round2DiagRect">
            <a:avLst>
              <a:gd fmla="val 16667" name="adj1"/>
              <a:gd fmla="val 0" name="adj2"/>
            </a:avLst>
          </a:prstGeom>
          <a:solidFill>
            <a:srgbClr val="00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88"/>
          <p:cNvSpPr txBox="1"/>
          <p:nvPr/>
        </p:nvSpPr>
        <p:spPr>
          <a:xfrm flipH="1">
            <a:off x="5322575" y="2280675"/>
            <a:ext cx="2496300" cy="76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3800">
                <a:solidFill>
                  <a:srgbClr val="FFFFFF"/>
                </a:solidFill>
                <a:latin typeface="Luckiest Guy"/>
                <a:ea typeface="Luckiest Guy"/>
                <a:cs typeface="Luckiest Guy"/>
                <a:sym typeface="Luckiest Guy"/>
              </a:rPr>
              <a:t>men</a:t>
            </a:r>
            <a:endParaRPr sz="3300">
              <a:solidFill>
                <a:srgbClr val="FFFFFF"/>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pic>
        <p:nvPicPr>
          <p:cNvPr descr="AC Slides-01.jpeg" id="759" name="Google Shape;759;p89"/>
          <p:cNvPicPr preferRelativeResize="0"/>
          <p:nvPr/>
        </p:nvPicPr>
        <p:blipFill>
          <a:blip r:embed="rId3">
            <a:alphaModFix/>
          </a:blip>
          <a:stretch>
            <a:fillRect/>
          </a:stretch>
        </p:blipFill>
        <p:spPr>
          <a:xfrm>
            <a:off x="0" y="0"/>
            <a:ext cx="9144000" cy="5143500"/>
          </a:xfrm>
          <a:prstGeom prst="rect">
            <a:avLst/>
          </a:prstGeom>
          <a:noFill/>
          <a:ln>
            <a:noFill/>
          </a:ln>
        </p:spPr>
      </p:pic>
      <p:sp>
        <p:nvSpPr>
          <p:cNvPr id="760" name="Google Shape;760;p89"/>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761" name="Google Shape;761;p89"/>
          <p:cNvSpPr txBox="1"/>
          <p:nvPr/>
        </p:nvSpPr>
        <p:spPr>
          <a:xfrm>
            <a:off x="388625" y="306950"/>
            <a:ext cx="8284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Stereotypes</a:t>
            </a:r>
            <a:r>
              <a:rPr lang="en-GB" sz="1600">
                <a:solidFill>
                  <a:schemeClr val="dk1"/>
                </a:solidFill>
                <a:latin typeface="ABeeZee"/>
                <a:ea typeface="ABeeZee"/>
                <a:cs typeface="ABeeZee"/>
                <a:sym typeface="ABeeZee"/>
              </a:rPr>
              <a:t> </a:t>
            </a:r>
            <a:endParaRPr sz="1600">
              <a:solidFill>
                <a:srgbClr val="1F1F1F"/>
              </a:solidFill>
              <a:highlight>
                <a:srgbClr val="FFFFFF"/>
              </a:highlight>
              <a:latin typeface="ABeeZee"/>
              <a:ea typeface="ABeeZee"/>
              <a:cs typeface="ABeeZee"/>
              <a:sym typeface="ABeeZee"/>
            </a:endParaRPr>
          </a:p>
          <a:p>
            <a:pPr indent="0" lvl="0" marL="0" rtl="0" algn="l">
              <a:spcBef>
                <a:spcPts val="0"/>
              </a:spcBef>
              <a:spcAft>
                <a:spcPts val="0"/>
              </a:spcAft>
              <a:buNone/>
            </a:pPr>
            <a:r>
              <a:rPr lang="en-GB" sz="1600">
                <a:solidFill>
                  <a:srgbClr val="1F1F1F"/>
                </a:solidFill>
                <a:highlight>
                  <a:srgbClr val="FFFFFF"/>
                </a:highlight>
                <a:latin typeface="ABeeZee"/>
                <a:ea typeface="ABeeZee"/>
                <a:cs typeface="ABeeZee"/>
                <a:sym typeface="ABeeZee"/>
              </a:rPr>
              <a:t>What are consequences of these stereotypes?</a:t>
            </a:r>
            <a:endParaRPr sz="1600">
              <a:solidFill>
                <a:srgbClr val="1F1F1F"/>
              </a:solidFill>
              <a:highlight>
                <a:srgbClr val="FFFFFF"/>
              </a:highlight>
              <a:latin typeface="ABeeZee"/>
              <a:ea typeface="ABeeZee"/>
              <a:cs typeface="ABeeZee"/>
              <a:sym typeface="ABeeZee"/>
            </a:endParaRPr>
          </a:p>
        </p:txBody>
      </p:sp>
      <p:sp>
        <p:nvSpPr>
          <p:cNvPr id="762" name="Google Shape;762;p89"/>
          <p:cNvSpPr/>
          <p:nvPr/>
        </p:nvSpPr>
        <p:spPr>
          <a:xfrm flipH="1" rot="-5400000">
            <a:off x="1367825" y="1177250"/>
            <a:ext cx="1261800" cy="3086100"/>
          </a:xfrm>
          <a:prstGeom prst="round2DiagRect">
            <a:avLst>
              <a:gd fmla="val 16667" name="adj1"/>
              <a:gd fmla="val 0" name="adj2"/>
            </a:avLst>
          </a:prstGeom>
          <a:solidFill>
            <a:srgbClr val="FF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89"/>
          <p:cNvSpPr txBox="1"/>
          <p:nvPr/>
        </p:nvSpPr>
        <p:spPr>
          <a:xfrm flipH="1">
            <a:off x="750575" y="2280675"/>
            <a:ext cx="2496300" cy="76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3800">
                <a:solidFill>
                  <a:srgbClr val="FFFFFF"/>
                </a:solidFill>
                <a:latin typeface="Luckiest Guy"/>
                <a:ea typeface="Luckiest Guy"/>
                <a:cs typeface="Luckiest Guy"/>
                <a:sym typeface="Luckiest Guy"/>
              </a:rPr>
              <a:t>women</a:t>
            </a:r>
            <a:endParaRPr sz="3300">
              <a:solidFill>
                <a:srgbClr val="FFFFFF"/>
              </a:solidFill>
            </a:endParaRPr>
          </a:p>
        </p:txBody>
      </p:sp>
      <p:sp>
        <p:nvSpPr>
          <p:cNvPr id="764" name="Google Shape;764;p89"/>
          <p:cNvSpPr/>
          <p:nvPr/>
        </p:nvSpPr>
        <p:spPr>
          <a:xfrm flipH="1" rot="-5400000">
            <a:off x="5939825" y="1177250"/>
            <a:ext cx="1261800" cy="3086100"/>
          </a:xfrm>
          <a:prstGeom prst="round2DiagRect">
            <a:avLst>
              <a:gd fmla="val 16667" name="adj1"/>
              <a:gd fmla="val 0" name="adj2"/>
            </a:avLst>
          </a:prstGeom>
          <a:solidFill>
            <a:srgbClr val="00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89"/>
          <p:cNvSpPr txBox="1"/>
          <p:nvPr/>
        </p:nvSpPr>
        <p:spPr>
          <a:xfrm flipH="1">
            <a:off x="5322575" y="2280675"/>
            <a:ext cx="2496300" cy="76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3800">
                <a:solidFill>
                  <a:srgbClr val="FFFFFF"/>
                </a:solidFill>
                <a:latin typeface="Luckiest Guy"/>
                <a:ea typeface="Luckiest Guy"/>
                <a:cs typeface="Luckiest Guy"/>
                <a:sym typeface="Luckiest Guy"/>
              </a:rPr>
              <a:t>men</a:t>
            </a:r>
            <a:endParaRPr sz="3300">
              <a:solidFill>
                <a:srgbClr val="FFFFFF"/>
              </a:solidFill>
            </a:endParaRPr>
          </a:p>
        </p:txBody>
      </p:sp>
      <p:sp>
        <p:nvSpPr>
          <p:cNvPr id="766" name="Google Shape;766;p89"/>
          <p:cNvSpPr txBox="1"/>
          <p:nvPr/>
        </p:nvSpPr>
        <p:spPr>
          <a:xfrm>
            <a:off x="455675" y="1161300"/>
            <a:ext cx="7900500" cy="677100"/>
          </a:xfrm>
          <a:prstGeom prst="rect">
            <a:avLst/>
          </a:prstGeom>
          <a:solidFill>
            <a:srgbClr val="BCF465"/>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ABeeZee"/>
                <a:ea typeface="ABeeZee"/>
                <a:cs typeface="ABeeZee"/>
                <a:sym typeface="ABeeZee"/>
              </a:rPr>
              <a:t>In pairs, pick three </a:t>
            </a:r>
            <a:r>
              <a:rPr lang="en-GB" sz="1600">
                <a:solidFill>
                  <a:schemeClr val="dk1"/>
                </a:solidFill>
                <a:latin typeface="ABeeZee"/>
                <a:ea typeface="ABeeZee"/>
                <a:cs typeface="ABeeZee"/>
                <a:sym typeface="ABeeZee"/>
              </a:rPr>
              <a:t>stereotype</a:t>
            </a:r>
            <a:r>
              <a:rPr lang="en-GB" sz="1600">
                <a:solidFill>
                  <a:schemeClr val="dk1"/>
                </a:solidFill>
                <a:latin typeface="ABeeZee"/>
                <a:ea typeface="ABeeZee"/>
                <a:cs typeface="ABeeZee"/>
                <a:sym typeface="ABeeZee"/>
              </a:rPr>
              <a:t> examples and write them down along with a reason why they are a problem</a:t>
            </a:r>
            <a:endParaRPr sz="1600">
              <a:solidFill>
                <a:schemeClr val="dk1"/>
              </a:solidFill>
              <a:latin typeface="ABeeZee"/>
              <a:ea typeface="ABeeZee"/>
              <a:cs typeface="ABeeZee"/>
              <a:sym typeface="ABeeZee"/>
            </a:endParaRPr>
          </a:p>
        </p:txBody>
      </p:sp>
      <p:sp>
        <p:nvSpPr>
          <p:cNvPr id="767" name="Google Shape;767;p89"/>
          <p:cNvSpPr txBox="1"/>
          <p:nvPr/>
        </p:nvSpPr>
        <p:spPr>
          <a:xfrm>
            <a:off x="455675" y="3980700"/>
            <a:ext cx="7900500" cy="923400"/>
          </a:xfrm>
          <a:prstGeom prst="rect">
            <a:avLst/>
          </a:prstGeom>
          <a:solidFill>
            <a:srgbClr val="FF99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ABeeZee"/>
                <a:ea typeface="ABeeZee"/>
                <a:cs typeface="ABeeZee"/>
                <a:sym typeface="ABeeZee"/>
              </a:rPr>
              <a:t>Feminism works to challenge these stereotypes so that men and women have more options and are more equal across contexts (work, home, in families, in sport, etc.).</a:t>
            </a:r>
            <a:endParaRPr sz="1600">
              <a:solidFill>
                <a:schemeClr val="dk1"/>
              </a:solidFill>
              <a:latin typeface="ABeeZee"/>
              <a:ea typeface="ABeeZee"/>
              <a:cs typeface="ABeeZee"/>
              <a:sym typeface="ABeeZe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pic>
        <p:nvPicPr>
          <p:cNvPr descr="AC Slides-01.jpeg" id="772" name="Google Shape;772;p90"/>
          <p:cNvPicPr preferRelativeResize="0"/>
          <p:nvPr/>
        </p:nvPicPr>
        <p:blipFill>
          <a:blip r:embed="rId3">
            <a:alphaModFix/>
          </a:blip>
          <a:stretch>
            <a:fillRect/>
          </a:stretch>
        </p:blipFill>
        <p:spPr>
          <a:xfrm>
            <a:off x="0" y="0"/>
            <a:ext cx="9144000" cy="5143500"/>
          </a:xfrm>
          <a:prstGeom prst="rect">
            <a:avLst/>
          </a:prstGeom>
          <a:noFill/>
          <a:ln>
            <a:noFill/>
          </a:ln>
        </p:spPr>
      </p:pic>
      <p:sp>
        <p:nvSpPr>
          <p:cNvPr id="773" name="Google Shape;773;p90"/>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90"/>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775" name="Google Shape;775;p90"/>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Do now - </a:t>
            </a:r>
            <a:r>
              <a:rPr lang="en-GB" sz="2500">
                <a:latin typeface="Luckiest Guy"/>
                <a:ea typeface="Luckiest Guy"/>
                <a:cs typeface="Luckiest Guy"/>
                <a:sym typeface="Luckiest Guy"/>
              </a:rPr>
              <a:t>In groups of three</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600">
                <a:solidFill>
                  <a:schemeClr val="dk1"/>
                </a:solidFill>
                <a:latin typeface="ABeeZee"/>
                <a:ea typeface="ABeeZee"/>
                <a:cs typeface="ABeeZee"/>
                <a:sym typeface="ABeeZee"/>
              </a:rPr>
              <a:t>Watch both these videos, then in your groups of three answer the questions on the provided worksheet.</a:t>
            </a:r>
            <a:endParaRPr sz="16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600">
                <a:solidFill>
                  <a:schemeClr val="dk1"/>
                </a:solidFill>
                <a:latin typeface="ABeeZee"/>
                <a:ea typeface="ABeeZee"/>
                <a:cs typeface="ABeeZee"/>
                <a:sym typeface="ABeeZee"/>
              </a:rPr>
              <a:t>Once you have completed the worksheet, share your answers with another group</a:t>
            </a:r>
            <a:endParaRPr sz="16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t/>
            </a:r>
            <a:endParaRPr sz="16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t/>
            </a:r>
            <a:endParaRPr sz="16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t/>
            </a:r>
            <a:endParaRPr sz="16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776" name="Google Shape;776;p90"/>
          <p:cNvSpPr/>
          <p:nvPr/>
        </p:nvSpPr>
        <p:spPr>
          <a:xfrm flipH="1" rot="10800000">
            <a:off x="218475" y="358875"/>
            <a:ext cx="2153400" cy="4377000"/>
          </a:xfrm>
          <a:prstGeom prst="round2DiagRect">
            <a:avLst>
              <a:gd fmla="val 16667" name="adj1"/>
              <a:gd fmla="val 0" name="adj2"/>
            </a:avLst>
          </a:prstGeom>
          <a:solidFill>
            <a:srgbClr val="FF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90"/>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feminism</a:t>
            </a:r>
            <a:endParaRPr sz="4100">
              <a:solidFill>
                <a:srgbClr val="FFFFFF"/>
              </a:solidFill>
            </a:endParaRPr>
          </a:p>
        </p:txBody>
      </p:sp>
      <p:pic>
        <p:nvPicPr>
          <p:cNvPr descr="Watch the UNRATED version only on VEVO: http://vevo.ly/W0OCcA&#10;&#10;Download the album in US now! http://smarturl.it/BlurredAlbum&#10;Click here for a special customized canvas of Blurred Lines: http://smarturl.it/CapThicke &#10;Watch him perform live on Interscope Introducing : http://smarturl.it/RTIntroducing&#10;&#10;Music video by Robin Thicke performing Blurred Lines. (C) 2013 Star Trak, LLC" id="778" name="Google Shape;778;p90" title="Robin Thicke - Blurred Lines ft. T.I., Pharrell">
            <a:hlinkClick r:id="rId4"/>
          </p:cNvPr>
          <p:cNvPicPr preferRelativeResize="0"/>
          <p:nvPr/>
        </p:nvPicPr>
        <p:blipFill>
          <a:blip r:embed="rId5">
            <a:alphaModFix/>
          </a:blip>
          <a:stretch>
            <a:fillRect/>
          </a:stretch>
        </p:blipFill>
        <p:spPr>
          <a:xfrm>
            <a:off x="2467425" y="2440250"/>
            <a:ext cx="3048000" cy="1714500"/>
          </a:xfrm>
          <a:prstGeom prst="rect">
            <a:avLst/>
          </a:prstGeom>
          <a:noFill/>
          <a:ln>
            <a:noFill/>
          </a:ln>
        </p:spPr>
      </p:pic>
      <p:pic>
        <p:nvPicPr>
          <p:cNvPr descr="A parody of Thicke's &quot;blurred lines&quot; (dubbed defined lines) made by the folks at Auckland Uni's law school! Hope it's not too controversial... Don't take the feminism too seriously guys&#10;&#10;&#10;Subscribe to keep up to date with the latest short comedy clips! Your one-stop-shop for a daily comedy fix!" id="779" name="Google Shape;779;p90" title="Thicke Parody - Defined lines (Auckland Uni Blurred Lines Parody)">
            <a:hlinkClick r:id="rId6"/>
          </p:cNvPr>
          <p:cNvPicPr preferRelativeResize="0"/>
          <p:nvPr/>
        </p:nvPicPr>
        <p:blipFill>
          <a:blip r:embed="rId7">
            <a:alphaModFix/>
          </a:blip>
          <a:stretch>
            <a:fillRect/>
          </a:stretch>
        </p:blipFill>
        <p:spPr>
          <a:xfrm>
            <a:off x="5878300" y="3080675"/>
            <a:ext cx="3048000" cy="1714500"/>
          </a:xfrm>
          <a:prstGeom prst="rect">
            <a:avLst/>
          </a:prstGeom>
          <a:noFill/>
          <a:ln>
            <a:noFill/>
          </a:ln>
        </p:spPr>
      </p:pic>
      <p:pic>
        <p:nvPicPr>
          <p:cNvPr descr="This timer silently counts down to 0:00, then alerts you that time is up with a gentle beep sound." id="780" name="Google Shape;780;p90" title="30 Minute Timer">
            <a:hlinkClick r:id="rId8"/>
          </p:cNvPr>
          <p:cNvPicPr preferRelativeResize="0"/>
          <p:nvPr/>
        </p:nvPicPr>
        <p:blipFill>
          <a:blip r:embed="rId9">
            <a:alphaModFix/>
          </a:blip>
          <a:stretch>
            <a:fillRect/>
          </a:stretch>
        </p:blipFill>
        <p:spPr>
          <a:xfrm>
            <a:off x="7620000" y="0"/>
            <a:ext cx="1524000" cy="857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8"/>
                                        </p:tgtEl>
                                        <p:attrNameLst>
                                          <p:attrName>style.visibility</p:attrName>
                                        </p:attrNameLst>
                                      </p:cBhvr>
                                      <p:to>
                                        <p:strVal val="visible"/>
                                      </p:to>
                                    </p:set>
                                    <p:animEffect filter="fade" transition="in">
                                      <p:cBhvr>
                                        <p:cTn dur="1000"/>
                                        <p:tgtEl>
                                          <p:spTgt spid="7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9"/>
                                        </p:tgtEl>
                                        <p:attrNameLst>
                                          <p:attrName>style.visibility</p:attrName>
                                        </p:attrNameLst>
                                      </p:cBhvr>
                                      <p:to>
                                        <p:strVal val="visible"/>
                                      </p:to>
                                    </p:set>
                                    <p:animEffect filter="fade" transition="in">
                                      <p:cBhvr>
                                        <p:cTn dur="1000"/>
                                        <p:tgtEl>
                                          <p:spTgt spid="7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gtEl>
                                        <p:attrNameLst>
                                          <p:attrName>style.visibility</p:attrName>
                                        </p:attrNameLst>
                                      </p:cBhvr>
                                      <p:to>
                                        <p:strVal val="visible"/>
                                      </p:to>
                                    </p:set>
                                    <p:animEffect filter="fade" transition="in">
                                      <p:cBhvr>
                                        <p:cTn dur="1000"/>
                                        <p:tgtEl>
                                          <p:spTgt spid="7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pic>
        <p:nvPicPr>
          <p:cNvPr descr="AC Slides-01.jpeg" id="785" name="Google Shape;785;p91"/>
          <p:cNvPicPr preferRelativeResize="0"/>
          <p:nvPr/>
        </p:nvPicPr>
        <p:blipFill>
          <a:blip r:embed="rId3">
            <a:alphaModFix/>
          </a:blip>
          <a:stretch>
            <a:fillRect/>
          </a:stretch>
        </p:blipFill>
        <p:spPr>
          <a:xfrm>
            <a:off x="0" y="0"/>
            <a:ext cx="9144000" cy="5143500"/>
          </a:xfrm>
          <a:prstGeom prst="rect">
            <a:avLst/>
          </a:prstGeom>
          <a:noFill/>
          <a:ln>
            <a:noFill/>
          </a:ln>
        </p:spPr>
      </p:pic>
      <p:sp>
        <p:nvSpPr>
          <p:cNvPr id="786" name="Google Shape;786;p91"/>
          <p:cNvSpPr txBox="1"/>
          <p:nvPr/>
        </p:nvSpPr>
        <p:spPr>
          <a:xfrm>
            <a:off x="2371875" y="357225"/>
            <a:ext cx="66990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Luckiest Guy"/>
                <a:ea typeface="Luckiest Guy"/>
                <a:cs typeface="Luckiest Guy"/>
                <a:sym typeface="Luckiest Guy"/>
              </a:rPr>
              <a:t>reflection</a:t>
            </a:r>
            <a:endParaRPr sz="2800">
              <a:solidFill>
                <a:schemeClr val="dk1"/>
              </a:solidFill>
              <a:latin typeface="Luckiest Guy"/>
              <a:ea typeface="Luckiest Guy"/>
              <a:cs typeface="Luckiest Guy"/>
              <a:sym typeface="Luckiest Guy"/>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(a) How do these media messages affect me and my friends?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(b) Why are some media messages about gender a problem?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(c) Has this activity made me think differently about how music videos represent gender?</a:t>
            </a:r>
            <a:endParaRPr sz="1600">
              <a:solidFill>
                <a:schemeClr val="dk1"/>
              </a:solidFill>
              <a:latin typeface="ABeeZee"/>
              <a:ea typeface="ABeeZee"/>
              <a:cs typeface="ABeeZee"/>
              <a:sym typeface="ABeeZee"/>
            </a:endParaRPr>
          </a:p>
        </p:txBody>
      </p:sp>
      <p:sp>
        <p:nvSpPr>
          <p:cNvPr id="787" name="Google Shape;787;p91"/>
          <p:cNvSpPr/>
          <p:nvPr/>
        </p:nvSpPr>
        <p:spPr>
          <a:xfrm flipH="1" rot="10800000">
            <a:off x="154450" y="383250"/>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91"/>
          <p:cNvSpPr txBox="1"/>
          <p:nvPr/>
        </p:nvSpPr>
        <p:spPr>
          <a:xfrm flipH="1" rot="-5400000">
            <a:off x="-8070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reflection</a:t>
            </a:r>
            <a:endParaRPr sz="4100">
              <a:solidFill>
                <a:srgbClr val="FFFFFF"/>
              </a:solidFill>
            </a:endParaRPr>
          </a:p>
        </p:txBody>
      </p:sp>
      <p:pic>
        <p:nvPicPr>
          <p:cNvPr id="789" name="Google Shape;789;p91"/>
          <p:cNvPicPr preferRelativeResize="0"/>
          <p:nvPr/>
        </p:nvPicPr>
        <p:blipFill>
          <a:blip r:embed="rId4">
            <a:alphaModFix/>
          </a:blip>
          <a:stretch>
            <a:fillRect/>
          </a:stretch>
        </p:blipFill>
        <p:spPr>
          <a:xfrm>
            <a:off x="4357175" y="1996250"/>
            <a:ext cx="2795225" cy="2863674"/>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pic>
        <p:nvPicPr>
          <p:cNvPr descr="AC Slides-01.jpeg" id="794" name="Google Shape;794;p92"/>
          <p:cNvPicPr preferRelativeResize="0"/>
          <p:nvPr/>
        </p:nvPicPr>
        <p:blipFill>
          <a:blip r:embed="rId3">
            <a:alphaModFix/>
          </a:blip>
          <a:stretch>
            <a:fillRect/>
          </a:stretch>
        </p:blipFill>
        <p:spPr>
          <a:xfrm>
            <a:off x="0" y="0"/>
            <a:ext cx="9144000" cy="5143500"/>
          </a:xfrm>
          <a:prstGeom prst="rect">
            <a:avLst/>
          </a:prstGeom>
          <a:noFill/>
          <a:ln>
            <a:noFill/>
          </a:ln>
        </p:spPr>
      </p:pic>
      <p:sp>
        <p:nvSpPr>
          <p:cNvPr id="795" name="Google Shape;795;p92"/>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92"/>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797" name="Google Shape;797;p92"/>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In groups of three</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600">
                <a:solidFill>
                  <a:schemeClr val="dk1"/>
                </a:solidFill>
                <a:latin typeface="ABeeZee"/>
                <a:ea typeface="ABeeZee"/>
                <a:cs typeface="ABeeZee"/>
                <a:sym typeface="ABeeZee"/>
              </a:rPr>
              <a:t>Watch both these videos, then in your groups of three answer the questions on the provided worksheet.</a:t>
            </a:r>
            <a:endParaRPr sz="16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600">
                <a:solidFill>
                  <a:schemeClr val="dk1"/>
                </a:solidFill>
                <a:latin typeface="ABeeZee"/>
                <a:ea typeface="ABeeZee"/>
                <a:cs typeface="ABeeZee"/>
                <a:sym typeface="ABeeZee"/>
              </a:rPr>
              <a:t>Once you have completed the worksheet, share your answers with another group</a:t>
            </a:r>
            <a:endParaRPr sz="16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t/>
            </a:r>
            <a:endParaRPr sz="16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t/>
            </a:r>
            <a:endParaRPr sz="16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t/>
            </a:r>
            <a:endParaRPr sz="16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798" name="Google Shape;798;p92"/>
          <p:cNvSpPr/>
          <p:nvPr/>
        </p:nvSpPr>
        <p:spPr>
          <a:xfrm flipH="1" rot="10800000">
            <a:off x="218475" y="358875"/>
            <a:ext cx="2153400" cy="4377000"/>
          </a:xfrm>
          <a:prstGeom prst="round2DiagRect">
            <a:avLst>
              <a:gd fmla="val 16667" name="adj1"/>
              <a:gd fmla="val 0" name="adj2"/>
            </a:avLst>
          </a:prstGeom>
          <a:solidFill>
            <a:srgbClr val="FF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92"/>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feminism</a:t>
            </a:r>
            <a:endParaRPr sz="4100">
              <a:solidFill>
                <a:srgbClr val="FFFFFF"/>
              </a:solidFill>
            </a:endParaRPr>
          </a:p>
        </p:txBody>
      </p:sp>
      <p:pic>
        <p:nvPicPr>
          <p:cNvPr descr="Watch the UNRATED version only on VEVO: http://vevo.ly/W0OCcA&#10;&#10;Download the album in US now! http://smarturl.it/BlurredAlbum&#10;Click here for a special customized canvas of Blurred Lines: http://smarturl.it/CapThicke &#10;Watch him perform live on Interscope Introducing : http://smarturl.it/RTIntroducing&#10;&#10;Music video by Robin Thicke performing Blurred Lines. (C) 2013 Star Trak, LLC" id="800" name="Google Shape;800;p92" title="Robin Thicke - Blurred Lines ft. T.I., Pharrell">
            <a:hlinkClick r:id="rId4"/>
          </p:cNvPr>
          <p:cNvPicPr preferRelativeResize="0"/>
          <p:nvPr/>
        </p:nvPicPr>
        <p:blipFill>
          <a:blip r:embed="rId5">
            <a:alphaModFix/>
          </a:blip>
          <a:stretch>
            <a:fillRect/>
          </a:stretch>
        </p:blipFill>
        <p:spPr>
          <a:xfrm>
            <a:off x="2467425" y="2440250"/>
            <a:ext cx="3048000" cy="1714500"/>
          </a:xfrm>
          <a:prstGeom prst="rect">
            <a:avLst/>
          </a:prstGeom>
          <a:noFill/>
          <a:ln>
            <a:noFill/>
          </a:ln>
        </p:spPr>
      </p:pic>
      <p:pic>
        <p:nvPicPr>
          <p:cNvPr descr="A parody of Thicke's &quot;blurred lines&quot; (dubbed defined lines) made by the folks at Auckland Uni's law school! Hope it's not too controversial... Don't take the feminism too seriously guys&#10;&#10;&#10;Subscribe to keep up to date with the latest short comedy clips! Your one-stop-shop for a daily comedy fix!" id="801" name="Google Shape;801;p92" title="Thicke Parody - Defined lines (Auckland Uni Blurred Lines Parody)">
            <a:hlinkClick r:id="rId6"/>
          </p:cNvPr>
          <p:cNvPicPr preferRelativeResize="0"/>
          <p:nvPr/>
        </p:nvPicPr>
        <p:blipFill>
          <a:blip r:embed="rId7">
            <a:alphaModFix/>
          </a:blip>
          <a:stretch>
            <a:fillRect/>
          </a:stretch>
        </p:blipFill>
        <p:spPr>
          <a:xfrm>
            <a:off x="5878300" y="3080675"/>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0"/>
                                        </p:tgtEl>
                                        <p:attrNameLst>
                                          <p:attrName>style.visibility</p:attrName>
                                        </p:attrNameLst>
                                      </p:cBhvr>
                                      <p:to>
                                        <p:strVal val="visible"/>
                                      </p:to>
                                    </p:set>
                                    <p:animEffect filter="fade" transition="in">
                                      <p:cBhvr>
                                        <p:cTn dur="1000"/>
                                        <p:tgtEl>
                                          <p:spTgt spid="8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1"/>
                                        </p:tgtEl>
                                        <p:attrNameLst>
                                          <p:attrName>style.visibility</p:attrName>
                                        </p:attrNameLst>
                                      </p:cBhvr>
                                      <p:to>
                                        <p:strVal val="visible"/>
                                      </p:to>
                                    </p:set>
                                    <p:animEffect filter="fade" transition="in">
                                      <p:cBhvr>
                                        <p:cTn dur="1000"/>
                                        <p:tgtEl>
                                          <p:spTgt spid="8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pic>
        <p:nvPicPr>
          <p:cNvPr descr="AC Slides-01.jpeg" id="806" name="Google Shape;806;p93"/>
          <p:cNvPicPr preferRelativeResize="0"/>
          <p:nvPr/>
        </p:nvPicPr>
        <p:blipFill>
          <a:blip r:embed="rId3">
            <a:alphaModFix/>
          </a:blip>
          <a:stretch>
            <a:fillRect/>
          </a:stretch>
        </p:blipFill>
        <p:spPr>
          <a:xfrm>
            <a:off x="0" y="0"/>
            <a:ext cx="9144000" cy="5143500"/>
          </a:xfrm>
          <a:prstGeom prst="rect">
            <a:avLst/>
          </a:prstGeom>
          <a:noFill/>
          <a:ln>
            <a:noFill/>
          </a:ln>
        </p:spPr>
      </p:pic>
      <p:sp>
        <p:nvSpPr>
          <p:cNvPr id="807" name="Google Shape;807;p93"/>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93"/>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809" name="Google Shape;809;p93"/>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Learning intention</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600">
                <a:solidFill>
                  <a:schemeClr val="dk1"/>
                </a:solidFill>
                <a:latin typeface="ABeeZee"/>
                <a:ea typeface="ABeeZee"/>
                <a:cs typeface="ABeeZee"/>
                <a:sym typeface="ABeeZee"/>
              </a:rPr>
              <a:t>T</a:t>
            </a:r>
            <a:r>
              <a:rPr lang="en-GB" sz="1800">
                <a:solidFill>
                  <a:schemeClr val="dk1"/>
                </a:solidFill>
                <a:latin typeface="ABeeZee"/>
                <a:ea typeface="ABeeZee"/>
                <a:cs typeface="ABeeZee"/>
                <a:sym typeface="ABeeZee"/>
              </a:rPr>
              <a:t>o build knowledge and make sense of the impacts of pornography</a:t>
            </a:r>
            <a:endParaRPr sz="2500">
              <a:latin typeface="Luckiest Guy"/>
              <a:ea typeface="Luckiest Guy"/>
              <a:cs typeface="Luckiest Guy"/>
              <a:sym typeface="Luckiest Guy"/>
            </a:endParaRPr>
          </a:p>
          <a:p>
            <a:pPr indent="0" lvl="0" marL="0" rtl="0" algn="l">
              <a:spcBef>
                <a:spcPts val="1200"/>
              </a:spcBef>
              <a:spcAft>
                <a:spcPts val="0"/>
              </a:spcAft>
              <a:buNone/>
            </a:pPr>
            <a:r>
              <a:t/>
            </a:r>
            <a:endParaRPr b="1" sz="2300">
              <a:latin typeface="Jost"/>
              <a:ea typeface="Jost"/>
              <a:cs typeface="Jost"/>
              <a:sym typeface="Jost"/>
            </a:endParaRPr>
          </a:p>
          <a:p>
            <a:pPr indent="0" lvl="0" marL="0" rtl="0" algn="l">
              <a:spcBef>
                <a:spcPts val="0"/>
              </a:spcBef>
              <a:spcAft>
                <a:spcPts val="0"/>
              </a:spcAft>
              <a:buNone/>
            </a:pPr>
            <a:r>
              <a:rPr lang="en-GB" sz="2500">
                <a:solidFill>
                  <a:schemeClr val="dk1"/>
                </a:solidFill>
                <a:latin typeface="Luckiest Guy"/>
                <a:ea typeface="Luckiest Guy"/>
                <a:cs typeface="Luckiest Guy"/>
                <a:sym typeface="Luckiest Guy"/>
              </a:rPr>
              <a:t>Success criteria</a:t>
            </a:r>
            <a:endParaRPr sz="1700">
              <a:solidFill>
                <a:schemeClr val="dk1"/>
              </a:solidFill>
              <a:latin typeface="Jost"/>
              <a:ea typeface="Jost"/>
              <a:cs typeface="Jost"/>
              <a:sym typeface="Jost"/>
            </a:endParaRPr>
          </a:p>
          <a:p>
            <a:pPr indent="-336550" lvl="0" marL="457200" rtl="0" algn="l">
              <a:lnSpc>
                <a:spcPct val="115000"/>
              </a:lnSpc>
              <a:spcBef>
                <a:spcPts val="1200"/>
              </a:spcBef>
              <a:spcAft>
                <a:spcPts val="0"/>
              </a:spcAft>
              <a:buClr>
                <a:schemeClr val="dk1"/>
              </a:buClr>
              <a:buSzPts val="1700"/>
              <a:buFont typeface="ABeeZee"/>
              <a:buChar char="●"/>
            </a:pPr>
            <a:r>
              <a:rPr lang="en-GB" sz="1700">
                <a:solidFill>
                  <a:schemeClr val="dk1"/>
                </a:solidFill>
                <a:latin typeface="ABeeZee"/>
                <a:ea typeface="ABeeZee"/>
                <a:cs typeface="ABeeZee"/>
                <a:sym typeface="ABeeZee"/>
              </a:rPr>
              <a:t>Identify issues related to the use of pornography</a:t>
            </a:r>
            <a:endParaRPr sz="1700">
              <a:solidFill>
                <a:schemeClr val="dk1"/>
              </a:solidFill>
              <a:latin typeface="ABeeZee"/>
              <a:ea typeface="ABeeZee"/>
              <a:cs typeface="ABeeZee"/>
              <a:sym typeface="ABeeZee"/>
            </a:endParaRPr>
          </a:p>
          <a:p>
            <a:pPr indent="0" lvl="0" marL="457200" rtl="0" algn="l">
              <a:lnSpc>
                <a:spcPct val="115000"/>
              </a:lnSpc>
              <a:spcBef>
                <a:spcPts val="1200"/>
              </a:spcBef>
              <a:spcAft>
                <a:spcPts val="0"/>
              </a:spcAft>
              <a:buNone/>
            </a:pPr>
            <a:r>
              <a:t/>
            </a:r>
            <a:endParaRPr sz="17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810" name="Google Shape;810;p93"/>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93"/>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pic>
        <p:nvPicPr>
          <p:cNvPr descr="AC Slides-01.jpeg" id="816" name="Google Shape;816;p94"/>
          <p:cNvPicPr preferRelativeResize="0"/>
          <p:nvPr/>
        </p:nvPicPr>
        <p:blipFill>
          <a:blip r:embed="rId3">
            <a:alphaModFix/>
          </a:blip>
          <a:stretch>
            <a:fillRect/>
          </a:stretch>
        </p:blipFill>
        <p:spPr>
          <a:xfrm>
            <a:off x="0" y="0"/>
            <a:ext cx="9144000" cy="5143500"/>
          </a:xfrm>
          <a:prstGeom prst="rect">
            <a:avLst/>
          </a:prstGeom>
          <a:noFill/>
          <a:ln>
            <a:noFill/>
          </a:ln>
        </p:spPr>
      </p:pic>
      <p:sp>
        <p:nvSpPr>
          <p:cNvPr id="817" name="Google Shape;817;p94"/>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94"/>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819" name="Google Shape;819;p94"/>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history</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t/>
            </a:r>
            <a:endParaRPr sz="1700">
              <a:solidFill>
                <a:schemeClr val="dk1"/>
              </a:solidFill>
              <a:latin typeface="ABeeZee"/>
              <a:ea typeface="ABeeZee"/>
              <a:cs typeface="ABeeZee"/>
              <a:sym typeface="ABeeZee"/>
            </a:endParaRPr>
          </a:p>
          <a:p>
            <a:pPr indent="0" lvl="0" marL="457200" rtl="0" algn="l">
              <a:lnSpc>
                <a:spcPct val="115000"/>
              </a:lnSpc>
              <a:spcBef>
                <a:spcPts val="1200"/>
              </a:spcBef>
              <a:spcAft>
                <a:spcPts val="0"/>
              </a:spcAft>
              <a:buNone/>
            </a:pPr>
            <a:r>
              <a:t/>
            </a:r>
            <a:endParaRPr sz="17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820" name="Google Shape;820;p94"/>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94"/>
          <p:cNvSpPr txBox="1"/>
          <p:nvPr/>
        </p:nvSpPr>
        <p:spPr>
          <a:xfrm flipH="1" rot="-5400000">
            <a:off x="-685375" y="2156100"/>
            <a:ext cx="39726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200">
                <a:solidFill>
                  <a:srgbClr val="FFFFFF"/>
                </a:solidFill>
                <a:latin typeface="Luckiest Guy"/>
                <a:ea typeface="Luckiest Guy"/>
                <a:cs typeface="Luckiest Guy"/>
                <a:sym typeface="Luckiest Guy"/>
              </a:rPr>
              <a:t>pornography</a:t>
            </a:r>
            <a:endParaRPr sz="3700">
              <a:solidFill>
                <a:srgbClr val="FFFFFF"/>
              </a:solidFill>
            </a:endParaRPr>
          </a:p>
        </p:txBody>
      </p:sp>
      <p:pic>
        <p:nvPicPr>
          <p:cNvPr id="822" name="Google Shape;822;p94"/>
          <p:cNvPicPr preferRelativeResize="0"/>
          <p:nvPr/>
        </p:nvPicPr>
        <p:blipFill>
          <a:blip r:embed="rId4">
            <a:alphaModFix/>
          </a:blip>
          <a:stretch>
            <a:fillRect/>
          </a:stretch>
        </p:blipFill>
        <p:spPr>
          <a:xfrm>
            <a:off x="2445077" y="894125"/>
            <a:ext cx="4271074" cy="3919876"/>
          </a:xfrm>
          <a:prstGeom prst="rect">
            <a:avLst/>
          </a:prstGeom>
          <a:noFill/>
          <a:ln>
            <a:noFill/>
          </a:ln>
        </p:spPr>
      </p:pic>
      <p:sp>
        <p:nvSpPr>
          <p:cNvPr id="823" name="Google Shape;823;p94"/>
          <p:cNvSpPr/>
          <p:nvPr/>
        </p:nvSpPr>
        <p:spPr>
          <a:xfrm>
            <a:off x="4478775" y="4142350"/>
            <a:ext cx="1896900" cy="595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4" name="Google Shape;824;p94"/>
          <p:cNvSpPr/>
          <p:nvPr/>
        </p:nvSpPr>
        <p:spPr>
          <a:xfrm>
            <a:off x="2694900" y="4294750"/>
            <a:ext cx="1896900" cy="595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pic>
        <p:nvPicPr>
          <p:cNvPr descr="AC Slides-01.jpeg" id="829" name="Google Shape;829;p95"/>
          <p:cNvPicPr preferRelativeResize="0"/>
          <p:nvPr/>
        </p:nvPicPr>
        <p:blipFill>
          <a:blip r:embed="rId3">
            <a:alphaModFix/>
          </a:blip>
          <a:stretch>
            <a:fillRect/>
          </a:stretch>
        </p:blipFill>
        <p:spPr>
          <a:xfrm>
            <a:off x="0" y="0"/>
            <a:ext cx="9144000" cy="5143500"/>
          </a:xfrm>
          <a:prstGeom prst="rect">
            <a:avLst/>
          </a:prstGeom>
          <a:noFill/>
          <a:ln>
            <a:noFill/>
          </a:ln>
        </p:spPr>
      </p:pic>
      <p:sp>
        <p:nvSpPr>
          <p:cNvPr id="830" name="Google Shape;830;p95"/>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95"/>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832" name="Google Shape;832;p95"/>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history</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t/>
            </a:r>
            <a:endParaRPr sz="1700">
              <a:solidFill>
                <a:schemeClr val="dk1"/>
              </a:solidFill>
              <a:latin typeface="ABeeZee"/>
              <a:ea typeface="ABeeZee"/>
              <a:cs typeface="ABeeZee"/>
              <a:sym typeface="ABeeZee"/>
            </a:endParaRPr>
          </a:p>
          <a:p>
            <a:pPr indent="0" lvl="0" marL="457200" rtl="0" algn="l">
              <a:lnSpc>
                <a:spcPct val="115000"/>
              </a:lnSpc>
              <a:spcBef>
                <a:spcPts val="1200"/>
              </a:spcBef>
              <a:spcAft>
                <a:spcPts val="0"/>
              </a:spcAft>
              <a:buNone/>
            </a:pPr>
            <a:r>
              <a:t/>
            </a:r>
            <a:endParaRPr sz="17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833" name="Google Shape;833;p95"/>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95"/>
          <p:cNvSpPr txBox="1"/>
          <p:nvPr/>
        </p:nvSpPr>
        <p:spPr>
          <a:xfrm flipH="1" rot="-5400000">
            <a:off x="-685375" y="2156100"/>
            <a:ext cx="39726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200">
                <a:solidFill>
                  <a:srgbClr val="FFFFFF"/>
                </a:solidFill>
                <a:latin typeface="Luckiest Guy"/>
                <a:ea typeface="Luckiest Guy"/>
                <a:cs typeface="Luckiest Guy"/>
                <a:sym typeface="Luckiest Guy"/>
              </a:rPr>
              <a:t>pornography</a:t>
            </a:r>
            <a:endParaRPr sz="3700">
              <a:solidFill>
                <a:srgbClr val="FFFFFF"/>
              </a:solidFill>
            </a:endParaRPr>
          </a:p>
        </p:txBody>
      </p:sp>
      <p:pic>
        <p:nvPicPr>
          <p:cNvPr id="835" name="Google Shape;835;p95"/>
          <p:cNvPicPr preferRelativeResize="0"/>
          <p:nvPr/>
        </p:nvPicPr>
        <p:blipFill>
          <a:blip r:embed="rId4">
            <a:alphaModFix/>
          </a:blip>
          <a:stretch>
            <a:fillRect/>
          </a:stretch>
        </p:blipFill>
        <p:spPr>
          <a:xfrm>
            <a:off x="2427775" y="944400"/>
            <a:ext cx="5078524" cy="3854312"/>
          </a:xfrm>
          <a:prstGeom prst="rect">
            <a:avLst/>
          </a:prstGeom>
          <a:noFill/>
          <a:ln>
            <a:noFill/>
          </a:ln>
        </p:spPr>
      </p:pic>
      <p:sp>
        <p:nvSpPr>
          <p:cNvPr id="836" name="Google Shape;836;p95"/>
          <p:cNvSpPr/>
          <p:nvPr/>
        </p:nvSpPr>
        <p:spPr>
          <a:xfrm>
            <a:off x="5864975" y="1746925"/>
            <a:ext cx="1617300" cy="267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7" name="Google Shape;837;p95"/>
          <p:cNvSpPr/>
          <p:nvPr/>
        </p:nvSpPr>
        <p:spPr>
          <a:xfrm>
            <a:off x="2807250" y="1960125"/>
            <a:ext cx="1617300" cy="267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pic>
        <p:nvPicPr>
          <p:cNvPr descr="AC Slides-01.jpeg" id="842" name="Google Shape;842;p96"/>
          <p:cNvPicPr preferRelativeResize="0"/>
          <p:nvPr/>
        </p:nvPicPr>
        <p:blipFill>
          <a:blip r:embed="rId3">
            <a:alphaModFix/>
          </a:blip>
          <a:stretch>
            <a:fillRect/>
          </a:stretch>
        </p:blipFill>
        <p:spPr>
          <a:xfrm>
            <a:off x="0" y="0"/>
            <a:ext cx="9144000" cy="5143500"/>
          </a:xfrm>
          <a:prstGeom prst="rect">
            <a:avLst/>
          </a:prstGeom>
          <a:noFill/>
          <a:ln>
            <a:noFill/>
          </a:ln>
        </p:spPr>
      </p:pic>
      <p:sp>
        <p:nvSpPr>
          <p:cNvPr id="843" name="Google Shape;843;p96"/>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96"/>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845" name="Google Shape;845;p96"/>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Current state</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500">
                <a:solidFill>
                  <a:schemeClr val="dk1"/>
                </a:solidFill>
                <a:latin typeface="ABeeZee"/>
                <a:ea typeface="ABeeZee"/>
                <a:cs typeface="ABeeZee"/>
                <a:sym typeface="ABeeZee"/>
              </a:rPr>
              <a:t>P</a:t>
            </a:r>
            <a:r>
              <a:rPr lang="en-GB" sz="1600">
                <a:solidFill>
                  <a:schemeClr val="dk1"/>
                </a:solidFill>
                <a:latin typeface="ABeeZee"/>
                <a:ea typeface="ABeeZee"/>
                <a:cs typeface="ABeeZee"/>
                <a:sym typeface="ABeeZee"/>
              </a:rPr>
              <a:t>ornography …. is defined as sexual action which depicts harm towards another human being ie degrades, violates, connects violence with sex, or involves the use of power over another individual or a group</a:t>
            </a:r>
            <a:endParaRPr sz="16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t/>
            </a:r>
            <a:endParaRPr sz="1600">
              <a:solidFill>
                <a:schemeClr val="dk1"/>
              </a:solidFill>
              <a:latin typeface="ABeeZee"/>
              <a:ea typeface="ABeeZee"/>
              <a:cs typeface="ABeeZee"/>
              <a:sym typeface="ABeeZee"/>
            </a:endParaRPr>
          </a:p>
          <a:p>
            <a:pPr indent="0" lvl="0" marL="0" rtl="0" algn="l">
              <a:spcBef>
                <a:spcPts val="1200"/>
              </a:spcBef>
              <a:spcAft>
                <a:spcPts val="0"/>
              </a:spcAft>
              <a:buNone/>
            </a:pPr>
            <a:r>
              <a:t/>
            </a:r>
            <a:endParaRPr sz="1600">
              <a:latin typeface="ABeeZee"/>
              <a:ea typeface="ABeeZee"/>
              <a:cs typeface="ABeeZee"/>
              <a:sym typeface="ABeeZee"/>
            </a:endParaRPr>
          </a:p>
          <a:p>
            <a:pPr indent="0" lvl="0" marL="0" rtl="0" algn="l">
              <a:spcBef>
                <a:spcPts val="0"/>
              </a:spcBef>
              <a:spcAft>
                <a:spcPts val="0"/>
              </a:spcAft>
              <a:buNone/>
            </a:pPr>
            <a:r>
              <a:t/>
            </a:r>
            <a:endParaRPr sz="1600">
              <a:latin typeface="ABeeZee"/>
              <a:ea typeface="ABeeZee"/>
              <a:cs typeface="ABeeZee"/>
              <a:sym typeface="ABeeZee"/>
            </a:endParaRPr>
          </a:p>
          <a:p>
            <a:pPr indent="0" lvl="0" marL="0" rtl="0" algn="l">
              <a:spcBef>
                <a:spcPts val="0"/>
              </a:spcBef>
              <a:spcAft>
                <a:spcPts val="0"/>
              </a:spcAft>
              <a:buNone/>
            </a:pPr>
            <a:r>
              <a:t/>
            </a:r>
            <a:endParaRPr sz="1600">
              <a:latin typeface="ABeeZee"/>
              <a:ea typeface="ABeeZee"/>
              <a:cs typeface="ABeeZee"/>
              <a:sym typeface="ABeeZee"/>
            </a:endParaRPr>
          </a:p>
          <a:p>
            <a:pPr indent="0" lvl="0" marL="0" rtl="0" algn="l">
              <a:spcBef>
                <a:spcPts val="0"/>
              </a:spcBef>
              <a:spcAft>
                <a:spcPts val="0"/>
              </a:spcAft>
              <a:buNone/>
            </a:pPr>
            <a:r>
              <a:t/>
            </a:r>
            <a:endParaRPr sz="1600">
              <a:latin typeface="ABeeZee"/>
              <a:ea typeface="ABeeZee"/>
              <a:cs typeface="ABeeZee"/>
              <a:sym typeface="ABeeZee"/>
            </a:endParaRPr>
          </a:p>
          <a:p>
            <a:pPr indent="0" lvl="0" marL="0" rtl="0" algn="l">
              <a:spcBef>
                <a:spcPts val="0"/>
              </a:spcBef>
              <a:spcAft>
                <a:spcPts val="0"/>
              </a:spcAft>
              <a:buNone/>
            </a:pPr>
            <a:r>
              <a:rPr b="1" lang="en-GB" sz="1600">
                <a:latin typeface="ABeeZee"/>
                <a:ea typeface="ABeeZee"/>
                <a:cs typeface="ABeeZee"/>
                <a:sym typeface="ABeeZee"/>
              </a:rPr>
              <a:t>Sources: </a:t>
            </a:r>
            <a:br>
              <a:rPr lang="en-GB" sz="1600">
                <a:latin typeface="ABeeZee"/>
                <a:ea typeface="ABeeZee"/>
                <a:cs typeface="ABeeZee"/>
                <a:sym typeface="ABeeZee"/>
              </a:rPr>
            </a:br>
            <a:r>
              <a:rPr lang="en-GB" sz="1600">
                <a:latin typeface="ABeeZee"/>
                <a:ea typeface="ABeeZee"/>
                <a:cs typeface="ABeeZee"/>
                <a:sym typeface="ABeeZee"/>
              </a:rPr>
              <a:t>Social and Ethical Issues in Sexuality Education by Gillian Tasker et al. (Christchurch College of Education, 2000, and revised 2004)</a:t>
            </a:r>
            <a:r>
              <a:rPr lang="en-GB" sz="1500">
                <a:latin typeface="ABeeZee"/>
                <a:ea typeface="ABeeZee"/>
                <a:cs typeface="ABeeZee"/>
                <a:sym typeface="ABeeZee"/>
              </a:rPr>
              <a:t> </a:t>
            </a:r>
            <a:endParaRPr sz="1500">
              <a:latin typeface="ABeeZee"/>
              <a:ea typeface="ABeeZee"/>
              <a:cs typeface="ABeeZee"/>
              <a:sym typeface="ABeeZee"/>
            </a:endParaRPr>
          </a:p>
        </p:txBody>
      </p:sp>
      <p:sp>
        <p:nvSpPr>
          <p:cNvPr id="846" name="Google Shape;846;p96"/>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96"/>
          <p:cNvSpPr txBox="1"/>
          <p:nvPr/>
        </p:nvSpPr>
        <p:spPr>
          <a:xfrm flipH="1" rot="-5400000">
            <a:off x="-685375" y="2156100"/>
            <a:ext cx="39726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200">
                <a:solidFill>
                  <a:srgbClr val="FFFFFF"/>
                </a:solidFill>
                <a:latin typeface="Luckiest Guy"/>
                <a:ea typeface="Luckiest Guy"/>
                <a:cs typeface="Luckiest Guy"/>
                <a:sym typeface="Luckiest Guy"/>
              </a:rPr>
              <a:t>pornography</a:t>
            </a:r>
            <a:endParaRPr sz="3700">
              <a:solidFill>
                <a:srgbClr val="FFFFFF"/>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pic>
        <p:nvPicPr>
          <p:cNvPr descr="AC Slides-01.jpeg" id="852" name="Google Shape;852;p97"/>
          <p:cNvPicPr preferRelativeResize="0"/>
          <p:nvPr/>
        </p:nvPicPr>
        <p:blipFill>
          <a:blip r:embed="rId3">
            <a:alphaModFix/>
          </a:blip>
          <a:stretch>
            <a:fillRect/>
          </a:stretch>
        </p:blipFill>
        <p:spPr>
          <a:xfrm>
            <a:off x="0" y="0"/>
            <a:ext cx="9144000" cy="5143500"/>
          </a:xfrm>
          <a:prstGeom prst="rect">
            <a:avLst/>
          </a:prstGeom>
          <a:noFill/>
          <a:ln>
            <a:noFill/>
          </a:ln>
        </p:spPr>
      </p:pic>
      <p:sp>
        <p:nvSpPr>
          <p:cNvPr id="853" name="Google Shape;853;p97"/>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97"/>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855" name="Google Shape;855;p97"/>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Current state</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a:solidFill>
                  <a:schemeClr val="dk1"/>
                </a:solidFill>
                <a:latin typeface="ABeeZee"/>
                <a:ea typeface="ABeeZee"/>
                <a:cs typeface="ABeeZee"/>
                <a:sym typeface="ABeeZee"/>
              </a:rPr>
              <a:t>“</a:t>
            </a:r>
            <a:r>
              <a:rPr lang="en-GB" sz="1600">
                <a:solidFill>
                  <a:schemeClr val="dk1"/>
                </a:solidFill>
                <a:latin typeface="ABeeZee"/>
                <a:ea typeface="ABeeZee"/>
                <a:cs typeface="ABeeZee"/>
                <a:sym typeface="ABeeZee"/>
              </a:rPr>
              <a:t>One in four young people in New Zealand first saw porn by the age of 12. Three out of four have seen it by 17. Most young people were not seeking out pornography when they first saw it, but they came across it anyway – it found them. Accidentally seeing porn is one thing, but some young people are viewing it regularly (15% view porn at least monthly, weekly, or daily). The majority of these regular viewers started looking at porn monthly, weekly or daily by age 14. Porn is an issue for girls and boys. </a:t>
            </a:r>
            <a:endParaRPr sz="1600">
              <a:latin typeface="ABeeZee"/>
              <a:ea typeface="ABeeZee"/>
              <a:cs typeface="ABeeZee"/>
              <a:sym typeface="ABeeZee"/>
            </a:endParaRPr>
          </a:p>
          <a:p>
            <a:pPr indent="0" lvl="0" marL="0" rtl="0" algn="l">
              <a:spcBef>
                <a:spcPts val="1200"/>
              </a:spcBef>
              <a:spcAft>
                <a:spcPts val="0"/>
              </a:spcAft>
              <a:buNone/>
            </a:pPr>
            <a:r>
              <a:t/>
            </a:r>
            <a:endParaRPr sz="1600">
              <a:latin typeface="ABeeZee"/>
              <a:ea typeface="ABeeZee"/>
              <a:cs typeface="ABeeZee"/>
              <a:sym typeface="ABeeZee"/>
            </a:endParaRPr>
          </a:p>
          <a:p>
            <a:pPr indent="0" lvl="0" marL="0" rtl="0" algn="l">
              <a:spcBef>
                <a:spcPts val="0"/>
              </a:spcBef>
              <a:spcAft>
                <a:spcPts val="0"/>
              </a:spcAft>
              <a:buNone/>
            </a:pPr>
            <a:r>
              <a:t/>
            </a:r>
            <a:endParaRPr sz="1600">
              <a:latin typeface="ABeeZee"/>
              <a:ea typeface="ABeeZee"/>
              <a:cs typeface="ABeeZee"/>
              <a:sym typeface="ABeeZee"/>
            </a:endParaRPr>
          </a:p>
          <a:p>
            <a:pPr indent="0" lvl="0" marL="0" rtl="0" algn="l">
              <a:spcBef>
                <a:spcPts val="0"/>
              </a:spcBef>
              <a:spcAft>
                <a:spcPts val="0"/>
              </a:spcAft>
              <a:buNone/>
            </a:pPr>
            <a:r>
              <a:t/>
            </a:r>
            <a:endParaRPr sz="1600">
              <a:latin typeface="ABeeZee"/>
              <a:ea typeface="ABeeZee"/>
              <a:cs typeface="ABeeZee"/>
              <a:sym typeface="ABeeZee"/>
            </a:endParaRPr>
          </a:p>
          <a:p>
            <a:pPr indent="0" lvl="0" marL="0" rtl="0" algn="l">
              <a:spcBef>
                <a:spcPts val="0"/>
              </a:spcBef>
              <a:spcAft>
                <a:spcPts val="0"/>
              </a:spcAft>
              <a:buNone/>
            </a:pPr>
            <a:r>
              <a:rPr b="1" lang="en-GB" sz="1600">
                <a:latin typeface="ABeeZee"/>
                <a:ea typeface="ABeeZee"/>
                <a:cs typeface="ABeeZee"/>
                <a:sym typeface="ABeeZee"/>
              </a:rPr>
              <a:t>Sources: </a:t>
            </a:r>
            <a:br>
              <a:rPr lang="en-GB" sz="1600">
                <a:latin typeface="ABeeZee"/>
                <a:ea typeface="ABeeZee"/>
                <a:cs typeface="ABeeZee"/>
                <a:sym typeface="ABeeZee"/>
              </a:rPr>
            </a:br>
            <a:r>
              <a:rPr lang="en-GB" sz="1600">
                <a:latin typeface="ABeeZee"/>
                <a:ea typeface="ABeeZee"/>
                <a:cs typeface="ABeeZee"/>
                <a:sym typeface="ABeeZee"/>
              </a:rPr>
              <a:t>Social and Ethical Issues in Sexuality Education by Gillian Tasker et al. (Christchurch College of Education, 2000, and revised 2004) </a:t>
            </a:r>
            <a:endParaRPr sz="1600">
              <a:latin typeface="ABeeZee"/>
              <a:ea typeface="ABeeZee"/>
              <a:cs typeface="ABeeZee"/>
              <a:sym typeface="ABeeZee"/>
            </a:endParaRPr>
          </a:p>
        </p:txBody>
      </p:sp>
      <p:sp>
        <p:nvSpPr>
          <p:cNvPr id="856" name="Google Shape;856;p97"/>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97"/>
          <p:cNvSpPr txBox="1"/>
          <p:nvPr/>
        </p:nvSpPr>
        <p:spPr>
          <a:xfrm flipH="1" rot="-5400000">
            <a:off x="-685375" y="2156100"/>
            <a:ext cx="39726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200">
                <a:solidFill>
                  <a:srgbClr val="FFFFFF"/>
                </a:solidFill>
                <a:latin typeface="Luckiest Guy"/>
                <a:ea typeface="Luckiest Guy"/>
                <a:cs typeface="Luckiest Guy"/>
                <a:sym typeface="Luckiest Guy"/>
              </a:rPr>
              <a:t>pornography</a:t>
            </a:r>
            <a:endParaRPr sz="3700">
              <a:solidFill>
                <a:srgbClr val="FFFFFF"/>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pic>
        <p:nvPicPr>
          <p:cNvPr descr="AC Slides-01.jpeg" id="862" name="Google Shape;862;p98"/>
          <p:cNvPicPr preferRelativeResize="0"/>
          <p:nvPr/>
        </p:nvPicPr>
        <p:blipFill>
          <a:blip r:embed="rId3">
            <a:alphaModFix/>
          </a:blip>
          <a:stretch>
            <a:fillRect/>
          </a:stretch>
        </p:blipFill>
        <p:spPr>
          <a:xfrm>
            <a:off x="0" y="0"/>
            <a:ext cx="9144000" cy="5143500"/>
          </a:xfrm>
          <a:prstGeom prst="rect">
            <a:avLst/>
          </a:prstGeom>
          <a:noFill/>
          <a:ln>
            <a:noFill/>
          </a:ln>
        </p:spPr>
      </p:pic>
      <p:sp>
        <p:nvSpPr>
          <p:cNvPr id="863" name="Google Shape;863;p98"/>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98"/>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865" name="Google Shape;865;p98"/>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Current state</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600">
                <a:solidFill>
                  <a:schemeClr val="dk1"/>
                </a:solidFill>
                <a:latin typeface="ABeeZee"/>
                <a:ea typeface="ABeeZee"/>
                <a:cs typeface="ABeeZee"/>
                <a:sym typeface="ABeeZee"/>
              </a:rPr>
              <a:t>Boys are more likely to see porn earlier, to seek it out, and to view it more often. But girls are also exposed to pornography, often at a young age. The majority of 14-year old girls have seen porn. Around 10 percent of girls view it regularly.”  That much of the easily accessed online pornography shows sexual acts that are violent, demeaning, dehumanising, or exploitative (especially of women, children, and young people), and with no consideration of consent, or pleasure for all involved.</a:t>
            </a:r>
            <a:endParaRPr sz="1600">
              <a:solidFill>
                <a:schemeClr val="dk1"/>
              </a:solidFill>
              <a:latin typeface="ABeeZee"/>
              <a:ea typeface="ABeeZee"/>
              <a:cs typeface="ABeeZee"/>
              <a:sym typeface="ABeeZee"/>
            </a:endParaRPr>
          </a:p>
          <a:p>
            <a:pPr indent="0" lvl="0" marL="0" rtl="0" algn="l">
              <a:lnSpc>
                <a:spcPct val="115000"/>
              </a:lnSpc>
              <a:spcBef>
                <a:spcPts val="1200"/>
              </a:spcBef>
              <a:spcAft>
                <a:spcPts val="1200"/>
              </a:spcAft>
              <a:buNone/>
            </a:pPr>
            <a:r>
              <a:rPr lang="en-GB" sz="1600">
                <a:solidFill>
                  <a:schemeClr val="dk1"/>
                </a:solidFill>
                <a:latin typeface="ABeeZee"/>
                <a:ea typeface="ABeeZee"/>
                <a:cs typeface="ABeeZee"/>
                <a:sym typeface="ABeeZee"/>
              </a:rPr>
              <a:t>The negative impact on relationships and overall wellbeing as a consequence of viewing this type of pornography as it creates new unhealthy ‘norms’ and unrealistic expectations of sexual behaviour</a:t>
            </a:r>
            <a:endParaRPr sz="1600">
              <a:latin typeface="ABeeZee"/>
              <a:ea typeface="ABeeZee"/>
              <a:cs typeface="ABeeZee"/>
              <a:sym typeface="ABeeZee"/>
            </a:endParaRPr>
          </a:p>
        </p:txBody>
      </p:sp>
      <p:sp>
        <p:nvSpPr>
          <p:cNvPr id="866" name="Google Shape;866;p98"/>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98"/>
          <p:cNvSpPr txBox="1"/>
          <p:nvPr/>
        </p:nvSpPr>
        <p:spPr>
          <a:xfrm flipH="1" rot="-5400000">
            <a:off x="-685375" y="2156100"/>
            <a:ext cx="39726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200">
                <a:solidFill>
                  <a:srgbClr val="FFFFFF"/>
                </a:solidFill>
                <a:latin typeface="Luckiest Guy"/>
                <a:ea typeface="Luckiest Guy"/>
                <a:cs typeface="Luckiest Guy"/>
                <a:sym typeface="Luckiest Guy"/>
              </a:rPr>
              <a:t>pornography</a:t>
            </a:r>
            <a:endParaRPr sz="3700">
              <a:solidFill>
                <a:srgbClr val="FFFFFF"/>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pic>
        <p:nvPicPr>
          <p:cNvPr descr="AC Slides-01.jpeg" id="872" name="Google Shape;872;p99"/>
          <p:cNvPicPr preferRelativeResize="0"/>
          <p:nvPr/>
        </p:nvPicPr>
        <p:blipFill>
          <a:blip r:embed="rId3">
            <a:alphaModFix/>
          </a:blip>
          <a:stretch>
            <a:fillRect/>
          </a:stretch>
        </p:blipFill>
        <p:spPr>
          <a:xfrm>
            <a:off x="0" y="0"/>
            <a:ext cx="9144000" cy="5143500"/>
          </a:xfrm>
          <a:prstGeom prst="rect">
            <a:avLst/>
          </a:prstGeom>
          <a:noFill/>
          <a:ln>
            <a:noFill/>
          </a:ln>
        </p:spPr>
      </p:pic>
      <p:sp>
        <p:nvSpPr>
          <p:cNvPr id="873" name="Google Shape;873;p99"/>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99"/>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875" name="Google Shape;875;p99"/>
          <p:cNvSpPr txBox="1"/>
          <p:nvPr/>
        </p:nvSpPr>
        <p:spPr>
          <a:xfrm>
            <a:off x="2371875" y="357225"/>
            <a:ext cx="6946500" cy="46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Group task</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a:solidFill>
                  <a:schemeClr val="dk1"/>
                </a:solidFill>
                <a:latin typeface="ABeeZee"/>
                <a:ea typeface="ABeeZee"/>
                <a:cs typeface="ABeeZee"/>
                <a:sym typeface="ABeeZee"/>
              </a:rPr>
              <a:t>In groups 5, you will be issued one the below articles/resources to read through as a group.</a:t>
            </a:r>
            <a:endParaRPr>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a:solidFill>
                  <a:schemeClr val="dk1"/>
                </a:solidFill>
                <a:latin typeface="ABeeZee"/>
                <a:ea typeface="ABeeZee"/>
                <a:cs typeface="ABeeZee"/>
                <a:sym typeface="ABeeZee"/>
              </a:rPr>
              <a:t>In you group create a slides presentations, your slides will need to include:</a:t>
            </a:r>
            <a:endParaRPr>
              <a:solidFill>
                <a:schemeClr val="dk1"/>
              </a:solidFill>
              <a:latin typeface="ABeeZee"/>
              <a:ea typeface="ABeeZee"/>
              <a:cs typeface="ABeeZee"/>
              <a:sym typeface="ABeeZee"/>
            </a:endParaRPr>
          </a:p>
          <a:p>
            <a:pPr indent="-317500" lvl="0" marL="457200" rtl="0" algn="l">
              <a:lnSpc>
                <a:spcPct val="115000"/>
              </a:lnSpc>
              <a:spcBef>
                <a:spcPts val="1200"/>
              </a:spcBef>
              <a:spcAft>
                <a:spcPts val="0"/>
              </a:spcAft>
              <a:buClr>
                <a:schemeClr val="dk1"/>
              </a:buClr>
              <a:buSzPts val="1400"/>
              <a:buFont typeface="ABeeZee"/>
              <a:buChar char="●"/>
            </a:pPr>
            <a:r>
              <a:rPr lang="en-GB">
                <a:solidFill>
                  <a:schemeClr val="dk1"/>
                </a:solidFill>
                <a:latin typeface="ABeeZee"/>
                <a:ea typeface="ABeeZee"/>
                <a:cs typeface="ABeeZee"/>
                <a:sym typeface="ABeeZee"/>
              </a:rPr>
              <a:t>5 key points that the article is making about porn</a:t>
            </a:r>
            <a:endParaRPr>
              <a:solidFill>
                <a:schemeClr val="dk1"/>
              </a:solidFill>
              <a:latin typeface="ABeeZee"/>
              <a:ea typeface="ABeeZee"/>
              <a:cs typeface="ABeeZee"/>
              <a:sym typeface="ABeeZee"/>
            </a:endParaRPr>
          </a:p>
          <a:p>
            <a:pPr indent="-317500" lvl="0" marL="457200" rtl="0" algn="l">
              <a:lnSpc>
                <a:spcPct val="115000"/>
              </a:lnSpc>
              <a:spcBef>
                <a:spcPts val="0"/>
              </a:spcBef>
              <a:spcAft>
                <a:spcPts val="0"/>
              </a:spcAft>
              <a:buClr>
                <a:schemeClr val="dk1"/>
              </a:buClr>
              <a:buSzPts val="1400"/>
              <a:buFont typeface="ABeeZee"/>
              <a:buChar char="●"/>
            </a:pPr>
            <a:r>
              <a:rPr lang="en-GB">
                <a:solidFill>
                  <a:schemeClr val="dk1"/>
                </a:solidFill>
                <a:latin typeface="ABeeZee"/>
                <a:ea typeface="ABeeZee"/>
                <a:cs typeface="ABeeZee"/>
                <a:sym typeface="ABeeZee"/>
              </a:rPr>
              <a:t>A summary of 100 words about what your group thinks about the article and what it is saying about pornography</a:t>
            </a:r>
            <a:endParaRPr>
              <a:solidFill>
                <a:schemeClr val="dk1"/>
              </a:solidFill>
              <a:latin typeface="ABeeZee"/>
              <a:ea typeface="ABeeZee"/>
              <a:cs typeface="ABeeZee"/>
              <a:sym typeface="ABeeZee"/>
            </a:endParaRPr>
          </a:p>
          <a:p>
            <a:pPr indent="-317500" lvl="0" marL="457200" rtl="0" algn="l">
              <a:lnSpc>
                <a:spcPct val="115000"/>
              </a:lnSpc>
              <a:spcBef>
                <a:spcPts val="0"/>
              </a:spcBef>
              <a:spcAft>
                <a:spcPts val="0"/>
              </a:spcAft>
              <a:buClr>
                <a:schemeClr val="dk1"/>
              </a:buClr>
              <a:buSzPts val="1400"/>
              <a:buFont typeface="ABeeZee"/>
              <a:buChar char="●"/>
            </a:pPr>
            <a:r>
              <a:rPr lang="en-GB">
                <a:solidFill>
                  <a:schemeClr val="dk1"/>
                </a:solidFill>
                <a:latin typeface="ABeeZee"/>
                <a:ea typeface="ABeeZee"/>
                <a:cs typeface="ABeeZee"/>
                <a:sym typeface="ABeeZee"/>
              </a:rPr>
              <a:t>6 slides maximum</a:t>
            </a:r>
            <a:endParaRPr>
              <a:solidFill>
                <a:schemeClr val="dk1"/>
              </a:solidFill>
              <a:latin typeface="ABeeZee"/>
              <a:ea typeface="ABeeZee"/>
              <a:cs typeface="ABeeZee"/>
              <a:sym typeface="ABeeZee"/>
            </a:endParaRPr>
          </a:p>
          <a:p>
            <a:pPr indent="-317500" lvl="0" marL="457200" rtl="0" algn="l">
              <a:lnSpc>
                <a:spcPct val="115000"/>
              </a:lnSpc>
              <a:spcBef>
                <a:spcPts val="0"/>
              </a:spcBef>
              <a:spcAft>
                <a:spcPts val="0"/>
              </a:spcAft>
              <a:buClr>
                <a:schemeClr val="dk1"/>
              </a:buClr>
              <a:buSzPts val="1400"/>
              <a:buFont typeface="ABeeZee"/>
              <a:buChar char="●"/>
            </a:pPr>
            <a:r>
              <a:rPr lang="en-GB">
                <a:solidFill>
                  <a:schemeClr val="dk1"/>
                </a:solidFill>
                <a:latin typeface="ABeeZee"/>
                <a:ea typeface="ABeeZee"/>
                <a:cs typeface="ABeeZee"/>
                <a:sym typeface="ABeeZee"/>
              </a:rPr>
              <a:t>All learners in your group must have a turn at speaking/presentation your findings to the class</a:t>
            </a:r>
            <a:endParaRPr>
              <a:solidFill>
                <a:schemeClr val="dk1"/>
              </a:solidFill>
              <a:latin typeface="ABeeZee"/>
              <a:ea typeface="ABeeZee"/>
              <a:cs typeface="ABeeZee"/>
              <a:sym typeface="ABeeZee"/>
            </a:endParaRPr>
          </a:p>
          <a:p>
            <a:pPr indent="0" lvl="0" marL="0" rtl="0" algn="l">
              <a:lnSpc>
                <a:spcPct val="115000"/>
              </a:lnSpc>
              <a:spcBef>
                <a:spcPts val="1200"/>
              </a:spcBef>
              <a:spcAft>
                <a:spcPts val="1200"/>
              </a:spcAft>
              <a:buNone/>
            </a:pPr>
            <a:r>
              <a:rPr b="1" lang="en-GB">
                <a:solidFill>
                  <a:schemeClr val="dk1"/>
                </a:solidFill>
                <a:latin typeface="ABeeZee"/>
                <a:ea typeface="ABeeZee"/>
                <a:cs typeface="ABeeZee"/>
                <a:sym typeface="ABeeZee"/>
              </a:rPr>
              <a:t>Articles &amp; Resources</a:t>
            </a:r>
            <a:br>
              <a:rPr lang="en-GB">
                <a:solidFill>
                  <a:schemeClr val="dk1"/>
                </a:solidFill>
                <a:latin typeface="ABeeZee"/>
                <a:ea typeface="ABeeZee"/>
                <a:cs typeface="ABeeZee"/>
                <a:sym typeface="ABeeZee"/>
              </a:rPr>
            </a:br>
            <a:r>
              <a:rPr lang="en-GB" u="sng">
                <a:solidFill>
                  <a:schemeClr val="hlink"/>
                </a:solidFill>
                <a:latin typeface="ABeeZee"/>
                <a:ea typeface="ABeeZee"/>
                <a:cs typeface="ABeeZee"/>
                <a:sym typeface="ABeeZee"/>
                <a:hlinkClick r:id="rId4"/>
              </a:rPr>
              <a:t>RNZ</a:t>
            </a:r>
            <a:r>
              <a:rPr lang="en-GB">
                <a:solidFill>
                  <a:schemeClr val="dk1"/>
                </a:solidFill>
                <a:latin typeface="ABeeZee"/>
                <a:ea typeface="ABeeZee"/>
                <a:cs typeface="ABeeZee"/>
                <a:sym typeface="ABeeZee"/>
              </a:rPr>
              <a:t>									</a:t>
            </a:r>
            <a:r>
              <a:rPr lang="en-GB" u="sng">
                <a:solidFill>
                  <a:schemeClr val="hlink"/>
                </a:solidFill>
                <a:latin typeface="ABeeZee"/>
                <a:ea typeface="ABeeZee"/>
                <a:cs typeface="ABeeZee"/>
                <a:sym typeface="ABeeZee"/>
                <a:hlinkClick r:id="rId5"/>
              </a:rPr>
              <a:t>The Light Project</a:t>
            </a:r>
            <a:r>
              <a:rPr lang="en-GB">
                <a:solidFill>
                  <a:schemeClr val="dk1"/>
                </a:solidFill>
                <a:latin typeface="ABeeZee"/>
                <a:ea typeface="ABeeZee"/>
                <a:cs typeface="ABeeZee"/>
                <a:sym typeface="ABeeZee"/>
              </a:rPr>
              <a:t>		</a:t>
            </a:r>
            <a:br>
              <a:rPr lang="en-GB">
                <a:solidFill>
                  <a:schemeClr val="dk1"/>
                </a:solidFill>
                <a:latin typeface="ABeeZee"/>
                <a:ea typeface="ABeeZee"/>
                <a:cs typeface="ABeeZee"/>
                <a:sym typeface="ABeeZee"/>
              </a:rPr>
            </a:br>
            <a:r>
              <a:rPr lang="en-GB" u="sng">
                <a:solidFill>
                  <a:schemeClr val="hlink"/>
                </a:solidFill>
                <a:latin typeface="ABeeZee"/>
                <a:ea typeface="ABeeZee"/>
                <a:cs typeface="ABeeZee"/>
                <a:sym typeface="ABeeZee"/>
                <a:hlinkClick r:id="rId6"/>
              </a:rPr>
              <a:t>The Spin Off</a:t>
            </a:r>
            <a:r>
              <a:rPr lang="en-GB">
                <a:solidFill>
                  <a:schemeClr val="dk1"/>
                </a:solidFill>
                <a:latin typeface="ABeeZee"/>
                <a:ea typeface="ABeeZee"/>
                <a:cs typeface="ABeeZee"/>
                <a:sym typeface="ABeeZee"/>
              </a:rPr>
              <a:t>							</a:t>
            </a:r>
            <a:r>
              <a:rPr lang="en-GB" u="sng">
                <a:solidFill>
                  <a:schemeClr val="hlink"/>
                </a:solidFill>
                <a:latin typeface="ABeeZee"/>
                <a:ea typeface="ABeeZee"/>
                <a:cs typeface="ABeeZee"/>
                <a:sym typeface="ABeeZee"/>
                <a:hlinkClick r:id="rId7"/>
              </a:rPr>
              <a:t>Family First</a:t>
            </a:r>
            <a:br>
              <a:rPr lang="en-GB">
                <a:solidFill>
                  <a:schemeClr val="dk1"/>
                </a:solidFill>
                <a:latin typeface="ABeeZee"/>
                <a:ea typeface="ABeeZee"/>
                <a:cs typeface="ABeeZee"/>
                <a:sym typeface="ABeeZee"/>
              </a:rPr>
            </a:br>
            <a:r>
              <a:rPr lang="en-GB" u="sng">
                <a:solidFill>
                  <a:schemeClr val="hlink"/>
                </a:solidFill>
                <a:latin typeface="ABeeZee"/>
                <a:ea typeface="ABeeZee"/>
                <a:cs typeface="ABeeZee"/>
                <a:sym typeface="ABeeZee"/>
                <a:hlinkClick r:id="rId8"/>
              </a:rPr>
              <a:t>Classification Office 1 - Pages 30-33</a:t>
            </a:r>
            <a:br>
              <a:rPr lang="en-GB">
                <a:uFill>
                  <a:noFill/>
                </a:uFill>
                <a:hlinkClick r:id="rId9"/>
              </a:rPr>
            </a:br>
            <a:r>
              <a:rPr lang="en-GB" u="sng">
                <a:solidFill>
                  <a:schemeClr val="accent5"/>
                </a:solidFill>
                <a:latin typeface="ABeeZee"/>
                <a:ea typeface="ABeeZee"/>
                <a:cs typeface="ABeeZee"/>
                <a:sym typeface="ABeeZee"/>
                <a:hlinkClick r:id="rId10">
                  <a:extLst>
                    <a:ext uri="{A12FA001-AC4F-418D-AE19-62706E023703}">
                      <ahyp:hlinkClr val="tx"/>
                    </a:ext>
                  </a:extLst>
                </a:hlinkClick>
              </a:rPr>
              <a:t>Classification Office 2 - Pages 34-3</a:t>
            </a:r>
            <a:r>
              <a:rPr lang="en-GB">
                <a:solidFill>
                  <a:schemeClr val="dk1"/>
                </a:solidFill>
                <a:latin typeface="ABeeZee"/>
                <a:ea typeface="ABeeZee"/>
                <a:cs typeface="ABeeZee"/>
                <a:sym typeface="ABeeZee"/>
              </a:rPr>
              <a:t>7</a:t>
            </a:r>
            <a:br>
              <a:rPr lang="en-GB">
                <a:solidFill>
                  <a:schemeClr val="dk1"/>
                </a:solidFill>
                <a:latin typeface="ABeeZee"/>
                <a:ea typeface="ABeeZee"/>
                <a:cs typeface="ABeeZee"/>
                <a:sym typeface="ABeeZee"/>
              </a:rPr>
            </a:br>
            <a:endParaRPr>
              <a:solidFill>
                <a:schemeClr val="dk1"/>
              </a:solidFill>
              <a:latin typeface="ABeeZee"/>
              <a:ea typeface="ABeeZee"/>
              <a:cs typeface="ABeeZee"/>
              <a:sym typeface="ABeeZee"/>
            </a:endParaRPr>
          </a:p>
        </p:txBody>
      </p:sp>
      <p:sp>
        <p:nvSpPr>
          <p:cNvPr id="876" name="Google Shape;876;p99"/>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99"/>
          <p:cNvSpPr txBox="1"/>
          <p:nvPr/>
        </p:nvSpPr>
        <p:spPr>
          <a:xfrm flipH="1" rot="-5400000">
            <a:off x="-685375" y="2156100"/>
            <a:ext cx="39726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200">
                <a:solidFill>
                  <a:srgbClr val="FFFFFF"/>
                </a:solidFill>
                <a:latin typeface="Luckiest Guy"/>
                <a:ea typeface="Luckiest Guy"/>
                <a:cs typeface="Luckiest Guy"/>
                <a:sym typeface="Luckiest Guy"/>
              </a:rPr>
              <a:t>pornography</a:t>
            </a:r>
            <a:endParaRPr sz="3700">
              <a:solidFill>
                <a:srgbClr val="FFFFFF"/>
              </a:solidFill>
            </a:endParaRPr>
          </a:p>
        </p:txBody>
      </p:sp>
      <p:pic>
        <p:nvPicPr>
          <p:cNvPr descr="This timer silently counts down to 0:00, then alerts you that time is up with a gentle beep sound." id="878" name="Google Shape;878;p99" title="40 Minute Timer">
            <a:hlinkClick r:id="rId11"/>
          </p:cNvPr>
          <p:cNvPicPr preferRelativeResize="0"/>
          <p:nvPr/>
        </p:nvPicPr>
        <p:blipFill>
          <a:blip r:embed="rId12">
            <a:alphaModFix/>
          </a:blip>
          <a:stretch>
            <a:fillRect/>
          </a:stretch>
        </p:blipFill>
        <p:spPr>
          <a:xfrm>
            <a:off x="7409025" y="132365"/>
            <a:ext cx="1349925" cy="75933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gtEl>
                                        <p:attrNameLst>
                                          <p:attrName>style.visibility</p:attrName>
                                        </p:attrNameLst>
                                      </p:cBhvr>
                                      <p:to>
                                        <p:strVal val="visible"/>
                                      </p:to>
                                    </p:set>
                                    <p:animEffect filter="fade" transition="in">
                                      <p:cBhvr>
                                        <p:cTn dur="1000"/>
                                        <p:tgtEl>
                                          <p:spTgt spid="8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pic>
        <p:nvPicPr>
          <p:cNvPr descr="AC Slides-01.jpeg" id="883" name="Google Shape;883;p100"/>
          <p:cNvPicPr preferRelativeResize="0"/>
          <p:nvPr/>
        </p:nvPicPr>
        <p:blipFill>
          <a:blip r:embed="rId3">
            <a:alphaModFix/>
          </a:blip>
          <a:stretch>
            <a:fillRect/>
          </a:stretch>
        </p:blipFill>
        <p:spPr>
          <a:xfrm>
            <a:off x="0" y="0"/>
            <a:ext cx="9144000" cy="5143500"/>
          </a:xfrm>
          <a:prstGeom prst="rect">
            <a:avLst/>
          </a:prstGeom>
          <a:noFill/>
          <a:ln>
            <a:noFill/>
          </a:ln>
        </p:spPr>
      </p:pic>
      <p:sp>
        <p:nvSpPr>
          <p:cNvPr id="884" name="Google Shape;884;p100"/>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00"/>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886" name="Google Shape;886;p100"/>
          <p:cNvSpPr txBox="1"/>
          <p:nvPr/>
        </p:nvSpPr>
        <p:spPr>
          <a:xfrm>
            <a:off x="2371875" y="357225"/>
            <a:ext cx="57801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300">
              <a:solidFill>
                <a:schemeClr val="dk1"/>
              </a:solidFill>
              <a:latin typeface="ABeeZee"/>
              <a:ea typeface="ABeeZee"/>
              <a:cs typeface="ABeeZee"/>
              <a:sym typeface="ABeeZee"/>
            </a:endParaRPr>
          </a:p>
        </p:txBody>
      </p:sp>
      <p:sp>
        <p:nvSpPr>
          <p:cNvPr id="887" name="Google Shape;887;p100"/>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00"/>
          <p:cNvSpPr txBox="1"/>
          <p:nvPr/>
        </p:nvSpPr>
        <p:spPr>
          <a:xfrm flipH="1" rot="-5400000">
            <a:off x="-7308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Do now</a:t>
            </a:r>
            <a:endParaRPr sz="4100">
              <a:solidFill>
                <a:srgbClr val="FFFFFF"/>
              </a:solidFill>
            </a:endParaRPr>
          </a:p>
        </p:txBody>
      </p:sp>
      <p:sp>
        <p:nvSpPr>
          <p:cNvPr id="889" name="Google Shape;889;p100"/>
          <p:cNvSpPr txBox="1"/>
          <p:nvPr/>
        </p:nvSpPr>
        <p:spPr>
          <a:xfrm>
            <a:off x="2484350" y="358875"/>
            <a:ext cx="65928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ABeeZee"/>
                <a:ea typeface="ABeeZee"/>
                <a:cs typeface="ABeeZee"/>
                <a:sym typeface="ABeeZee"/>
              </a:rPr>
              <a:t>Colour in the Pink Day Shirt image and write any anti-bullying slogans or words of </a:t>
            </a:r>
            <a:r>
              <a:rPr lang="en-GB" sz="1600">
                <a:solidFill>
                  <a:schemeClr val="dk1"/>
                </a:solidFill>
                <a:latin typeface="ABeeZee"/>
                <a:ea typeface="ABeeZee"/>
                <a:cs typeface="ABeeZee"/>
                <a:sym typeface="ABeeZee"/>
              </a:rPr>
              <a:t>empowerment</a:t>
            </a:r>
            <a:r>
              <a:rPr lang="en-GB" sz="1600">
                <a:solidFill>
                  <a:schemeClr val="dk1"/>
                </a:solidFill>
                <a:latin typeface="ABeeZee"/>
                <a:ea typeface="ABeeZee"/>
                <a:cs typeface="ABeeZee"/>
                <a:sym typeface="ABeeZee"/>
              </a:rPr>
              <a:t> around groups that maybe bullied for their Gender or Sexuality</a:t>
            </a:r>
            <a:endParaRPr sz="1600">
              <a:solidFill>
                <a:schemeClr val="dk1"/>
              </a:solidFill>
              <a:latin typeface="ABeeZee"/>
              <a:ea typeface="ABeeZee"/>
              <a:cs typeface="ABeeZee"/>
              <a:sym typeface="ABeeZee"/>
            </a:endParaRPr>
          </a:p>
        </p:txBody>
      </p:sp>
      <p:pic>
        <p:nvPicPr>
          <p:cNvPr descr="This timer silently counts down to 0:00, then alerts you that time is up with a gentle beep sound." id="890" name="Google Shape;890;p100" title="15 Minute Timer">
            <a:hlinkClick r:id="rId4"/>
          </p:cNvPr>
          <p:cNvPicPr preferRelativeResize="0"/>
          <p:nvPr/>
        </p:nvPicPr>
        <p:blipFill>
          <a:blip r:embed="rId5">
            <a:alphaModFix/>
          </a:blip>
          <a:stretch>
            <a:fillRect/>
          </a:stretch>
        </p:blipFill>
        <p:spPr>
          <a:xfrm>
            <a:off x="6362100" y="3733800"/>
            <a:ext cx="2506125" cy="1409700"/>
          </a:xfrm>
          <a:prstGeom prst="rect">
            <a:avLst/>
          </a:prstGeom>
          <a:noFill/>
          <a:ln>
            <a:noFill/>
          </a:ln>
        </p:spPr>
      </p:pic>
      <p:pic>
        <p:nvPicPr>
          <p:cNvPr id="891" name="Google Shape;891;p100"/>
          <p:cNvPicPr preferRelativeResize="0"/>
          <p:nvPr/>
        </p:nvPicPr>
        <p:blipFill>
          <a:blip r:embed="rId6">
            <a:alphaModFix/>
          </a:blip>
          <a:stretch>
            <a:fillRect/>
          </a:stretch>
        </p:blipFill>
        <p:spPr>
          <a:xfrm>
            <a:off x="2484360" y="1170900"/>
            <a:ext cx="4022764" cy="39726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0"/>
                                        </p:tgtEl>
                                        <p:attrNameLst>
                                          <p:attrName>style.visibility</p:attrName>
                                        </p:attrNameLst>
                                      </p:cBhvr>
                                      <p:to>
                                        <p:strVal val="visible"/>
                                      </p:to>
                                    </p:set>
                                    <p:animEffect filter="fade" transition="in">
                                      <p:cBhvr>
                                        <p:cTn dur="1000"/>
                                        <p:tgtEl>
                                          <p:spTgt spid="8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pic>
        <p:nvPicPr>
          <p:cNvPr descr="AC Slides-01.jpeg" id="896" name="Google Shape;896;p101"/>
          <p:cNvPicPr preferRelativeResize="0"/>
          <p:nvPr/>
        </p:nvPicPr>
        <p:blipFill>
          <a:blip r:embed="rId3">
            <a:alphaModFix/>
          </a:blip>
          <a:stretch>
            <a:fillRect/>
          </a:stretch>
        </p:blipFill>
        <p:spPr>
          <a:xfrm>
            <a:off x="0" y="0"/>
            <a:ext cx="9144000" cy="5143500"/>
          </a:xfrm>
          <a:prstGeom prst="rect">
            <a:avLst/>
          </a:prstGeom>
          <a:noFill/>
          <a:ln>
            <a:noFill/>
          </a:ln>
        </p:spPr>
      </p:pic>
      <p:sp>
        <p:nvSpPr>
          <p:cNvPr id="897" name="Google Shape;897;p101"/>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898" name="Google Shape;898;p101"/>
          <p:cNvSpPr txBox="1"/>
          <p:nvPr/>
        </p:nvSpPr>
        <p:spPr>
          <a:xfrm>
            <a:off x="2371875" y="357225"/>
            <a:ext cx="57801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300">
              <a:solidFill>
                <a:schemeClr val="dk1"/>
              </a:solidFill>
              <a:latin typeface="ABeeZee"/>
              <a:ea typeface="ABeeZee"/>
              <a:cs typeface="ABeeZee"/>
              <a:sym typeface="ABeeZee"/>
            </a:endParaRPr>
          </a:p>
        </p:txBody>
      </p:sp>
      <p:pic>
        <p:nvPicPr>
          <p:cNvPr id="899" name="Google Shape;899;p101"/>
          <p:cNvPicPr preferRelativeResize="0"/>
          <p:nvPr/>
        </p:nvPicPr>
        <p:blipFill>
          <a:blip r:embed="rId4">
            <a:alphaModFix/>
          </a:blip>
          <a:stretch>
            <a:fillRect/>
          </a:stretch>
        </p:blipFill>
        <p:spPr>
          <a:xfrm>
            <a:off x="0" y="0"/>
            <a:ext cx="9143998" cy="51435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pic>
        <p:nvPicPr>
          <p:cNvPr descr="AC Slides-01.jpeg" id="904" name="Google Shape;904;p102"/>
          <p:cNvPicPr preferRelativeResize="0"/>
          <p:nvPr/>
        </p:nvPicPr>
        <p:blipFill>
          <a:blip r:embed="rId3">
            <a:alphaModFix/>
          </a:blip>
          <a:stretch>
            <a:fillRect/>
          </a:stretch>
        </p:blipFill>
        <p:spPr>
          <a:xfrm>
            <a:off x="0" y="0"/>
            <a:ext cx="9144000" cy="5143500"/>
          </a:xfrm>
          <a:prstGeom prst="rect">
            <a:avLst/>
          </a:prstGeom>
          <a:noFill/>
          <a:ln>
            <a:noFill/>
          </a:ln>
        </p:spPr>
      </p:pic>
      <p:sp>
        <p:nvSpPr>
          <p:cNvPr id="905" name="Google Shape;905;p102"/>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02"/>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907" name="Google Shape;907;p102"/>
          <p:cNvSpPr txBox="1"/>
          <p:nvPr/>
        </p:nvSpPr>
        <p:spPr>
          <a:xfrm>
            <a:off x="2371875" y="357225"/>
            <a:ext cx="57801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300">
              <a:solidFill>
                <a:schemeClr val="dk1"/>
              </a:solidFill>
              <a:latin typeface="ABeeZee"/>
              <a:ea typeface="ABeeZee"/>
              <a:cs typeface="ABeeZee"/>
              <a:sym typeface="ABeeZee"/>
            </a:endParaRPr>
          </a:p>
        </p:txBody>
      </p:sp>
      <p:sp>
        <p:nvSpPr>
          <p:cNvPr id="908" name="Google Shape;908;p102"/>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02"/>
          <p:cNvSpPr txBox="1"/>
          <p:nvPr/>
        </p:nvSpPr>
        <p:spPr>
          <a:xfrm flipH="1" rot="-5400000">
            <a:off x="-730825" y="12109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stats</a:t>
            </a:r>
            <a:endParaRPr sz="4100">
              <a:solidFill>
                <a:srgbClr val="FFFFFF"/>
              </a:solidFill>
            </a:endParaRPr>
          </a:p>
        </p:txBody>
      </p:sp>
      <p:pic>
        <p:nvPicPr>
          <p:cNvPr id="910" name="Google Shape;910;p102"/>
          <p:cNvPicPr preferRelativeResize="0"/>
          <p:nvPr/>
        </p:nvPicPr>
        <p:blipFill>
          <a:blip r:embed="rId4">
            <a:alphaModFix/>
          </a:blip>
          <a:stretch>
            <a:fillRect/>
          </a:stretch>
        </p:blipFill>
        <p:spPr>
          <a:xfrm>
            <a:off x="2408650" y="57550"/>
            <a:ext cx="3728525" cy="2735950"/>
          </a:xfrm>
          <a:prstGeom prst="rect">
            <a:avLst/>
          </a:prstGeom>
          <a:noFill/>
          <a:ln>
            <a:noFill/>
          </a:ln>
        </p:spPr>
      </p:pic>
      <p:pic>
        <p:nvPicPr>
          <p:cNvPr id="911" name="Google Shape;911;p102"/>
          <p:cNvPicPr preferRelativeResize="0"/>
          <p:nvPr/>
        </p:nvPicPr>
        <p:blipFill>
          <a:blip r:embed="rId5">
            <a:alphaModFix/>
          </a:blip>
          <a:stretch>
            <a:fillRect/>
          </a:stretch>
        </p:blipFill>
        <p:spPr>
          <a:xfrm>
            <a:off x="6011075" y="-22850"/>
            <a:ext cx="3132924" cy="2651749"/>
          </a:xfrm>
          <a:prstGeom prst="rect">
            <a:avLst/>
          </a:prstGeom>
          <a:noFill/>
          <a:ln>
            <a:noFill/>
          </a:ln>
        </p:spPr>
      </p:pic>
      <p:pic>
        <p:nvPicPr>
          <p:cNvPr id="912" name="Google Shape;912;p102"/>
          <p:cNvPicPr preferRelativeResize="0"/>
          <p:nvPr/>
        </p:nvPicPr>
        <p:blipFill>
          <a:blip r:embed="rId6">
            <a:alphaModFix/>
          </a:blip>
          <a:stretch>
            <a:fillRect/>
          </a:stretch>
        </p:blipFill>
        <p:spPr>
          <a:xfrm>
            <a:off x="218475" y="3007595"/>
            <a:ext cx="9144000" cy="2135909"/>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pic>
        <p:nvPicPr>
          <p:cNvPr descr="AC Slides-01.jpeg" id="917" name="Google Shape;917;p103"/>
          <p:cNvPicPr preferRelativeResize="0"/>
          <p:nvPr/>
        </p:nvPicPr>
        <p:blipFill>
          <a:blip r:embed="rId3">
            <a:alphaModFix/>
          </a:blip>
          <a:stretch>
            <a:fillRect/>
          </a:stretch>
        </p:blipFill>
        <p:spPr>
          <a:xfrm>
            <a:off x="0" y="0"/>
            <a:ext cx="9144000" cy="5143500"/>
          </a:xfrm>
          <a:prstGeom prst="rect">
            <a:avLst/>
          </a:prstGeom>
          <a:noFill/>
          <a:ln>
            <a:noFill/>
          </a:ln>
        </p:spPr>
      </p:pic>
      <p:sp>
        <p:nvSpPr>
          <p:cNvPr id="918" name="Google Shape;918;p103"/>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103"/>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920" name="Google Shape;920;p103"/>
          <p:cNvSpPr txBox="1"/>
          <p:nvPr/>
        </p:nvSpPr>
        <p:spPr>
          <a:xfrm>
            <a:off x="2371875" y="357225"/>
            <a:ext cx="6946500" cy="46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Group task</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a:solidFill>
                  <a:schemeClr val="dk1"/>
                </a:solidFill>
                <a:latin typeface="ABeeZee"/>
                <a:ea typeface="ABeeZee"/>
                <a:cs typeface="ABeeZee"/>
                <a:sym typeface="ABeeZee"/>
              </a:rPr>
              <a:t>In groups 5, you will be issued one the below articles/resources to read through as a group.</a:t>
            </a:r>
            <a:endParaRPr>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a:solidFill>
                  <a:schemeClr val="dk1"/>
                </a:solidFill>
                <a:latin typeface="ABeeZee"/>
                <a:ea typeface="ABeeZee"/>
                <a:cs typeface="ABeeZee"/>
                <a:sym typeface="ABeeZee"/>
              </a:rPr>
              <a:t>In you group create a slides presentations, your slides will need to include:</a:t>
            </a:r>
            <a:endParaRPr>
              <a:solidFill>
                <a:schemeClr val="dk1"/>
              </a:solidFill>
              <a:latin typeface="ABeeZee"/>
              <a:ea typeface="ABeeZee"/>
              <a:cs typeface="ABeeZee"/>
              <a:sym typeface="ABeeZee"/>
            </a:endParaRPr>
          </a:p>
          <a:p>
            <a:pPr indent="-317500" lvl="0" marL="457200" rtl="0" algn="l">
              <a:lnSpc>
                <a:spcPct val="115000"/>
              </a:lnSpc>
              <a:spcBef>
                <a:spcPts val="1200"/>
              </a:spcBef>
              <a:spcAft>
                <a:spcPts val="0"/>
              </a:spcAft>
              <a:buClr>
                <a:schemeClr val="dk1"/>
              </a:buClr>
              <a:buSzPts val="1400"/>
              <a:buFont typeface="ABeeZee"/>
              <a:buChar char="●"/>
            </a:pPr>
            <a:r>
              <a:rPr lang="en-GB">
                <a:solidFill>
                  <a:schemeClr val="dk1"/>
                </a:solidFill>
                <a:latin typeface="ABeeZee"/>
                <a:ea typeface="ABeeZee"/>
                <a:cs typeface="ABeeZee"/>
                <a:sym typeface="ABeeZee"/>
              </a:rPr>
              <a:t>5 key points that the article is making about porn</a:t>
            </a:r>
            <a:endParaRPr>
              <a:solidFill>
                <a:schemeClr val="dk1"/>
              </a:solidFill>
              <a:latin typeface="ABeeZee"/>
              <a:ea typeface="ABeeZee"/>
              <a:cs typeface="ABeeZee"/>
              <a:sym typeface="ABeeZee"/>
            </a:endParaRPr>
          </a:p>
          <a:p>
            <a:pPr indent="-317500" lvl="0" marL="457200" rtl="0" algn="l">
              <a:lnSpc>
                <a:spcPct val="115000"/>
              </a:lnSpc>
              <a:spcBef>
                <a:spcPts val="0"/>
              </a:spcBef>
              <a:spcAft>
                <a:spcPts val="0"/>
              </a:spcAft>
              <a:buClr>
                <a:schemeClr val="dk1"/>
              </a:buClr>
              <a:buSzPts val="1400"/>
              <a:buFont typeface="ABeeZee"/>
              <a:buChar char="●"/>
            </a:pPr>
            <a:r>
              <a:rPr lang="en-GB">
                <a:solidFill>
                  <a:schemeClr val="dk1"/>
                </a:solidFill>
                <a:latin typeface="ABeeZee"/>
                <a:ea typeface="ABeeZee"/>
                <a:cs typeface="ABeeZee"/>
                <a:sym typeface="ABeeZee"/>
              </a:rPr>
              <a:t>A summary of 100 words about what your group thinks about the article and what it is saying about pornography</a:t>
            </a:r>
            <a:endParaRPr>
              <a:solidFill>
                <a:schemeClr val="dk1"/>
              </a:solidFill>
              <a:latin typeface="ABeeZee"/>
              <a:ea typeface="ABeeZee"/>
              <a:cs typeface="ABeeZee"/>
              <a:sym typeface="ABeeZee"/>
            </a:endParaRPr>
          </a:p>
          <a:p>
            <a:pPr indent="-317500" lvl="0" marL="457200" rtl="0" algn="l">
              <a:lnSpc>
                <a:spcPct val="115000"/>
              </a:lnSpc>
              <a:spcBef>
                <a:spcPts val="0"/>
              </a:spcBef>
              <a:spcAft>
                <a:spcPts val="0"/>
              </a:spcAft>
              <a:buClr>
                <a:schemeClr val="dk1"/>
              </a:buClr>
              <a:buSzPts val="1400"/>
              <a:buFont typeface="ABeeZee"/>
              <a:buChar char="●"/>
            </a:pPr>
            <a:r>
              <a:rPr lang="en-GB">
                <a:solidFill>
                  <a:schemeClr val="dk1"/>
                </a:solidFill>
                <a:latin typeface="ABeeZee"/>
                <a:ea typeface="ABeeZee"/>
                <a:cs typeface="ABeeZee"/>
                <a:sym typeface="ABeeZee"/>
              </a:rPr>
              <a:t>6 slides maximum</a:t>
            </a:r>
            <a:endParaRPr>
              <a:solidFill>
                <a:schemeClr val="dk1"/>
              </a:solidFill>
              <a:latin typeface="ABeeZee"/>
              <a:ea typeface="ABeeZee"/>
              <a:cs typeface="ABeeZee"/>
              <a:sym typeface="ABeeZee"/>
            </a:endParaRPr>
          </a:p>
          <a:p>
            <a:pPr indent="-317500" lvl="0" marL="457200" rtl="0" algn="l">
              <a:lnSpc>
                <a:spcPct val="115000"/>
              </a:lnSpc>
              <a:spcBef>
                <a:spcPts val="0"/>
              </a:spcBef>
              <a:spcAft>
                <a:spcPts val="0"/>
              </a:spcAft>
              <a:buClr>
                <a:schemeClr val="dk1"/>
              </a:buClr>
              <a:buSzPts val="1400"/>
              <a:buFont typeface="ABeeZee"/>
              <a:buChar char="●"/>
            </a:pPr>
            <a:r>
              <a:rPr lang="en-GB">
                <a:solidFill>
                  <a:schemeClr val="dk1"/>
                </a:solidFill>
                <a:latin typeface="ABeeZee"/>
                <a:ea typeface="ABeeZee"/>
                <a:cs typeface="ABeeZee"/>
                <a:sym typeface="ABeeZee"/>
              </a:rPr>
              <a:t>All learners in your group must have a turn at speaking/presentation your findings to the class</a:t>
            </a:r>
            <a:endParaRPr>
              <a:solidFill>
                <a:schemeClr val="dk1"/>
              </a:solidFill>
              <a:latin typeface="ABeeZee"/>
              <a:ea typeface="ABeeZee"/>
              <a:cs typeface="ABeeZee"/>
              <a:sym typeface="ABeeZee"/>
            </a:endParaRPr>
          </a:p>
          <a:p>
            <a:pPr indent="0" lvl="0" marL="0" rtl="0" algn="l">
              <a:lnSpc>
                <a:spcPct val="115000"/>
              </a:lnSpc>
              <a:spcBef>
                <a:spcPts val="1200"/>
              </a:spcBef>
              <a:spcAft>
                <a:spcPts val="1200"/>
              </a:spcAft>
              <a:buNone/>
            </a:pPr>
            <a:r>
              <a:rPr b="1" lang="en-GB">
                <a:solidFill>
                  <a:schemeClr val="dk1"/>
                </a:solidFill>
                <a:latin typeface="ABeeZee"/>
                <a:ea typeface="ABeeZee"/>
                <a:cs typeface="ABeeZee"/>
                <a:sym typeface="ABeeZee"/>
              </a:rPr>
              <a:t>Articles &amp; Resources</a:t>
            </a:r>
            <a:br>
              <a:rPr lang="en-GB">
                <a:solidFill>
                  <a:schemeClr val="dk1"/>
                </a:solidFill>
                <a:latin typeface="ABeeZee"/>
                <a:ea typeface="ABeeZee"/>
                <a:cs typeface="ABeeZee"/>
                <a:sym typeface="ABeeZee"/>
              </a:rPr>
            </a:br>
            <a:r>
              <a:rPr lang="en-GB" u="sng">
                <a:solidFill>
                  <a:schemeClr val="hlink"/>
                </a:solidFill>
                <a:latin typeface="ABeeZee"/>
                <a:ea typeface="ABeeZee"/>
                <a:cs typeface="ABeeZee"/>
                <a:sym typeface="ABeeZee"/>
                <a:hlinkClick r:id="rId4"/>
              </a:rPr>
              <a:t>RNZ</a:t>
            </a:r>
            <a:r>
              <a:rPr lang="en-GB">
                <a:solidFill>
                  <a:schemeClr val="dk1"/>
                </a:solidFill>
                <a:latin typeface="ABeeZee"/>
                <a:ea typeface="ABeeZee"/>
                <a:cs typeface="ABeeZee"/>
                <a:sym typeface="ABeeZee"/>
              </a:rPr>
              <a:t>									</a:t>
            </a:r>
            <a:r>
              <a:rPr lang="en-GB" u="sng">
                <a:solidFill>
                  <a:schemeClr val="hlink"/>
                </a:solidFill>
                <a:latin typeface="ABeeZee"/>
                <a:ea typeface="ABeeZee"/>
                <a:cs typeface="ABeeZee"/>
                <a:sym typeface="ABeeZee"/>
                <a:hlinkClick r:id="rId5"/>
              </a:rPr>
              <a:t>The Light Project</a:t>
            </a:r>
            <a:r>
              <a:rPr lang="en-GB">
                <a:solidFill>
                  <a:schemeClr val="dk1"/>
                </a:solidFill>
                <a:latin typeface="ABeeZee"/>
                <a:ea typeface="ABeeZee"/>
                <a:cs typeface="ABeeZee"/>
                <a:sym typeface="ABeeZee"/>
              </a:rPr>
              <a:t>		</a:t>
            </a:r>
            <a:br>
              <a:rPr lang="en-GB">
                <a:solidFill>
                  <a:schemeClr val="dk1"/>
                </a:solidFill>
                <a:latin typeface="ABeeZee"/>
                <a:ea typeface="ABeeZee"/>
                <a:cs typeface="ABeeZee"/>
                <a:sym typeface="ABeeZee"/>
              </a:rPr>
            </a:br>
            <a:r>
              <a:rPr lang="en-GB" u="sng">
                <a:solidFill>
                  <a:schemeClr val="hlink"/>
                </a:solidFill>
                <a:latin typeface="ABeeZee"/>
                <a:ea typeface="ABeeZee"/>
                <a:cs typeface="ABeeZee"/>
                <a:sym typeface="ABeeZee"/>
                <a:hlinkClick r:id="rId6"/>
              </a:rPr>
              <a:t>The Spin Off</a:t>
            </a:r>
            <a:r>
              <a:rPr lang="en-GB">
                <a:solidFill>
                  <a:schemeClr val="dk1"/>
                </a:solidFill>
                <a:latin typeface="ABeeZee"/>
                <a:ea typeface="ABeeZee"/>
                <a:cs typeface="ABeeZee"/>
                <a:sym typeface="ABeeZee"/>
              </a:rPr>
              <a:t>							</a:t>
            </a:r>
            <a:r>
              <a:rPr lang="en-GB" u="sng">
                <a:solidFill>
                  <a:schemeClr val="hlink"/>
                </a:solidFill>
                <a:latin typeface="ABeeZee"/>
                <a:ea typeface="ABeeZee"/>
                <a:cs typeface="ABeeZee"/>
                <a:sym typeface="ABeeZee"/>
                <a:hlinkClick r:id="rId7"/>
              </a:rPr>
              <a:t>Family First</a:t>
            </a:r>
            <a:br>
              <a:rPr lang="en-GB">
                <a:solidFill>
                  <a:schemeClr val="dk1"/>
                </a:solidFill>
                <a:latin typeface="ABeeZee"/>
                <a:ea typeface="ABeeZee"/>
                <a:cs typeface="ABeeZee"/>
                <a:sym typeface="ABeeZee"/>
              </a:rPr>
            </a:br>
            <a:r>
              <a:rPr lang="en-GB" u="sng">
                <a:solidFill>
                  <a:schemeClr val="hlink"/>
                </a:solidFill>
                <a:latin typeface="ABeeZee"/>
                <a:ea typeface="ABeeZee"/>
                <a:cs typeface="ABeeZee"/>
                <a:sym typeface="ABeeZee"/>
                <a:hlinkClick r:id="rId8"/>
              </a:rPr>
              <a:t>Classification Office 1 - Pages 30-33</a:t>
            </a:r>
            <a:br>
              <a:rPr lang="en-GB">
                <a:uFill>
                  <a:noFill/>
                </a:uFill>
                <a:hlinkClick r:id="rId9"/>
              </a:rPr>
            </a:br>
            <a:r>
              <a:rPr lang="en-GB" u="sng">
                <a:solidFill>
                  <a:schemeClr val="accent5"/>
                </a:solidFill>
                <a:latin typeface="ABeeZee"/>
                <a:ea typeface="ABeeZee"/>
                <a:cs typeface="ABeeZee"/>
                <a:sym typeface="ABeeZee"/>
                <a:hlinkClick r:id="rId10">
                  <a:extLst>
                    <a:ext uri="{A12FA001-AC4F-418D-AE19-62706E023703}">
                      <ahyp:hlinkClr val="tx"/>
                    </a:ext>
                  </a:extLst>
                </a:hlinkClick>
              </a:rPr>
              <a:t>Classification Office 2 - Pages 34-3</a:t>
            </a:r>
            <a:r>
              <a:rPr lang="en-GB">
                <a:solidFill>
                  <a:schemeClr val="dk1"/>
                </a:solidFill>
                <a:latin typeface="ABeeZee"/>
                <a:ea typeface="ABeeZee"/>
                <a:cs typeface="ABeeZee"/>
                <a:sym typeface="ABeeZee"/>
              </a:rPr>
              <a:t>7</a:t>
            </a:r>
            <a:br>
              <a:rPr lang="en-GB">
                <a:solidFill>
                  <a:schemeClr val="dk1"/>
                </a:solidFill>
                <a:latin typeface="ABeeZee"/>
                <a:ea typeface="ABeeZee"/>
                <a:cs typeface="ABeeZee"/>
                <a:sym typeface="ABeeZee"/>
              </a:rPr>
            </a:br>
            <a:endParaRPr>
              <a:solidFill>
                <a:schemeClr val="dk1"/>
              </a:solidFill>
              <a:latin typeface="ABeeZee"/>
              <a:ea typeface="ABeeZee"/>
              <a:cs typeface="ABeeZee"/>
              <a:sym typeface="ABeeZee"/>
            </a:endParaRPr>
          </a:p>
        </p:txBody>
      </p:sp>
      <p:sp>
        <p:nvSpPr>
          <p:cNvPr id="921" name="Google Shape;921;p103"/>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03"/>
          <p:cNvSpPr txBox="1"/>
          <p:nvPr/>
        </p:nvSpPr>
        <p:spPr>
          <a:xfrm flipH="1" rot="-5400000">
            <a:off x="-685375" y="2156100"/>
            <a:ext cx="39726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200">
                <a:solidFill>
                  <a:srgbClr val="FFFFFF"/>
                </a:solidFill>
                <a:latin typeface="Luckiest Guy"/>
                <a:ea typeface="Luckiest Guy"/>
                <a:cs typeface="Luckiest Guy"/>
                <a:sym typeface="Luckiest Guy"/>
              </a:rPr>
              <a:t>pornography</a:t>
            </a:r>
            <a:endParaRPr sz="3700">
              <a:solidFill>
                <a:srgbClr val="FFFFFF"/>
              </a:solidFill>
            </a:endParaRPr>
          </a:p>
        </p:txBody>
      </p:sp>
      <p:pic>
        <p:nvPicPr>
          <p:cNvPr descr="This timer silently counts down to 0:00, then alerts you that time is up with a gentle beep sound." id="923" name="Google Shape;923;p103" title="40 Minute Timer">
            <a:hlinkClick r:id="rId11"/>
          </p:cNvPr>
          <p:cNvPicPr preferRelativeResize="0"/>
          <p:nvPr/>
        </p:nvPicPr>
        <p:blipFill>
          <a:blip r:embed="rId12">
            <a:alphaModFix/>
          </a:blip>
          <a:stretch>
            <a:fillRect/>
          </a:stretch>
        </p:blipFill>
        <p:spPr>
          <a:xfrm>
            <a:off x="7409025" y="132365"/>
            <a:ext cx="1349925" cy="75933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3"/>
                                        </p:tgtEl>
                                        <p:attrNameLst>
                                          <p:attrName>style.visibility</p:attrName>
                                        </p:attrNameLst>
                                      </p:cBhvr>
                                      <p:to>
                                        <p:strVal val="visible"/>
                                      </p:to>
                                    </p:set>
                                    <p:animEffect filter="fade" transition="in">
                                      <p:cBhvr>
                                        <p:cTn dur="1000"/>
                                        <p:tgtEl>
                                          <p:spTgt spid="9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pic>
        <p:nvPicPr>
          <p:cNvPr descr="AC Slides-01.jpeg" id="928" name="Google Shape;928;p104"/>
          <p:cNvPicPr preferRelativeResize="0"/>
          <p:nvPr/>
        </p:nvPicPr>
        <p:blipFill>
          <a:blip r:embed="rId3">
            <a:alphaModFix/>
          </a:blip>
          <a:stretch>
            <a:fillRect/>
          </a:stretch>
        </p:blipFill>
        <p:spPr>
          <a:xfrm>
            <a:off x="0" y="0"/>
            <a:ext cx="9144000" cy="5143500"/>
          </a:xfrm>
          <a:prstGeom prst="rect">
            <a:avLst/>
          </a:prstGeom>
          <a:noFill/>
          <a:ln>
            <a:noFill/>
          </a:ln>
        </p:spPr>
      </p:pic>
      <p:sp>
        <p:nvSpPr>
          <p:cNvPr id="929" name="Google Shape;929;p104"/>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04"/>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931" name="Google Shape;931;p104"/>
          <p:cNvSpPr txBox="1"/>
          <p:nvPr/>
        </p:nvSpPr>
        <p:spPr>
          <a:xfrm>
            <a:off x="2371875" y="357225"/>
            <a:ext cx="6946500" cy="46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Group task</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600">
                <a:solidFill>
                  <a:schemeClr val="dk1"/>
                </a:solidFill>
                <a:latin typeface="ABeeZee"/>
                <a:ea typeface="ABeeZee"/>
                <a:cs typeface="ABeeZee"/>
                <a:sym typeface="ABeeZee"/>
              </a:rPr>
              <a:t>In groups come up with strategy on all levels for a learner that might be getting bullied because it has become common knowledge around school that their Sexual Orientation is Lesbian</a:t>
            </a:r>
            <a:endParaRPr>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t/>
            </a:r>
            <a:endParaRPr>
              <a:solidFill>
                <a:schemeClr val="dk1"/>
              </a:solidFill>
              <a:latin typeface="ABeeZee"/>
              <a:ea typeface="ABeeZee"/>
              <a:cs typeface="ABeeZee"/>
              <a:sym typeface="ABeeZee"/>
            </a:endParaRPr>
          </a:p>
          <a:p>
            <a:pPr indent="0" lvl="0" marL="0" rtl="0" algn="l">
              <a:spcBef>
                <a:spcPts val="1200"/>
              </a:spcBef>
              <a:spcAft>
                <a:spcPts val="0"/>
              </a:spcAft>
              <a:buNone/>
            </a:pPr>
            <a:r>
              <a:rPr lang="en-GB" sz="2500">
                <a:solidFill>
                  <a:schemeClr val="dk1"/>
                </a:solidFill>
                <a:latin typeface="Luckiest Guy"/>
                <a:ea typeface="Luckiest Guy"/>
                <a:cs typeface="Luckiest Guy"/>
                <a:sym typeface="Luckiest Guy"/>
              </a:rPr>
              <a:t>personal</a:t>
            </a:r>
            <a:r>
              <a:rPr lang="en-GB" sz="2500">
                <a:solidFill>
                  <a:schemeClr val="dk1"/>
                </a:solidFill>
                <a:latin typeface="Luckiest Guy"/>
                <a:ea typeface="Luckiest Guy"/>
                <a:cs typeface="Luckiest Guy"/>
                <a:sym typeface="Luckiest Guy"/>
              </a:rPr>
              <a:t>		int. personal		societal</a:t>
            </a:r>
            <a:endParaRPr sz="1800">
              <a:solidFill>
                <a:schemeClr val="dk1"/>
              </a:solidFill>
              <a:latin typeface="ABeeZee"/>
              <a:ea typeface="ABeeZee"/>
              <a:cs typeface="ABeeZee"/>
              <a:sym typeface="ABeeZee"/>
            </a:endParaRPr>
          </a:p>
          <a:p>
            <a:pPr indent="0" lvl="0" marL="0" rtl="0" algn="l">
              <a:spcBef>
                <a:spcPts val="0"/>
              </a:spcBef>
              <a:spcAft>
                <a:spcPts val="0"/>
              </a:spcAft>
              <a:buNone/>
            </a:pPr>
            <a:r>
              <a:t/>
            </a:r>
            <a:endParaRPr sz="2500">
              <a:solidFill>
                <a:schemeClr val="dk1"/>
              </a:solidFill>
              <a:latin typeface="Luckiest Guy"/>
              <a:ea typeface="Luckiest Guy"/>
              <a:cs typeface="Luckiest Guy"/>
              <a:sym typeface="Luckiest Guy"/>
            </a:endParaRPr>
          </a:p>
          <a:p>
            <a:pPr indent="0" lvl="0" marL="0" rtl="0" algn="l">
              <a:spcBef>
                <a:spcPts val="0"/>
              </a:spcBef>
              <a:spcAft>
                <a:spcPts val="0"/>
              </a:spcAft>
              <a:buClr>
                <a:schemeClr val="dk1"/>
              </a:buClr>
              <a:buSzPts val="1100"/>
              <a:buFont typeface="Arial"/>
              <a:buNone/>
            </a:pPr>
            <a:r>
              <a:t/>
            </a:r>
            <a:endParaRPr sz="2500">
              <a:solidFill>
                <a:schemeClr val="dk1"/>
              </a:solidFill>
              <a:latin typeface="Luckiest Guy"/>
              <a:ea typeface="Luckiest Guy"/>
              <a:cs typeface="Luckiest Guy"/>
              <a:sym typeface="Luckiest Guy"/>
            </a:endParaRPr>
          </a:p>
          <a:p>
            <a:pPr indent="0" lvl="0" marL="0" rtl="0" algn="l">
              <a:lnSpc>
                <a:spcPct val="115000"/>
              </a:lnSpc>
              <a:spcBef>
                <a:spcPts val="1200"/>
              </a:spcBef>
              <a:spcAft>
                <a:spcPts val="1200"/>
              </a:spcAft>
              <a:buNone/>
            </a:pPr>
            <a:r>
              <a:t/>
            </a:r>
            <a:endParaRPr>
              <a:solidFill>
                <a:schemeClr val="dk1"/>
              </a:solidFill>
              <a:latin typeface="ABeeZee"/>
              <a:ea typeface="ABeeZee"/>
              <a:cs typeface="ABeeZee"/>
              <a:sym typeface="ABeeZee"/>
            </a:endParaRPr>
          </a:p>
        </p:txBody>
      </p:sp>
      <p:sp>
        <p:nvSpPr>
          <p:cNvPr id="932" name="Google Shape;932;p104"/>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04"/>
          <p:cNvSpPr txBox="1"/>
          <p:nvPr/>
        </p:nvSpPr>
        <p:spPr>
          <a:xfrm flipH="1" rot="-5400000">
            <a:off x="-685375" y="2156100"/>
            <a:ext cx="39726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200">
                <a:solidFill>
                  <a:srgbClr val="FFFFFF"/>
                </a:solidFill>
                <a:latin typeface="Luckiest Guy"/>
                <a:ea typeface="Luckiest Guy"/>
                <a:cs typeface="Luckiest Guy"/>
                <a:sym typeface="Luckiest Guy"/>
              </a:rPr>
              <a:t>strategies</a:t>
            </a:r>
            <a:endParaRPr sz="3700">
              <a:solidFill>
                <a:srgbClr val="FFFFFF"/>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pic>
        <p:nvPicPr>
          <p:cNvPr descr="AC Slides-01.jpeg" id="938" name="Google Shape;938;p105"/>
          <p:cNvPicPr preferRelativeResize="0"/>
          <p:nvPr/>
        </p:nvPicPr>
        <p:blipFill>
          <a:blip r:embed="rId3">
            <a:alphaModFix/>
          </a:blip>
          <a:stretch>
            <a:fillRect/>
          </a:stretch>
        </p:blipFill>
        <p:spPr>
          <a:xfrm>
            <a:off x="0" y="0"/>
            <a:ext cx="9144000" cy="5143500"/>
          </a:xfrm>
          <a:prstGeom prst="rect">
            <a:avLst/>
          </a:prstGeom>
          <a:noFill/>
          <a:ln>
            <a:noFill/>
          </a:ln>
        </p:spPr>
      </p:pic>
      <p:sp>
        <p:nvSpPr>
          <p:cNvPr id="939" name="Google Shape;939;p105"/>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05"/>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941" name="Google Shape;941;p105"/>
          <p:cNvSpPr txBox="1"/>
          <p:nvPr/>
        </p:nvSpPr>
        <p:spPr>
          <a:xfrm>
            <a:off x="2371875" y="357225"/>
            <a:ext cx="57801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300">
              <a:solidFill>
                <a:schemeClr val="dk1"/>
              </a:solidFill>
              <a:latin typeface="ABeeZee"/>
              <a:ea typeface="ABeeZee"/>
              <a:cs typeface="ABeeZee"/>
              <a:sym typeface="ABeeZee"/>
            </a:endParaRPr>
          </a:p>
        </p:txBody>
      </p:sp>
      <p:sp>
        <p:nvSpPr>
          <p:cNvPr id="942" name="Google Shape;942;p105"/>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05"/>
          <p:cNvSpPr txBox="1"/>
          <p:nvPr/>
        </p:nvSpPr>
        <p:spPr>
          <a:xfrm flipH="1" rot="-5400000">
            <a:off x="-7308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Do now</a:t>
            </a:r>
            <a:endParaRPr sz="4100">
              <a:solidFill>
                <a:srgbClr val="FFFFFF"/>
              </a:solidFill>
            </a:endParaRPr>
          </a:p>
        </p:txBody>
      </p:sp>
      <p:sp>
        <p:nvSpPr>
          <p:cNvPr id="944" name="Google Shape;944;p105"/>
          <p:cNvSpPr txBox="1"/>
          <p:nvPr/>
        </p:nvSpPr>
        <p:spPr>
          <a:xfrm>
            <a:off x="2484350" y="358875"/>
            <a:ext cx="65928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ABeeZee"/>
                <a:ea typeface="ABeeZee"/>
                <a:cs typeface="ABeeZee"/>
                <a:sym typeface="ABeeZee"/>
              </a:rPr>
              <a:t>Spend 15 minutes preparing to present your group presentation on your article that relates to the impacts of pornography.</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Spin the Wheel will decide the order of presentations</a:t>
            </a:r>
            <a:endParaRPr sz="1600">
              <a:solidFill>
                <a:schemeClr val="dk1"/>
              </a:solidFill>
              <a:latin typeface="ABeeZee"/>
              <a:ea typeface="ABeeZee"/>
              <a:cs typeface="ABeeZee"/>
              <a:sym typeface="ABeeZee"/>
            </a:endParaRPr>
          </a:p>
        </p:txBody>
      </p:sp>
      <p:pic>
        <p:nvPicPr>
          <p:cNvPr descr="This timer silently counts down to 0:00, then alerts you that time is up with a gentle beep sound." id="945" name="Google Shape;945;p105" title="15 Minute Timer">
            <a:hlinkClick r:id="rId4"/>
          </p:cNvPr>
          <p:cNvPicPr preferRelativeResize="0"/>
          <p:nvPr/>
        </p:nvPicPr>
        <p:blipFill>
          <a:blip r:embed="rId5">
            <a:alphaModFix/>
          </a:blip>
          <a:stretch>
            <a:fillRect/>
          </a:stretch>
        </p:blipFill>
        <p:spPr>
          <a:xfrm>
            <a:off x="6362100" y="3733800"/>
            <a:ext cx="2506125" cy="1409700"/>
          </a:xfrm>
          <a:prstGeom prst="rect">
            <a:avLst/>
          </a:prstGeom>
          <a:noFill/>
          <a:ln>
            <a:noFill/>
          </a:ln>
        </p:spPr>
      </p:pic>
      <p:pic>
        <p:nvPicPr>
          <p:cNvPr id="946" name="Google Shape;946;p105"/>
          <p:cNvPicPr preferRelativeResize="0"/>
          <p:nvPr/>
        </p:nvPicPr>
        <p:blipFill>
          <a:blip r:embed="rId6">
            <a:alphaModFix/>
          </a:blip>
          <a:stretch>
            <a:fillRect/>
          </a:stretch>
        </p:blipFill>
        <p:spPr>
          <a:xfrm>
            <a:off x="2558649" y="1703325"/>
            <a:ext cx="3803450" cy="3440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5"/>
                                        </p:tgtEl>
                                        <p:attrNameLst>
                                          <p:attrName>style.visibility</p:attrName>
                                        </p:attrNameLst>
                                      </p:cBhvr>
                                      <p:to>
                                        <p:strVal val="visible"/>
                                      </p:to>
                                    </p:set>
                                    <p:animEffect filter="fade" transition="in">
                                      <p:cBhvr>
                                        <p:cTn dur="1000"/>
                                        <p:tgtEl>
                                          <p:spTgt spid="9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pic>
        <p:nvPicPr>
          <p:cNvPr descr="AC Slides-01.jpeg" id="951" name="Google Shape;951;p106"/>
          <p:cNvPicPr preferRelativeResize="0"/>
          <p:nvPr/>
        </p:nvPicPr>
        <p:blipFill>
          <a:blip r:embed="rId3">
            <a:alphaModFix/>
          </a:blip>
          <a:stretch>
            <a:fillRect/>
          </a:stretch>
        </p:blipFill>
        <p:spPr>
          <a:xfrm>
            <a:off x="0" y="0"/>
            <a:ext cx="9144000" cy="5143500"/>
          </a:xfrm>
          <a:prstGeom prst="rect">
            <a:avLst/>
          </a:prstGeom>
          <a:noFill/>
          <a:ln>
            <a:noFill/>
          </a:ln>
        </p:spPr>
      </p:pic>
      <p:sp>
        <p:nvSpPr>
          <p:cNvPr id="952" name="Google Shape;952;p106"/>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06"/>
          <p:cNvSpPr txBox="1"/>
          <p:nvPr/>
        </p:nvSpPr>
        <p:spPr>
          <a:xfrm>
            <a:off x="2371875" y="357225"/>
            <a:ext cx="57801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300">
              <a:solidFill>
                <a:schemeClr val="dk1"/>
              </a:solidFill>
              <a:latin typeface="ABeeZee"/>
              <a:ea typeface="ABeeZee"/>
              <a:cs typeface="ABeeZee"/>
              <a:sym typeface="ABeeZee"/>
            </a:endParaRPr>
          </a:p>
        </p:txBody>
      </p:sp>
      <p:sp>
        <p:nvSpPr>
          <p:cNvPr id="954" name="Google Shape;954;p106"/>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06"/>
          <p:cNvSpPr txBox="1"/>
          <p:nvPr/>
        </p:nvSpPr>
        <p:spPr>
          <a:xfrm flipH="1" rot="-5400000">
            <a:off x="-769375" y="2163900"/>
            <a:ext cx="3972600" cy="815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100">
                <a:solidFill>
                  <a:srgbClr val="FFFFFF"/>
                </a:solidFill>
                <a:latin typeface="Luckiest Guy"/>
                <a:ea typeface="Luckiest Guy"/>
                <a:cs typeface="Luckiest Guy"/>
                <a:sym typeface="Luckiest Guy"/>
              </a:rPr>
              <a:t>presentations</a:t>
            </a:r>
            <a:endParaRPr sz="4000">
              <a:solidFill>
                <a:srgbClr val="FFFFFF"/>
              </a:solidFill>
            </a:endParaRPr>
          </a:p>
        </p:txBody>
      </p:sp>
      <p:sp>
        <p:nvSpPr>
          <p:cNvPr id="956" name="Google Shape;956;p106"/>
          <p:cNvSpPr txBox="1"/>
          <p:nvPr/>
        </p:nvSpPr>
        <p:spPr>
          <a:xfrm>
            <a:off x="2484350" y="358875"/>
            <a:ext cx="65928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ABeeZee"/>
                <a:ea typeface="ABeeZee"/>
                <a:cs typeface="ABeeZee"/>
                <a:sym typeface="ABeeZee"/>
              </a:rPr>
              <a:t>Whilst groups are presenting:</a:t>
            </a:r>
            <a:endParaRPr sz="1800">
              <a:solidFill>
                <a:schemeClr val="dk1"/>
              </a:solidFill>
              <a:latin typeface="ABeeZee"/>
              <a:ea typeface="ABeeZee"/>
              <a:cs typeface="ABeeZee"/>
              <a:sym typeface="ABeeZee"/>
            </a:endParaRPr>
          </a:p>
          <a:p>
            <a:pPr indent="0" lvl="0" marL="0" rtl="0" algn="l">
              <a:spcBef>
                <a:spcPts val="0"/>
              </a:spcBef>
              <a:spcAft>
                <a:spcPts val="0"/>
              </a:spcAft>
              <a:buNone/>
            </a:pPr>
            <a:r>
              <a:t/>
            </a:r>
            <a:endParaRPr sz="1800">
              <a:solidFill>
                <a:schemeClr val="dk1"/>
              </a:solidFill>
              <a:latin typeface="ABeeZee"/>
              <a:ea typeface="ABeeZee"/>
              <a:cs typeface="ABeeZee"/>
              <a:sym typeface="ABeeZee"/>
            </a:endParaRPr>
          </a:p>
          <a:p>
            <a:pPr indent="-342900" lvl="0" marL="457200" rtl="0" algn="l">
              <a:spcBef>
                <a:spcPts val="0"/>
              </a:spcBef>
              <a:spcAft>
                <a:spcPts val="0"/>
              </a:spcAft>
              <a:buClr>
                <a:schemeClr val="dk1"/>
              </a:buClr>
              <a:buSzPts val="1800"/>
              <a:buFont typeface="ABeeZee"/>
              <a:buChar char="●"/>
            </a:pPr>
            <a:r>
              <a:rPr lang="en-GB" sz="1800">
                <a:solidFill>
                  <a:schemeClr val="dk1"/>
                </a:solidFill>
                <a:latin typeface="ABeeZee"/>
                <a:ea typeface="ABeeZee"/>
                <a:cs typeface="ABeeZee"/>
                <a:sym typeface="ABeeZee"/>
              </a:rPr>
              <a:t>Be respectful and listen - no talking!</a:t>
            </a:r>
            <a:endParaRPr sz="1800">
              <a:solidFill>
                <a:schemeClr val="dk1"/>
              </a:solidFill>
              <a:latin typeface="ABeeZee"/>
              <a:ea typeface="ABeeZee"/>
              <a:cs typeface="ABeeZee"/>
              <a:sym typeface="ABeeZee"/>
            </a:endParaRPr>
          </a:p>
          <a:p>
            <a:pPr indent="-342900" lvl="0" marL="457200" rtl="0" algn="l">
              <a:spcBef>
                <a:spcPts val="0"/>
              </a:spcBef>
              <a:spcAft>
                <a:spcPts val="0"/>
              </a:spcAft>
              <a:buClr>
                <a:schemeClr val="dk1"/>
              </a:buClr>
              <a:buSzPts val="1800"/>
              <a:buFont typeface="ABeeZee"/>
              <a:buChar char="●"/>
            </a:pPr>
            <a:r>
              <a:rPr lang="en-GB" sz="1800">
                <a:solidFill>
                  <a:schemeClr val="dk1"/>
                </a:solidFill>
                <a:latin typeface="ABeeZee"/>
                <a:ea typeface="ABeeZee"/>
                <a:cs typeface="ABeeZee"/>
                <a:sym typeface="ABeeZee"/>
              </a:rPr>
              <a:t>Take notes of statistics, key messages - these could be helpful for ideas to write about or include in your assessment</a:t>
            </a:r>
            <a:endParaRPr sz="1800">
              <a:solidFill>
                <a:schemeClr val="dk1"/>
              </a:solidFill>
              <a:latin typeface="ABeeZee"/>
              <a:ea typeface="ABeeZee"/>
              <a:cs typeface="ABeeZee"/>
              <a:sym typeface="ABeeZee"/>
            </a:endParaRPr>
          </a:p>
          <a:p>
            <a:pPr indent="-342900" lvl="0" marL="457200" rtl="0" algn="l">
              <a:spcBef>
                <a:spcPts val="0"/>
              </a:spcBef>
              <a:spcAft>
                <a:spcPts val="0"/>
              </a:spcAft>
              <a:buClr>
                <a:schemeClr val="dk1"/>
              </a:buClr>
              <a:buSzPts val="1800"/>
              <a:buFont typeface="ABeeZee"/>
              <a:buChar char="●"/>
            </a:pPr>
            <a:r>
              <a:rPr lang="en-GB" sz="1800">
                <a:solidFill>
                  <a:schemeClr val="dk1"/>
                </a:solidFill>
                <a:latin typeface="ABeeZee"/>
                <a:ea typeface="ABeeZee"/>
                <a:cs typeface="ABeeZee"/>
                <a:sym typeface="ABeeZee"/>
              </a:rPr>
              <a:t>You will have to answer questions at the end of the presentation</a:t>
            </a:r>
            <a:endParaRPr sz="1800">
              <a:solidFill>
                <a:schemeClr val="dk1"/>
              </a:solidFill>
              <a:latin typeface="ABeeZee"/>
              <a:ea typeface="ABeeZee"/>
              <a:cs typeface="ABeeZee"/>
              <a:sym typeface="ABeeZee"/>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pic>
        <p:nvPicPr>
          <p:cNvPr descr="AC Slides-01.jpeg" id="961" name="Google Shape;961;p107"/>
          <p:cNvPicPr preferRelativeResize="0"/>
          <p:nvPr/>
        </p:nvPicPr>
        <p:blipFill>
          <a:blip r:embed="rId3">
            <a:alphaModFix/>
          </a:blip>
          <a:stretch>
            <a:fillRect/>
          </a:stretch>
        </p:blipFill>
        <p:spPr>
          <a:xfrm>
            <a:off x="0" y="0"/>
            <a:ext cx="9144000" cy="5143500"/>
          </a:xfrm>
          <a:prstGeom prst="rect">
            <a:avLst/>
          </a:prstGeom>
          <a:noFill/>
          <a:ln>
            <a:noFill/>
          </a:ln>
        </p:spPr>
      </p:pic>
      <p:sp>
        <p:nvSpPr>
          <p:cNvPr id="962" name="Google Shape;962;p107"/>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07"/>
          <p:cNvSpPr txBox="1"/>
          <p:nvPr/>
        </p:nvSpPr>
        <p:spPr>
          <a:xfrm>
            <a:off x="2371875" y="357225"/>
            <a:ext cx="57801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300">
              <a:solidFill>
                <a:schemeClr val="dk1"/>
              </a:solidFill>
              <a:latin typeface="ABeeZee"/>
              <a:ea typeface="ABeeZee"/>
              <a:cs typeface="ABeeZee"/>
              <a:sym typeface="ABeeZee"/>
            </a:endParaRPr>
          </a:p>
        </p:txBody>
      </p:sp>
      <p:sp>
        <p:nvSpPr>
          <p:cNvPr id="964" name="Google Shape;964;p107"/>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07"/>
          <p:cNvSpPr txBox="1"/>
          <p:nvPr/>
        </p:nvSpPr>
        <p:spPr>
          <a:xfrm flipH="1" rot="-5400000">
            <a:off x="-769375" y="2163900"/>
            <a:ext cx="3972600" cy="815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100">
                <a:solidFill>
                  <a:srgbClr val="FFFFFF"/>
                </a:solidFill>
                <a:latin typeface="Luckiest Guy"/>
                <a:ea typeface="Luckiest Guy"/>
                <a:cs typeface="Luckiest Guy"/>
                <a:sym typeface="Luckiest Guy"/>
              </a:rPr>
              <a:t>presentations</a:t>
            </a:r>
            <a:endParaRPr sz="4000">
              <a:solidFill>
                <a:srgbClr val="FFFFFF"/>
              </a:solidFill>
            </a:endParaRPr>
          </a:p>
        </p:txBody>
      </p:sp>
      <p:sp>
        <p:nvSpPr>
          <p:cNvPr id="966" name="Google Shape;966;p107"/>
          <p:cNvSpPr txBox="1"/>
          <p:nvPr/>
        </p:nvSpPr>
        <p:spPr>
          <a:xfrm>
            <a:off x="2484350" y="358875"/>
            <a:ext cx="65928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ABeeZee"/>
                <a:ea typeface="ABeeZee"/>
                <a:cs typeface="ABeeZee"/>
                <a:sym typeface="ABeeZee"/>
              </a:rPr>
              <a:t>Whilst groups are presenting:</a:t>
            </a:r>
            <a:endParaRPr sz="1800">
              <a:solidFill>
                <a:schemeClr val="dk1"/>
              </a:solidFill>
              <a:latin typeface="ABeeZee"/>
              <a:ea typeface="ABeeZee"/>
              <a:cs typeface="ABeeZee"/>
              <a:sym typeface="ABeeZee"/>
            </a:endParaRPr>
          </a:p>
          <a:p>
            <a:pPr indent="0" lvl="0" marL="0" rtl="0" algn="l">
              <a:spcBef>
                <a:spcPts val="0"/>
              </a:spcBef>
              <a:spcAft>
                <a:spcPts val="0"/>
              </a:spcAft>
              <a:buNone/>
            </a:pPr>
            <a:r>
              <a:t/>
            </a:r>
            <a:endParaRPr sz="1800">
              <a:solidFill>
                <a:schemeClr val="dk1"/>
              </a:solidFill>
              <a:latin typeface="ABeeZee"/>
              <a:ea typeface="ABeeZee"/>
              <a:cs typeface="ABeeZee"/>
              <a:sym typeface="ABeeZee"/>
            </a:endParaRPr>
          </a:p>
          <a:p>
            <a:pPr indent="-342900" lvl="0" marL="457200" rtl="0" algn="l">
              <a:spcBef>
                <a:spcPts val="0"/>
              </a:spcBef>
              <a:spcAft>
                <a:spcPts val="0"/>
              </a:spcAft>
              <a:buClr>
                <a:schemeClr val="dk1"/>
              </a:buClr>
              <a:buSzPts val="1800"/>
              <a:buFont typeface="ABeeZee"/>
              <a:buChar char="●"/>
            </a:pPr>
            <a:r>
              <a:rPr lang="en-GB" sz="1800">
                <a:solidFill>
                  <a:schemeClr val="dk1"/>
                </a:solidFill>
                <a:latin typeface="ABeeZee"/>
                <a:ea typeface="ABeeZee"/>
                <a:cs typeface="ABeeZee"/>
                <a:sym typeface="ABeeZee"/>
              </a:rPr>
              <a:t>Be respectful and listen - no talking!</a:t>
            </a:r>
            <a:endParaRPr sz="1800">
              <a:solidFill>
                <a:schemeClr val="dk1"/>
              </a:solidFill>
              <a:latin typeface="ABeeZee"/>
              <a:ea typeface="ABeeZee"/>
              <a:cs typeface="ABeeZee"/>
              <a:sym typeface="ABeeZee"/>
            </a:endParaRPr>
          </a:p>
          <a:p>
            <a:pPr indent="-342900" lvl="0" marL="457200" rtl="0" algn="l">
              <a:spcBef>
                <a:spcPts val="0"/>
              </a:spcBef>
              <a:spcAft>
                <a:spcPts val="0"/>
              </a:spcAft>
              <a:buClr>
                <a:schemeClr val="dk1"/>
              </a:buClr>
              <a:buSzPts val="1800"/>
              <a:buFont typeface="ABeeZee"/>
              <a:buChar char="●"/>
            </a:pPr>
            <a:r>
              <a:rPr lang="en-GB" sz="1800">
                <a:solidFill>
                  <a:schemeClr val="dk1"/>
                </a:solidFill>
                <a:latin typeface="ABeeZee"/>
                <a:ea typeface="ABeeZee"/>
                <a:cs typeface="ABeeZee"/>
                <a:sym typeface="ABeeZee"/>
              </a:rPr>
              <a:t>Take notes of statistics, key messages - these could be helpful for ideas to write about or include in your assessment</a:t>
            </a:r>
            <a:endParaRPr sz="1800">
              <a:solidFill>
                <a:schemeClr val="dk1"/>
              </a:solidFill>
              <a:latin typeface="ABeeZee"/>
              <a:ea typeface="ABeeZee"/>
              <a:cs typeface="ABeeZee"/>
              <a:sym typeface="ABeeZee"/>
            </a:endParaRPr>
          </a:p>
          <a:p>
            <a:pPr indent="-342900" lvl="0" marL="457200" rtl="0" algn="l">
              <a:spcBef>
                <a:spcPts val="0"/>
              </a:spcBef>
              <a:spcAft>
                <a:spcPts val="0"/>
              </a:spcAft>
              <a:buClr>
                <a:schemeClr val="dk1"/>
              </a:buClr>
              <a:buSzPts val="1800"/>
              <a:buFont typeface="ABeeZee"/>
              <a:buChar char="●"/>
            </a:pPr>
            <a:r>
              <a:rPr lang="en-GB" sz="1800">
                <a:solidFill>
                  <a:schemeClr val="dk1"/>
                </a:solidFill>
                <a:latin typeface="ABeeZee"/>
                <a:ea typeface="ABeeZee"/>
                <a:cs typeface="ABeeZee"/>
                <a:sym typeface="ABeeZee"/>
              </a:rPr>
              <a:t>You will have to answer questions at the end of the presentation</a:t>
            </a:r>
            <a:endParaRPr sz="1800">
              <a:solidFill>
                <a:schemeClr val="dk1"/>
              </a:solidFill>
              <a:latin typeface="ABeeZee"/>
              <a:ea typeface="ABeeZee"/>
              <a:cs typeface="ABeeZee"/>
              <a:sym typeface="ABeeZee"/>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pic>
        <p:nvPicPr>
          <p:cNvPr descr="AC Slides-01.jpeg" id="971" name="Google Shape;971;p108"/>
          <p:cNvPicPr preferRelativeResize="0"/>
          <p:nvPr/>
        </p:nvPicPr>
        <p:blipFill>
          <a:blip r:embed="rId3">
            <a:alphaModFix/>
          </a:blip>
          <a:stretch>
            <a:fillRect/>
          </a:stretch>
        </p:blipFill>
        <p:spPr>
          <a:xfrm>
            <a:off x="0" y="0"/>
            <a:ext cx="9144000" cy="5143500"/>
          </a:xfrm>
          <a:prstGeom prst="rect">
            <a:avLst/>
          </a:prstGeom>
          <a:noFill/>
          <a:ln>
            <a:noFill/>
          </a:ln>
        </p:spPr>
      </p:pic>
      <p:sp>
        <p:nvSpPr>
          <p:cNvPr id="972" name="Google Shape;972;p108"/>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08"/>
          <p:cNvSpPr txBox="1"/>
          <p:nvPr/>
        </p:nvSpPr>
        <p:spPr>
          <a:xfrm>
            <a:off x="2371875" y="357225"/>
            <a:ext cx="57801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300">
              <a:solidFill>
                <a:schemeClr val="dk1"/>
              </a:solidFill>
              <a:latin typeface="ABeeZee"/>
              <a:ea typeface="ABeeZee"/>
              <a:cs typeface="ABeeZee"/>
              <a:sym typeface="ABeeZee"/>
            </a:endParaRPr>
          </a:p>
        </p:txBody>
      </p:sp>
      <p:sp>
        <p:nvSpPr>
          <p:cNvPr id="974" name="Google Shape;974;p108"/>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08"/>
          <p:cNvSpPr txBox="1"/>
          <p:nvPr/>
        </p:nvSpPr>
        <p:spPr>
          <a:xfrm flipH="1" rot="-5400000">
            <a:off x="-606175" y="1848300"/>
            <a:ext cx="3972600" cy="144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100">
                <a:solidFill>
                  <a:srgbClr val="FFFFFF"/>
                </a:solidFill>
                <a:latin typeface="Luckiest Guy"/>
                <a:ea typeface="Luckiest Guy"/>
                <a:cs typeface="Luckiest Guy"/>
                <a:sym typeface="Luckiest Guy"/>
              </a:rPr>
              <a:t>2.5 gender &amp; Sexuality</a:t>
            </a:r>
            <a:endParaRPr sz="4000">
              <a:solidFill>
                <a:srgbClr val="FFFFFF"/>
              </a:solidFill>
            </a:endParaRPr>
          </a:p>
        </p:txBody>
      </p:sp>
      <p:sp>
        <p:nvSpPr>
          <p:cNvPr id="976" name="Google Shape;976;p108"/>
          <p:cNvSpPr txBox="1"/>
          <p:nvPr/>
        </p:nvSpPr>
        <p:spPr>
          <a:xfrm>
            <a:off x="2484350" y="358875"/>
            <a:ext cx="6592800" cy="418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solidFill>
                  <a:schemeClr val="dk1"/>
                </a:solidFill>
                <a:latin typeface="ABeeZee"/>
                <a:ea typeface="ABeeZee"/>
                <a:cs typeface="ABeeZee"/>
                <a:sym typeface="ABeeZee"/>
              </a:rPr>
              <a:t>Assessment Writing</a:t>
            </a:r>
            <a:endParaRPr b="1" sz="1800">
              <a:solidFill>
                <a:schemeClr val="dk1"/>
              </a:solidFill>
              <a:latin typeface="ABeeZee"/>
              <a:ea typeface="ABeeZee"/>
              <a:cs typeface="ABeeZee"/>
              <a:sym typeface="ABeeZee"/>
            </a:endParaRPr>
          </a:p>
          <a:p>
            <a:pPr indent="0" lvl="0" marL="0" rtl="0" algn="l">
              <a:spcBef>
                <a:spcPts val="0"/>
              </a:spcBef>
              <a:spcAft>
                <a:spcPts val="0"/>
              </a:spcAft>
              <a:buNone/>
            </a:pPr>
            <a:r>
              <a:t/>
            </a:r>
            <a:endParaRPr sz="1800">
              <a:solidFill>
                <a:schemeClr val="dk1"/>
              </a:solidFill>
              <a:latin typeface="ABeeZee"/>
              <a:ea typeface="ABeeZee"/>
              <a:cs typeface="ABeeZee"/>
              <a:sym typeface="ABeeZee"/>
            </a:endParaRPr>
          </a:p>
          <a:p>
            <a:pPr indent="0" lvl="0" marL="0" rtl="0" algn="l">
              <a:spcBef>
                <a:spcPts val="0"/>
              </a:spcBef>
              <a:spcAft>
                <a:spcPts val="0"/>
              </a:spcAft>
              <a:buNone/>
            </a:pPr>
            <a:r>
              <a:rPr lang="en-GB" sz="1600" u="sng">
                <a:solidFill>
                  <a:schemeClr val="dk1"/>
                </a:solidFill>
                <a:highlight>
                  <a:srgbClr val="FFFF00"/>
                </a:highlight>
                <a:latin typeface="ABeeZee"/>
                <a:ea typeface="ABeeZee"/>
                <a:cs typeface="ABeeZee"/>
                <a:sym typeface="ABeeZee"/>
              </a:rPr>
              <a:t>Timeline - 5 weeks</a:t>
            </a:r>
            <a:endParaRPr sz="1600" u="sng">
              <a:solidFill>
                <a:schemeClr val="dk1"/>
              </a:solidFill>
              <a:highlight>
                <a:srgbClr val="FFFF00"/>
              </a:highlight>
              <a:latin typeface="ABeeZee"/>
              <a:ea typeface="ABeeZee"/>
              <a:cs typeface="ABeeZee"/>
              <a:sym typeface="ABeeZee"/>
            </a:endParaRPr>
          </a:p>
          <a:p>
            <a:pPr indent="-330200" lvl="0" marL="457200" rtl="0" algn="l">
              <a:spcBef>
                <a:spcPts val="0"/>
              </a:spcBef>
              <a:spcAft>
                <a:spcPts val="0"/>
              </a:spcAft>
              <a:buClr>
                <a:schemeClr val="dk1"/>
              </a:buClr>
              <a:buSzPts val="1600"/>
              <a:buFont typeface="ABeeZee"/>
              <a:buChar char="●"/>
            </a:pPr>
            <a:r>
              <a:rPr lang="en-GB" sz="1600">
                <a:solidFill>
                  <a:schemeClr val="dk1"/>
                </a:solidFill>
                <a:latin typeface="ABeeZee"/>
                <a:ea typeface="ABeeZee"/>
                <a:cs typeface="ABeeZee"/>
                <a:sym typeface="ABeeZee"/>
              </a:rPr>
              <a:t>Four articles, complete one article each week (Wk 4 to 8).  Use Wk 9 for editing, proofreading, checking.</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u="sng">
                <a:solidFill>
                  <a:schemeClr val="dk1"/>
                </a:solidFill>
                <a:highlight>
                  <a:srgbClr val="FFFF00"/>
                </a:highlight>
                <a:latin typeface="ABeeZee"/>
                <a:ea typeface="ABeeZee"/>
                <a:cs typeface="ABeeZee"/>
                <a:sym typeface="ABeeZee"/>
              </a:rPr>
              <a:t>Resources</a:t>
            </a:r>
            <a:endParaRPr sz="1600" u="sng">
              <a:solidFill>
                <a:schemeClr val="dk1"/>
              </a:solidFill>
              <a:highlight>
                <a:srgbClr val="FFFF00"/>
              </a:highlight>
              <a:latin typeface="ABeeZee"/>
              <a:ea typeface="ABeeZee"/>
              <a:cs typeface="ABeeZee"/>
              <a:sym typeface="ABeeZee"/>
            </a:endParaRPr>
          </a:p>
          <a:p>
            <a:pPr indent="-330200" lvl="0" marL="457200" rtl="0" algn="l">
              <a:spcBef>
                <a:spcPts val="0"/>
              </a:spcBef>
              <a:spcAft>
                <a:spcPts val="0"/>
              </a:spcAft>
              <a:buClr>
                <a:schemeClr val="dk1"/>
              </a:buClr>
              <a:buSzPts val="1600"/>
              <a:buFont typeface="ABeeZee"/>
              <a:buChar char="●"/>
            </a:pPr>
            <a:r>
              <a:rPr lang="en-GB" sz="1600">
                <a:solidFill>
                  <a:schemeClr val="dk1"/>
                </a:solidFill>
                <a:latin typeface="ABeeZee"/>
                <a:ea typeface="ABeeZee"/>
                <a:cs typeface="ABeeZee"/>
                <a:sym typeface="ABeeZee"/>
              </a:rPr>
              <a:t>Use links in slides to gather information</a:t>
            </a:r>
            <a:endParaRPr sz="1600">
              <a:solidFill>
                <a:schemeClr val="dk1"/>
              </a:solidFill>
              <a:latin typeface="ABeeZee"/>
              <a:ea typeface="ABeeZee"/>
              <a:cs typeface="ABeeZee"/>
              <a:sym typeface="ABeeZee"/>
            </a:endParaRPr>
          </a:p>
          <a:p>
            <a:pPr indent="-330200" lvl="0" marL="457200" rtl="0" algn="l">
              <a:spcBef>
                <a:spcPts val="0"/>
              </a:spcBef>
              <a:spcAft>
                <a:spcPts val="0"/>
              </a:spcAft>
              <a:buClr>
                <a:schemeClr val="dk1"/>
              </a:buClr>
              <a:buSzPts val="1600"/>
              <a:buFont typeface="ABeeZee"/>
              <a:buChar char="●"/>
            </a:pPr>
            <a:r>
              <a:rPr lang="en-GB" sz="1600">
                <a:solidFill>
                  <a:schemeClr val="dk1"/>
                </a:solidFill>
                <a:latin typeface="ABeeZee"/>
                <a:ea typeface="ABeeZee"/>
                <a:cs typeface="ABeeZee"/>
                <a:sym typeface="ABeeZee"/>
              </a:rPr>
              <a:t>Any resources of </a:t>
            </a:r>
            <a:r>
              <a:rPr lang="en-GB" sz="1600">
                <a:solidFill>
                  <a:schemeClr val="dk1"/>
                </a:solidFill>
                <a:latin typeface="ABeeZee"/>
                <a:ea typeface="ABeeZee"/>
                <a:cs typeface="ABeeZee"/>
                <a:sym typeface="ABeeZee"/>
              </a:rPr>
              <a:t>information</a:t>
            </a:r>
            <a:r>
              <a:rPr lang="en-GB" sz="1600">
                <a:solidFill>
                  <a:schemeClr val="dk1"/>
                </a:solidFill>
                <a:latin typeface="ABeeZee"/>
                <a:ea typeface="ABeeZee"/>
                <a:cs typeface="ABeeZee"/>
                <a:sym typeface="ABeeZee"/>
              </a:rPr>
              <a:t>, link them into your assessment</a:t>
            </a:r>
            <a:endParaRPr b="1"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u="sng">
                <a:solidFill>
                  <a:schemeClr val="dk1"/>
                </a:solidFill>
                <a:highlight>
                  <a:srgbClr val="FFFF00"/>
                </a:highlight>
                <a:latin typeface="ABeeZee"/>
                <a:ea typeface="ABeeZee"/>
                <a:cs typeface="ABeeZee"/>
                <a:sym typeface="ABeeZee"/>
              </a:rPr>
              <a:t>F</a:t>
            </a:r>
            <a:r>
              <a:rPr lang="en-GB" sz="1600" u="sng">
                <a:solidFill>
                  <a:schemeClr val="dk1"/>
                </a:solidFill>
                <a:highlight>
                  <a:srgbClr val="FFFF00"/>
                </a:highlight>
                <a:latin typeface="ABeeZee"/>
                <a:ea typeface="ABeeZee"/>
                <a:cs typeface="ABeeZee"/>
                <a:sym typeface="ABeeZee"/>
              </a:rPr>
              <a:t>ollow the instructions for each task</a:t>
            </a:r>
            <a:endParaRPr sz="1600" u="sng">
              <a:solidFill>
                <a:schemeClr val="dk1"/>
              </a:solidFill>
              <a:highlight>
                <a:srgbClr val="FFFF00"/>
              </a:highlight>
              <a:latin typeface="ABeeZee"/>
              <a:ea typeface="ABeeZee"/>
              <a:cs typeface="ABeeZee"/>
              <a:sym typeface="ABeeZee"/>
            </a:endParaRPr>
          </a:p>
          <a:p>
            <a:pPr indent="-330200" lvl="0" marL="457200" rtl="0" algn="l">
              <a:spcBef>
                <a:spcPts val="0"/>
              </a:spcBef>
              <a:spcAft>
                <a:spcPts val="0"/>
              </a:spcAft>
              <a:buClr>
                <a:schemeClr val="dk1"/>
              </a:buClr>
              <a:buSzPts val="1600"/>
              <a:buFont typeface="ABeeZee"/>
              <a:buChar char="●"/>
            </a:pPr>
            <a:r>
              <a:rPr lang="en-GB" sz="1600">
                <a:solidFill>
                  <a:schemeClr val="dk1"/>
                </a:solidFill>
                <a:latin typeface="ABeeZee"/>
                <a:ea typeface="ABeeZee"/>
                <a:cs typeface="ABeeZee"/>
                <a:sym typeface="ABeeZee"/>
              </a:rPr>
              <a:t>Each task asks you to </a:t>
            </a:r>
            <a:r>
              <a:rPr b="1" lang="en-GB" sz="1600">
                <a:solidFill>
                  <a:schemeClr val="dk1"/>
                </a:solidFill>
                <a:latin typeface="ABeeZee"/>
                <a:ea typeface="ABeeZee"/>
                <a:cs typeface="ABeeZee"/>
                <a:sym typeface="ABeeZee"/>
              </a:rPr>
              <a:t>“cover the following”</a:t>
            </a:r>
            <a:r>
              <a:rPr lang="en-GB" sz="1600">
                <a:solidFill>
                  <a:schemeClr val="dk1"/>
                </a:solidFill>
                <a:latin typeface="ABeeZee"/>
                <a:ea typeface="ABeeZee"/>
                <a:cs typeface="ABeeZee"/>
                <a:sym typeface="ABeeZee"/>
              </a:rPr>
              <a:t> in your articles make sure you stick to these guidelines - dont go off on a different direction</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u="sng">
                <a:solidFill>
                  <a:schemeClr val="dk1"/>
                </a:solidFill>
                <a:highlight>
                  <a:srgbClr val="FFFF00"/>
                </a:highlight>
                <a:latin typeface="ABeeZee"/>
                <a:ea typeface="ABeeZee"/>
                <a:cs typeface="ABeeZee"/>
                <a:sym typeface="ABeeZee"/>
              </a:rPr>
              <a:t>Read the Marking Criteria</a:t>
            </a:r>
            <a:endParaRPr sz="1600" u="sng">
              <a:solidFill>
                <a:schemeClr val="dk1"/>
              </a:solidFill>
              <a:highlight>
                <a:srgbClr val="FFFF00"/>
              </a:highlight>
              <a:latin typeface="ABeeZee"/>
              <a:ea typeface="ABeeZee"/>
              <a:cs typeface="ABeeZee"/>
              <a:sym typeface="ABeeZee"/>
            </a:endParaRPr>
          </a:p>
          <a:p>
            <a:pPr indent="-330200" lvl="0" marL="457200" rtl="0" algn="l">
              <a:spcBef>
                <a:spcPts val="0"/>
              </a:spcBef>
              <a:spcAft>
                <a:spcPts val="0"/>
              </a:spcAft>
              <a:buClr>
                <a:schemeClr val="dk1"/>
              </a:buClr>
              <a:buSzPts val="1600"/>
              <a:buFont typeface="ABeeZee"/>
              <a:buChar char="●"/>
            </a:pPr>
            <a:r>
              <a:rPr lang="en-GB" sz="1600">
                <a:solidFill>
                  <a:schemeClr val="dk1"/>
                </a:solidFill>
                <a:latin typeface="ABeeZee"/>
                <a:ea typeface="ABeeZee"/>
                <a:cs typeface="ABeeZee"/>
                <a:sym typeface="ABeeZee"/>
              </a:rPr>
              <a:t>Regularly check the marking criteria at the end of the assessment document to make sure you are meeting the requirements for the grade you are aiming for</a:t>
            </a:r>
            <a:endParaRPr sz="1600">
              <a:solidFill>
                <a:schemeClr val="dk1"/>
              </a:solidFill>
              <a:latin typeface="ABeeZee"/>
              <a:ea typeface="ABeeZee"/>
              <a:cs typeface="ABeeZee"/>
              <a:sym typeface="ABeeZee"/>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pic>
        <p:nvPicPr>
          <p:cNvPr descr="AC Slides-01.jpeg" id="981" name="Google Shape;981;p109"/>
          <p:cNvPicPr preferRelativeResize="0"/>
          <p:nvPr/>
        </p:nvPicPr>
        <p:blipFill>
          <a:blip r:embed="rId3">
            <a:alphaModFix/>
          </a:blip>
          <a:stretch>
            <a:fillRect/>
          </a:stretch>
        </p:blipFill>
        <p:spPr>
          <a:xfrm>
            <a:off x="0" y="0"/>
            <a:ext cx="9144000" cy="5143500"/>
          </a:xfrm>
          <a:prstGeom prst="rect">
            <a:avLst/>
          </a:prstGeom>
          <a:noFill/>
          <a:ln>
            <a:noFill/>
          </a:ln>
        </p:spPr>
      </p:pic>
      <p:sp>
        <p:nvSpPr>
          <p:cNvPr id="982" name="Google Shape;982;p109"/>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109"/>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984" name="Google Shape;984;p109"/>
          <p:cNvSpPr txBox="1"/>
          <p:nvPr/>
        </p:nvSpPr>
        <p:spPr>
          <a:xfrm>
            <a:off x="2371875" y="357225"/>
            <a:ext cx="57801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300">
              <a:solidFill>
                <a:schemeClr val="dk1"/>
              </a:solidFill>
              <a:latin typeface="ABeeZee"/>
              <a:ea typeface="ABeeZee"/>
              <a:cs typeface="ABeeZee"/>
              <a:sym typeface="ABeeZee"/>
            </a:endParaRPr>
          </a:p>
        </p:txBody>
      </p:sp>
      <p:sp>
        <p:nvSpPr>
          <p:cNvPr id="985" name="Google Shape;985;p109"/>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109"/>
          <p:cNvSpPr txBox="1"/>
          <p:nvPr/>
        </p:nvSpPr>
        <p:spPr>
          <a:xfrm flipH="1" rot="-5400000">
            <a:off x="-7308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Do now</a:t>
            </a:r>
            <a:endParaRPr sz="4100">
              <a:solidFill>
                <a:srgbClr val="FFFFFF"/>
              </a:solidFill>
            </a:endParaRPr>
          </a:p>
        </p:txBody>
      </p:sp>
      <p:sp>
        <p:nvSpPr>
          <p:cNvPr id="987" name="Google Shape;987;p109"/>
          <p:cNvSpPr txBox="1"/>
          <p:nvPr/>
        </p:nvSpPr>
        <p:spPr>
          <a:xfrm>
            <a:off x="2484350" y="358875"/>
            <a:ext cx="6592800" cy="1169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ABeeZee"/>
              <a:buAutoNum type="arabicPeriod"/>
            </a:pPr>
            <a:r>
              <a:rPr lang="en-GB" sz="1600">
                <a:solidFill>
                  <a:schemeClr val="dk1"/>
                </a:solidFill>
                <a:latin typeface="ABeeZee"/>
                <a:ea typeface="ABeeZee"/>
                <a:cs typeface="ABeeZee"/>
                <a:sym typeface="ABeeZee"/>
              </a:rPr>
              <a:t>Click link and enter all the words/terms/ideas we have learnt today or covered in class in terms of Gender and Sexuality</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u="sng">
                <a:solidFill>
                  <a:schemeClr val="hlink"/>
                </a:solidFill>
                <a:latin typeface="ABeeZee"/>
                <a:ea typeface="ABeeZee"/>
                <a:cs typeface="ABeeZee"/>
                <a:sym typeface="ABeeZee"/>
                <a:hlinkClick r:id="rId4"/>
              </a:rPr>
              <a:t>https://www.menti.com/al6wrcd93mp2</a:t>
            </a:r>
            <a:r>
              <a:rPr lang="en-GB" sz="1600">
                <a:solidFill>
                  <a:schemeClr val="dk1"/>
                </a:solidFill>
                <a:latin typeface="ABeeZee"/>
                <a:ea typeface="ABeeZee"/>
                <a:cs typeface="ABeeZee"/>
                <a:sym typeface="ABeeZee"/>
              </a:rPr>
              <a:t> - code:  24943288</a:t>
            </a:r>
            <a:endParaRPr sz="1600">
              <a:solidFill>
                <a:schemeClr val="dk1"/>
              </a:solidFill>
              <a:latin typeface="ABeeZee"/>
              <a:ea typeface="ABeeZee"/>
              <a:cs typeface="ABeeZee"/>
              <a:sym typeface="ABeeZee"/>
            </a:endParaRPr>
          </a:p>
        </p:txBody>
      </p:sp>
      <p:pic>
        <p:nvPicPr>
          <p:cNvPr descr="This timer silently counts down to 0:00, then alerts you that time is up with a gentle beep sound." id="988" name="Google Shape;988;p109" title="15 Minute Timer">
            <a:hlinkClick r:id="rId5"/>
          </p:cNvPr>
          <p:cNvPicPr preferRelativeResize="0"/>
          <p:nvPr/>
        </p:nvPicPr>
        <p:blipFill>
          <a:blip r:embed="rId6">
            <a:alphaModFix/>
          </a:blip>
          <a:stretch>
            <a:fillRect/>
          </a:stretch>
        </p:blipFill>
        <p:spPr>
          <a:xfrm>
            <a:off x="6362100" y="3733800"/>
            <a:ext cx="2506125" cy="1409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8"/>
                                        </p:tgtEl>
                                        <p:attrNameLst>
                                          <p:attrName>style.visibility</p:attrName>
                                        </p:attrNameLst>
                                      </p:cBhvr>
                                      <p:to>
                                        <p:strVal val="visible"/>
                                      </p:to>
                                    </p:set>
                                    <p:animEffect filter="fade" transition="in">
                                      <p:cBhvr>
                                        <p:cTn dur="1000"/>
                                        <p:tgtEl>
                                          <p:spTgt spid="9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pic>
        <p:nvPicPr>
          <p:cNvPr descr="AC Slides-01.jpeg" id="993" name="Google Shape;993;p110"/>
          <p:cNvPicPr preferRelativeResize="0"/>
          <p:nvPr/>
        </p:nvPicPr>
        <p:blipFill>
          <a:blip r:embed="rId3">
            <a:alphaModFix/>
          </a:blip>
          <a:stretch>
            <a:fillRect/>
          </a:stretch>
        </p:blipFill>
        <p:spPr>
          <a:xfrm>
            <a:off x="0" y="0"/>
            <a:ext cx="9144000" cy="5143500"/>
          </a:xfrm>
          <a:prstGeom prst="rect">
            <a:avLst/>
          </a:prstGeom>
          <a:noFill/>
          <a:ln>
            <a:noFill/>
          </a:ln>
        </p:spPr>
      </p:pic>
      <p:sp>
        <p:nvSpPr>
          <p:cNvPr id="994" name="Google Shape;994;p110"/>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110"/>
          <p:cNvSpPr txBox="1"/>
          <p:nvPr/>
        </p:nvSpPr>
        <p:spPr>
          <a:xfrm>
            <a:off x="2371875" y="357225"/>
            <a:ext cx="57801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300">
              <a:solidFill>
                <a:schemeClr val="dk1"/>
              </a:solidFill>
              <a:latin typeface="ABeeZee"/>
              <a:ea typeface="ABeeZee"/>
              <a:cs typeface="ABeeZee"/>
              <a:sym typeface="ABeeZee"/>
            </a:endParaRPr>
          </a:p>
        </p:txBody>
      </p:sp>
      <p:sp>
        <p:nvSpPr>
          <p:cNvPr id="996" name="Google Shape;996;p110"/>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110"/>
          <p:cNvSpPr txBox="1"/>
          <p:nvPr/>
        </p:nvSpPr>
        <p:spPr>
          <a:xfrm flipH="1" rot="-5400000">
            <a:off x="-606175" y="1848300"/>
            <a:ext cx="3972600" cy="144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100">
                <a:solidFill>
                  <a:srgbClr val="FFFFFF"/>
                </a:solidFill>
                <a:latin typeface="Luckiest Guy"/>
                <a:ea typeface="Luckiest Guy"/>
                <a:cs typeface="Luckiest Guy"/>
                <a:sym typeface="Luckiest Guy"/>
              </a:rPr>
              <a:t>2.5 gender &amp; Sexuality</a:t>
            </a:r>
            <a:endParaRPr sz="4000">
              <a:solidFill>
                <a:srgbClr val="FFFFFF"/>
              </a:solidFill>
            </a:endParaRPr>
          </a:p>
        </p:txBody>
      </p:sp>
      <p:sp>
        <p:nvSpPr>
          <p:cNvPr id="998" name="Google Shape;998;p110"/>
          <p:cNvSpPr txBox="1"/>
          <p:nvPr/>
        </p:nvSpPr>
        <p:spPr>
          <a:xfrm>
            <a:off x="2484350" y="358875"/>
            <a:ext cx="6592800" cy="418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solidFill>
                  <a:schemeClr val="dk1"/>
                </a:solidFill>
                <a:latin typeface="ABeeZee"/>
                <a:ea typeface="ABeeZee"/>
                <a:cs typeface="ABeeZee"/>
                <a:sym typeface="ABeeZee"/>
              </a:rPr>
              <a:t>Assessment Writing</a:t>
            </a:r>
            <a:endParaRPr b="1" sz="1800">
              <a:solidFill>
                <a:schemeClr val="dk1"/>
              </a:solidFill>
              <a:latin typeface="ABeeZee"/>
              <a:ea typeface="ABeeZee"/>
              <a:cs typeface="ABeeZee"/>
              <a:sym typeface="ABeeZee"/>
            </a:endParaRPr>
          </a:p>
          <a:p>
            <a:pPr indent="0" lvl="0" marL="0" rtl="0" algn="l">
              <a:spcBef>
                <a:spcPts val="0"/>
              </a:spcBef>
              <a:spcAft>
                <a:spcPts val="0"/>
              </a:spcAft>
              <a:buNone/>
            </a:pPr>
            <a:r>
              <a:t/>
            </a:r>
            <a:endParaRPr sz="1800">
              <a:solidFill>
                <a:schemeClr val="dk1"/>
              </a:solidFill>
              <a:latin typeface="ABeeZee"/>
              <a:ea typeface="ABeeZee"/>
              <a:cs typeface="ABeeZee"/>
              <a:sym typeface="ABeeZee"/>
            </a:endParaRPr>
          </a:p>
          <a:p>
            <a:pPr indent="0" lvl="0" marL="0" rtl="0" algn="l">
              <a:spcBef>
                <a:spcPts val="0"/>
              </a:spcBef>
              <a:spcAft>
                <a:spcPts val="0"/>
              </a:spcAft>
              <a:buNone/>
            </a:pPr>
            <a:r>
              <a:rPr lang="en-GB" sz="1600" u="sng">
                <a:solidFill>
                  <a:schemeClr val="dk1"/>
                </a:solidFill>
                <a:highlight>
                  <a:srgbClr val="FFFF00"/>
                </a:highlight>
                <a:latin typeface="ABeeZee"/>
                <a:ea typeface="ABeeZee"/>
                <a:cs typeface="ABeeZee"/>
                <a:sym typeface="ABeeZee"/>
              </a:rPr>
              <a:t>Timeline - 5 weeks</a:t>
            </a:r>
            <a:endParaRPr sz="1600" u="sng">
              <a:solidFill>
                <a:schemeClr val="dk1"/>
              </a:solidFill>
              <a:highlight>
                <a:srgbClr val="FFFF00"/>
              </a:highlight>
              <a:latin typeface="ABeeZee"/>
              <a:ea typeface="ABeeZee"/>
              <a:cs typeface="ABeeZee"/>
              <a:sym typeface="ABeeZee"/>
            </a:endParaRPr>
          </a:p>
          <a:p>
            <a:pPr indent="-330200" lvl="0" marL="457200" rtl="0" algn="l">
              <a:spcBef>
                <a:spcPts val="0"/>
              </a:spcBef>
              <a:spcAft>
                <a:spcPts val="0"/>
              </a:spcAft>
              <a:buClr>
                <a:schemeClr val="dk1"/>
              </a:buClr>
              <a:buSzPts val="1600"/>
              <a:buFont typeface="ABeeZee"/>
              <a:buChar char="●"/>
            </a:pPr>
            <a:r>
              <a:rPr lang="en-GB" sz="1600">
                <a:solidFill>
                  <a:schemeClr val="dk1"/>
                </a:solidFill>
                <a:latin typeface="ABeeZee"/>
                <a:ea typeface="ABeeZee"/>
                <a:cs typeface="ABeeZee"/>
                <a:sym typeface="ABeeZee"/>
              </a:rPr>
              <a:t>Four articles, complete one article each week (Wk 4 to 8).  Use Wk 9 for editing, proofreading, checking.</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u="sng">
                <a:solidFill>
                  <a:schemeClr val="dk1"/>
                </a:solidFill>
                <a:highlight>
                  <a:srgbClr val="FFFF00"/>
                </a:highlight>
                <a:latin typeface="ABeeZee"/>
                <a:ea typeface="ABeeZee"/>
                <a:cs typeface="ABeeZee"/>
                <a:sym typeface="ABeeZee"/>
              </a:rPr>
              <a:t>Resources</a:t>
            </a:r>
            <a:endParaRPr sz="1600" u="sng">
              <a:solidFill>
                <a:schemeClr val="dk1"/>
              </a:solidFill>
              <a:highlight>
                <a:srgbClr val="FFFF00"/>
              </a:highlight>
              <a:latin typeface="ABeeZee"/>
              <a:ea typeface="ABeeZee"/>
              <a:cs typeface="ABeeZee"/>
              <a:sym typeface="ABeeZee"/>
            </a:endParaRPr>
          </a:p>
          <a:p>
            <a:pPr indent="-330200" lvl="0" marL="457200" rtl="0" algn="l">
              <a:spcBef>
                <a:spcPts val="0"/>
              </a:spcBef>
              <a:spcAft>
                <a:spcPts val="0"/>
              </a:spcAft>
              <a:buClr>
                <a:schemeClr val="dk1"/>
              </a:buClr>
              <a:buSzPts val="1600"/>
              <a:buFont typeface="ABeeZee"/>
              <a:buChar char="●"/>
            </a:pPr>
            <a:r>
              <a:rPr lang="en-GB" sz="1600">
                <a:solidFill>
                  <a:schemeClr val="dk1"/>
                </a:solidFill>
                <a:latin typeface="ABeeZee"/>
                <a:ea typeface="ABeeZee"/>
                <a:cs typeface="ABeeZee"/>
                <a:sym typeface="ABeeZee"/>
              </a:rPr>
              <a:t>Use links in slides to gather information</a:t>
            </a:r>
            <a:endParaRPr sz="1600">
              <a:solidFill>
                <a:schemeClr val="dk1"/>
              </a:solidFill>
              <a:latin typeface="ABeeZee"/>
              <a:ea typeface="ABeeZee"/>
              <a:cs typeface="ABeeZee"/>
              <a:sym typeface="ABeeZee"/>
            </a:endParaRPr>
          </a:p>
          <a:p>
            <a:pPr indent="-330200" lvl="0" marL="457200" rtl="0" algn="l">
              <a:spcBef>
                <a:spcPts val="0"/>
              </a:spcBef>
              <a:spcAft>
                <a:spcPts val="0"/>
              </a:spcAft>
              <a:buClr>
                <a:schemeClr val="dk1"/>
              </a:buClr>
              <a:buSzPts val="1600"/>
              <a:buFont typeface="ABeeZee"/>
              <a:buChar char="●"/>
            </a:pPr>
            <a:r>
              <a:rPr lang="en-GB" sz="1600">
                <a:solidFill>
                  <a:schemeClr val="dk1"/>
                </a:solidFill>
                <a:latin typeface="ABeeZee"/>
                <a:ea typeface="ABeeZee"/>
                <a:cs typeface="ABeeZee"/>
                <a:sym typeface="ABeeZee"/>
              </a:rPr>
              <a:t>Any resources of information, link them into your assessment</a:t>
            </a:r>
            <a:endParaRPr b="1"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u="sng">
                <a:solidFill>
                  <a:schemeClr val="dk1"/>
                </a:solidFill>
                <a:highlight>
                  <a:srgbClr val="FFFF00"/>
                </a:highlight>
                <a:latin typeface="ABeeZee"/>
                <a:ea typeface="ABeeZee"/>
                <a:cs typeface="ABeeZee"/>
                <a:sym typeface="ABeeZee"/>
              </a:rPr>
              <a:t>Follow the instructions for each task</a:t>
            </a:r>
            <a:endParaRPr sz="1600" u="sng">
              <a:solidFill>
                <a:schemeClr val="dk1"/>
              </a:solidFill>
              <a:highlight>
                <a:srgbClr val="FFFF00"/>
              </a:highlight>
              <a:latin typeface="ABeeZee"/>
              <a:ea typeface="ABeeZee"/>
              <a:cs typeface="ABeeZee"/>
              <a:sym typeface="ABeeZee"/>
            </a:endParaRPr>
          </a:p>
          <a:p>
            <a:pPr indent="-330200" lvl="0" marL="457200" rtl="0" algn="l">
              <a:spcBef>
                <a:spcPts val="0"/>
              </a:spcBef>
              <a:spcAft>
                <a:spcPts val="0"/>
              </a:spcAft>
              <a:buClr>
                <a:schemeClr val="dk1"/>
              </a:buClr>
              <a:buSzPts val="1600"/>
              <a:buFont typeface="ABeeZee"/>
              <a:buChar char="●"/>
            </a:pPr>
            <a:r>
              <a:rPr lang="en-GB" sz="1600">
                <a:solidFill>
                  <a:schemeClr val="dk1"/>
                </a:solidFill>
                <a:latin typeface="ABeeZee"/>
                <a:ea typeface="ABeeZee"/>
                <a:cs typeface="ABeeZee"/>
                <a:sym typeface="ABeeZee"/>
              </a:rPr>
              <a:t>Each task asks you to </a:t>
            </a:r>
            <a:r>
              <a:rPr b="1" lang="en-GB" sz="1600">
                <a:solidFill>
                  <a:schemeClr val="dk1"/>
                </a:solidFill>
                <a:latin typeface="ABeeZee"/>
                <a:ea typeface="ABeeZee"/>
                <a:cs typeface="ABeeZee"/>
                <a:sym typeface="ABeeZee"/>
              </a:rPr>
              <a:t>“cover the following”</a:t>
            </a:r>
            <a:r>
              <a:rPr lang="en-GB" sz="1600">
                <a:solidFill>
                  <a:schemeClr val="dk1"/>
                </a:solidFill>
                <a:latin typeface="ABeeZee"/>
                <a:ea typeface="ABeeZee"/>
                <a:cs typeface="ABeeZee"/>
                <a:sym typeface="ABeeZee"/>
              </a:rPr>
              <a:t> in your articles make sure you stick to these guidelines - dont go off on a different direction</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u="sng">
                <a:solidFill>
                  <a:schemeClr val="dk1"/>
                </a:solidFill>
                <a:highlight>
                  <a:srgbClr val="FFFF00"/>
                </a:highlight>
                <a:latin typeface="ABeeZee"/>
                <a:ea typeface="ABeeZee"/>
                <a:cs typeface="ABeeZee"/>
                <a:sym typeface="ABeeZee"/>
              </a:rPr>
              <a:t>Read the Marking Criteria</a:t>
            </a:r>
            <a:endParaRPr sz="1600" u="sng">
              <a:solidFill>
                <a:schemeClr val="dk1"/>
              </a:solidFill>
              <a:highlight>
                <a:srgbClr val="FFFF00"/>
              </a:highlight>
              <a:latin typeface="ABeeZee"/>
              <a:ea typeface="ABeeZee"/>
              <a:cs typeface="ABeeZee"/>
              <a:sym typeface="ABeeZee"/>
            </a:endParaRPr>
          </a:p>
          <a:p>
            <a:pPr indent="-330200" lvl="0" marL="457200" rtl="0" algn="l">
              <a:spcBef>
                <a:spcPts val="0"/>
              </a:spcBef>
              <a:spcAft>
                <a:spcPts val="0"/>
              </a:spcAft>
              <a:buClr>
                <a:schemeClr val="dk1"/>
              </a:buClr>
              <a:buSzPts val="1600"/>
              <a:buFont typeface="ABeeZee"/>
              <a:buChar char="●"/>
            </a:pPr>
            <a:r>
              <a:rPr lang="en-GB" sz="1600">
                <a:solidFill>
                  <a:schemeClr val="dk1"/>
                </a:solidFill>
                <a:latin typeface="ABeeZee"/>
                <a:ea typeface="ABeeZee"/>
                <a:cs typeface="ABeeZee"/>
                <a:sym typeface="ABeeZee"/>
              </a:rPr>
              <a:t>Regularly check the marking criteria at the end of the assessment document to make sure you are meeting the requirements for the grade you are aiming for</a:t>
            </a:r>
            <a:endParaRPr sz="1600">
              <a:solidFill>
                <a:schemeClr val="dk1"/>
              </a:solidFill>
              <a:latin typeface="ABeeZee"/>
              <a:ea typeface="ABeeZee"/>
              <a:cs typeface="ABeeZee"/>
              <a:sym typeface="ABeeZee"/>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pic>
        <p:nvPicPr>
          <p:cNvPr descr="AC Slides-01.jpeg" id="1003" name="Google Shape;1003;p111"/>
          <p:cNvPicPr preferRelativeResize="0"/>
          <p:nvPr/>
        </p:nvPicPr>
        <p:blipFill>
          <a:blip r:embed="rId3">
            <a:alphaModFix/>
          </a:blip>
          <a:stretch>
            <a:fillRect/>
          </a:stretch>
        </p:blipFill>
        <p:spPr>
          <a:xfrm>
            <a:off x="0" y="0"/>
            <a:ext cx="9144000" cy="5143500"/>
          </a:xfrm>
          <a:prstGeom prst="rect">
            <a:avLst/>
          </a:prstGeom>
          <a:noFill/>
          <a:ln>
            <a:noFill/>
          </a:ln>
        </p:spPr>
      </p:pic>
      <p:sp>
        <p:nvSpPr>
          <p:cNvPr id="1004" name="Google Shape;1004;p111"/>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11"/>
          <p:cNvSpPr txBox="1"/>
          <p:nvPr/>
        </p:nvSpPr>
        <p:spPr>
          <a:xfrm>
            <a:off x="2371875" y="357225"/>
            <a:ext cx="57801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300">
              <a:solidFill>
                <a:schemeClr val="dk1"/>
              </a:solidFill>
              <a:latin typeface="ABeeZee"/>
              <a:ea typeface="ABeeZee"/>
              <a:cs typeface="ABeeZee"/>
              <a:sym typeface="ABeeZee"/>
            </a:endParaRPr>
          </a:p>
        </p:txBody>
      </p:sp>
      <p:sp>
        <p:nvSpPr>
          <p:cNvPr id="1006" name="Google Shape;1006;p111"/>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111"/>
          <p:cNvSpPr txBox="1"/>
          <p:nvPr/>
        </p:nvSpPr>
        <p:spPr>
          <a:xfrm flipH="1" rot="-5400000">
            <a:off x="-606175" y="1848300"/>
            <a:ext cx="3972600" cy="144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100">
                <a:solidFill>
                  <a:srgbClr val="FFFFFF"/>
                </a:solidFill>
                <a:latin typeface="Luckiest Guy"/>
                <a:ea typeface="Luckiest Guy"/>
                <a:cs typeface="Luckiest Guy"/>
                <a:sym typeface="Luckiest Guy"/>
              </a:rPr>
              <a:t>2.5 gender &amp; Sexuality</a:t>
            </a:r>
            <a:endParaRPr sz="4000">
              <a:solidFill>
                <a:srgbClr val="FFFFFF"/>
              </a:solidFill>
            </a:endParaRPr>
          </a:p>
        </p:txBody>
      </p:sp>
      <p:sp>
        <p:nvSpPr>
          <p:cNvPr id="1008" name="Google Shape;1008;p111"/>
          <p:cNvSpPr txBox="1"/>
          <p:nvPr/>
        </p:nvSpPr>
        <p:spPr>
          <a:xfrm>
            <a:off x="2484350" y="358875"/>
            <a:ext cx="6592800" cy="369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solidFill>
                  <a:schemeClr val="dk1"/>
                </a:solidFill>
                <a:latin typeface="ABeeZee"/>
                <a:ea typeface="ABeeZee"/>
                <a:cs typeface="ABeeZee"/>
                <a:sym typeface="ABeeZee"/>
              </a:rPr>
              <a:t>TODAY</a:t>
            </a:r>
            <a:endParaRPr b="1" sz="1800">
              <a:solidFill>
                <a:schemeClr val="dk1"/>
              </a:solidFill>
              <a:latin typeface="ABeeZee"/>
              <a:ea typeface="ABeeZee"/>
              <a:cs typeface="ABeeZee"/>
              <a:sym typeface="ABeeZee"/>
            </a:endParaRPr>
          </a:p>
          <a:p>
            <a:pPr indent="0" lvl="0" marL="0" rtl="0" algn="l">
              <a:spcBef>
                <a:spcPts val="0"/>
              </a:spcBef>
              <a:spcAft>
                <a:spcPts val="0"/>
              </a:spcAft>
              <a:buNone/>
            </a:pPr>
            <a:r>
              <a:t/>
            </a:r>
            <a:endParaRPr sz="18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	</a:t>
            </a:r>
            <a:r>
              <a:rPr lang="en-GB" sz="1600">
                <a:solidFill>
                  <a:schemeClr val="dk1"/>
                </a:solidFill>
                <a:latin typeface="ABeeZee"/>
                <a:ea typeface="ABeeZee"/>
                <a:cs typeface="ABeeZee"/>
                <a:sym typeface="ABeeZee"/>
              </a:rPr>
              <a:t>Complete one of out four tasks for 2.5 assessment</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	Complete one on one with Mrs Tamihere</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	Start second task for 2.5 assessment</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b="1" lang="en-GB" sz="1600">
                <a:solidFill>
                  <a:schemeClr val="dk1"/>
                </a:solidFill>
                <a:latin typeface="ABeeZee"/>
                <a:ea typeface="ABeeZee"/>
                <a:cs typeface="ABeeZee"/>
                <a:sym typeface="ABeeZee"/>
              </a:rPr>
              <a:t>TOMORROW</a:t>
            </a:r>
            <a:endParaRPr b="1" sz="1600">
              <a:solidFill>
                <a:schemeClr val="dk1"/>
              </a:solidFill>
              <a:latin typeface="ABeeZee"/>
              <a:ea typeface="ABeeZee"/>
              <a:cs typeface="ABeeZee"/>
              <a:sym typeface="ABeeZee"/>
            </a:endParaRPr>
          </a:p>
          <a:p>
            <a:pPr indent="0" lvl="0" marL="0" rtl="0" algn="l">
              <a:spcBef>
                <a:spcPts val="0"/>
              </a:spcBef>
              <a:spcAft>
                <a:spcPts val="0"/>
              </a:spcAft>
              <a:buNone/>
            </a:pPr>
            <a:r>
              <a:t/>
            </a:r>
            <a:endParaRPr b="1"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Class tomorrow will be in AH.05 and be merged with Mr Murray’s GGP class</a:t>
            </a:r>
            <a:endParaRPr sz="1600">
              <a:solidFill>
                <a:schemeClr val="dk1"/>
              </a:solidFill>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rPr lang="en-GB" sz="1600">
                <a:solidFill>
                  <a:schemeClr val="dk1"/>
                </a:solidFill>
                <a:latin typeface="ABeeZee"/>
                <a:ea typeface="ABeeZee"/>
                <a:cs typeface="ABeeZee"/>
                <a:sym typeface="ABeeZee"/>
              </a:rPr>
              <a:t>Please complete ensure that you have a chromebook and are working on your assessment during this class</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u="sng">
              <a:solidFill>
                <a:schemeClr val="dk1"/>
              </a:solidFill>
              <a:highlight>
                <a:srgbClr val="FFFF00"/>
              </a:highlight>
              <a:latin typeface="ABeeZee"/>
              <a:ea typeface="ABeeZee"/>
              <a:cs typeface="ABeeZee"/>
              <a:sym typeface="ABeeZee"/>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pic>
        <p:nvPicPr>
          <p:cNvPr descr="AC Slides-01.jpeg" id="1013" name="Google Shape;1013;p112"/>
          <p:cNvPicPr preferRelativeResize="0"/>
          <p:nvPr/>
        </p:nvPicPr>
        <p:blipFill>
          <a:blip r:embed="rId3">
            <a:alphaModFix/>
          </a:blip>
          <a:stretch>
            <a:fillRect/>
          </a:stretch>
        </p:blipFill>
        <p:spPr>
          <a:xfrm>
            <a:off x="0" y="0"/>
            <a:ext cx="9144000" cy="5143500"/>
          </a:xfrm>
          <a:prstGeom prst="rect">
            <a:avLst/>
          </a:prstGeom>
          <a:noFill/>
          <a:ln>
            <a:noFill/>
          </a:ln>
        </p:spPr>
      </p:pic>
      <p:sp>
        <p:nvSpPr>
          <p:cNvPr id="1014" name="Google Shape;1014;p112"/>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12"/>
          <p:cNvSpPr txBox="1"/>
          <p:nvPr/>
        </p:nvSpPr>
        <p:spPr>
          <a:xfrm>
            <a:off x="2371875" y="357225"/>
            <a:ext cx="57801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300">
              <a:solidFill>
                <a:schemeClr val="dk1"/>
              </a:solidFill>
              <a:latin typeface="ABeeZee"/>
              <a:ea typeface="ABeeZee"/>
              <a:cs typeface="ABeeZee"/>
              <a:sym typeface="ABeeZee"/>
            </a:endParaRPr>
          </a:p>
        </p:txBody>
      </p:sp>
      <p:sp>
        <p:nvSpPr>
          <p:cNvPr id="1016" name="Google Shape;1016;p112"/>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12"/>
          <p:cNvSpPr txBox="1"/>
          <p:nvPr/>
        </p:nvSpPr>
        <p:spPr>
          <a:xfrm flipH="1" rot="-5400000">
            <a:off x="-606175" y="1848300"/>
            <a:ext cx="3972600" cy="144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100">
                <a:solidFill>
                  <a:srgbClr val="FFFFFF"/>
                </a:solidFill>
                <a:latin typeface="Luckiest Guy"/>
                <a:ea typeface="Luckiest Guy"/>
                <a:cs typeface="Luckiest Guy"/>
                <a:sym typeface="Luckiest Guy"/>
              </a:rPr>
              <a:t>2.5 gender &amp; Sexuality</a:t>
            </a:r>
            <a:endParaRPr sz="4000">
              <a:solidFill>
                <a:srgbClr val="FFFFFF"/>
              </a:solidFill>
            </a:endParaRPr>
          </a:p>
        </p:txBody>
      </p:sp>
      <p:sp>
        <p:nvSpPr>
          <p:cNvPr id="1018" name="Google Shape;1018;p112"/>
          <p:cNvSpPr txBox="1"/>
          <p:nvPr/>
        </p:nvSpPr>
        <p:spPr>
          <a:xfrm>
            <a:off x="2484350" y="358875"/>
            <a:ext cx="3088800" cy="394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solidFill>
                  <a:schemeClr val="dk1"/>
                </a:solidFill>
                <a:latin typeface="ABeeZee"/>
                <a:ea typeface="ABeeZee"/>
                <a:cs typeface="ABeeZee"/>
                <a:sym typeface="ABeeZee"/>
              </a:rPr>
              <a:t>Wk.6</a:t>
            </a:r>
            <a:endParaRPr b="1" sz="1800">
              <a:solidFill>
                <a:schemeClr val="dk1"/>
              </a:solidFill>
              <a:latin typeface="ABeeZee"/>
              <a:ea typeface="ABeeZee"/>
              <a:cs typeface="ABeeZee"/>
              <a:sym typeface="ABeeZee"/>
            </a:endParaRPr>
          </a:p>
          <a:p>
            <a:pPr indent="0" lvl="0" marL="0" rtl="0" algn="l">
              <a:spcBef>
                <a:spcPts val="0"/>
              </a:spcBef>
              <a:spcAft>
                <a:spcPts val="0"/>
              </a:spcAft>
              <a:buNone/>
            </a:pPr>
            <a:r>
              <a:t/>
            </a:r>
            <a:endParaRPr sz="18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	Complete two of out four tasks for 2.5 assessment</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	Get work checked by Mrs Tamihere once you have completed at least one task</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rPr lang="en-GB" sz="1600">
                <a:solidFill>
                  <a:schemeClr val="dk1"/>
                </a:solidFill>
                <a:latin typeface="ABeeZee"/>
                <a:ea typeface="ABeeZee"/>
                <a:cs typeface="ABeeZee"/>
                <a:sym typeface="ABeeZee"/>
              </a:rPr>
              <a:t>✅	Check tasks off of our Tracking sheet for this assessment</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u="sng">
              <a:solidFill>
                <a:schemeClr val="dk1"/>
              </a:solidFill>
              <a:highlight>
                <a:srgbClr val="FFFF00"/>
              </a:highlight>
              <a:latin typeface="ABeeZee"/>
              <a:ea typeface="ABeeZee"/>
              <a:cs typeface="ABeeZee"/>
              <a:sym typeface="ABeeZee"/>
            </a:endParaRPr>
          </a:p>
        </p:txBody>
      </p:sp>
      <p:pic>
        <p:nvPicPr>
          <p:cNvPr id="1019" name="Google Shape;1019;p112" title="L2 Health.jpg"/>
          <p:cNvPicPr preferRelativeResize="0"/>
          <p:nvPr/>
        </p:nvPicPr>
        <p:blipFill>
          <a:blip r:embed="rId4">
            <a:alphaModFix/>
          </a:blip>
          <a:stretch>
            <a:fillRect/>
          </a:stretch>
        </p:blipFill>
        <p:spPr>
          <a:xfrm>
            <a:off x="5496973" y="0"/>
            <a:ext cx="3636454" cy="514350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pic>
        <p:nvPicPr>
          <p:cNvPr descr="AC Slides-01.jpeg" id="1024" name="Google Shape;1024;p113"/>
          <p:cNvPicPr preferRelativeResize="0"/>
          <p:nvPr/>
        </p:nvPicPr>
        <p:blipFill>
          <a:blip r:embed="rId3">
            <a:alphaModFix/>
          </a:blip>
          <a:stretch>
            <a:fillRect/>
          </a:stretch>
        </p:blipFill>
        <p:spPr>
          <a:xfrm>
            <a:off x="0" y="0"/>
            <a:ext cx="9144000" cy="5143500"/>
          </a:xfrm>
          <a:prstGeom prst="rect">
            <a:avLst/>
          </a:prstGeom>
          <a:noFill/>
          <a:ln>
            <a:noFill/>
          </a:ln>
        </p:spPr>
      </p:pic>
      <p:sp>
        <p:nvSpPr>
          <p:cNvPr id="1025" name="Google Shape;1025;p113"/>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113"/>
          <p:cNvSpPr txBox="1"/>
          <p:nvPr/>
        </p:nvSpPr>
        <p:spPr>
          <a:xfrm>
            <a:off x="2371875" y="357225"/>
            <a:ext cx="57801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300">
              <a:solidFill>
                <a:schemeClr val="dk1"/>
              </a:solidFill>
              <a:latin typeface="ABeeZee"/>
              <a:ea typeface="ABeeZee"/>
              <a:cs typeface="ABeeZee"/>
              <a:sym typeface="ABeeZee"/>
            </a:endParaRPr>
          </a:p>
        </p:txBody>
      </p:sp>
      <p:sp>
        <p:nvSpPr>
          <p:cNvPr id="1027" name="Google Shape;1027;p113"/>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113"/>
          <p:cNvSpPr txBox="1"/>
          <p:nvPr/>
        </p:nvSpPr>
        <p:spPr>
          <a:xfrm flipH="1" rot="-5400000">
            <a:off x="-606175" y="1848300"/>
            <a:ext cx="3972600" cy="144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100">
                <a:solidFill>
                  <a:srgbClr val="FFFFFF"/>
                </a:solidFill>
                <a:latin typeface="Luckiest Guy"/>
                <a:ea typeface="Luckiest Guy"/>
                <a:cs typeface="Luckiest Guy"/>
                <a:sym typeface="Luckiest Guy"/>
              </a:rPr>
              <a:t>2.5 gender &amp; Sexuality</a:t>
            </a:r>
            <a:endParaRPr sz="4000">
              <a:solidFill>
                <a:srgbClr val="FFFFFF"/>
              </a:solidFill>
            </a:endParaRPr>
          </a:p>
        </p:txBody>
      </p:sp>
      <p:sp>
        <p:nvSpPr>
          <p:cNvPr id="1029" name="Google Shape;1029;p113"/>
          <p:cNvSpPr txBox="1"/>
          <p:nvPr/>
        </p:nvSpPr>
        <p:spPr>
          <a:xfrm>
            <a:off x="2484350" y="358875"/>
            <a:ext cx="3088800" cy="3771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solidFill>
                  <a:schemeClr val="dk1"/>
                </a:solidFill>
                <a:latin typeface="ABeeZee"/>
                <a:ea typeface="ABeeZee"/>
                <a:cs typeface="ABeeZee"/>
                <a:sym typeface="ABeeZee"/>
              </a:rPr>
              <a:t>Wk. 7 </a:t>
            </a:r>
            <a:endParaRPr b="1" sz="1800">
              <a:solidFill>
                <a:schemeClr val="dk1"/>
              </a:solidFill>
              <a:latin typeface="ABeeZee"/>
              <a:ea typeface="ABeeZee"/>
              <a:cs typeface="ABeeZee"/>
              <a:sym typeface="ABeeZee"/>
            </a:endParaRPr>
          </a:p>
          <a:p>
            <a:pPr indent="0" lvl="0" marL="0" rtl="0" algn="l">
              <a:spcBef>
                <a:spcPts val="0"/>
              </a:spcBef>
              <a:spcAft>
                <a:spcPts val="0"/>
              </a:spcAft>
              <a:buNone/>
            </a:pPr>
            <a:r>
              <a:t/>
            </a:r>
            <a:endParaRPr sz="18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	Complete three of out four tasks for 2.5 assessment</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	Get work checked by Mrs Tamihere once you have completed at least one task</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	Check tasks off of our Tracking sheet for this assessment</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ctr">
              <a:spcBef>
                <a:spcPts val="0"/>
              </a:spcBef>
              <a:spcAft>
                <a:spcPts val="0"/>
              </a:spcAft>
              <a:buNone/>
            </a:pPr>
            <a:r>
              <a:rPr lang="en-GB" sz="2100">
                <a:solidFill>
                  <a:schemeClr val="dk1"/>
                </a:solidFill>
                <a:highlight>
                  <a:schemeClr val="accent1"/>
                </a:highlight>
                <a:latin typeface="Luckiest Guy"/>
                <a:ea typeface="Luckiest Guy"/>
                <a:cs typeface="Luckiest Guy"/>
                <a:sym typeface="Luckiest Guy"/>
              </a:rPr>
              <a:t>Library Lesson 2</a:t>
            </a:r>
            <a:endParaRPr sz="1600" u="sng">
              <a:solidFill>
                <a:schemeClr val="dk1"/>
              </a:solidFill>
              <a:highlight>
                <a:srgbClr val="FFFF00"/>
              </a:highlight>
              <a:latin typeface="ABeeZee"/>
              <a:ea typeface="ABeeZee"/>
              <a:cs typeface="ABeeZee"/>
              <a:sym typeface="ABeeZee"/>
            </a:endParaRPr>
          </a:p>
        </p:txBody>
      </p:sp>
      <p:pic>
        <p:nvPicPr>
          <p:cNvPr id="1030" name="Google Shape;1030;p113" title="L2 Health.jpg"/>
          <p:cNvPicPr preferRelativeResize="0"/>
          <p:nvPr/>
        </p:nvPicPr>
        <p:blipFill>
          <a:blip r:embed="rId4">
            <a:alphaModFix/>
          </a:blip>
          <a:stretch>
            <a:fillRect/>
          </a:stretch>
        </p:blipFill>
        <p:spPr>
          <a:xfrm>
            <a:off x="5496973" y="0"/>
            <a:ext cx="3636454" cy="514350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pic>
        <p:nvPicPr>
          <p:cNvPr descr="AC Slides-01.jpeg" id="1035" name="Google Shape;1035;p114"/>
          <p:cNvPicPr preferRelativeResize="0"/>
          <p:nvPr/>
        </p:nvPicPr>
        <p:blipFill>
          <a:blip r:embed="rId3">
            <a:alphaModFix/>
          </a:blip>
          <a:stretch>
            <a:fillRect/>
          </a:stretch>
        </p:blipFill>
        <p:spPr>
          <a:xfrm>
            <a:off x="0" y="0"/>
            <a:ext cx="9144000" cy="5143500"/>
          </a:xfrm>
          <a:prstGeom prst="rect">
            <a:avLst/>
          </a:prstGeom>
          <a:noFill/>
          <a:ln>
            <a:noFill/>
          </a:ln>
        </p:spPr>
      </p:pic>
      <p:sp>
        <p:nvSpPr>
          <p:cNvPr id="1036" name="Google Shape;1036;p114"/>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114"/>
          <p:cNvSpPr txBox="1"/>
          <p:nvPr/>
        </p:nvSpPr>
        <p:spPr>
          <a:xfrm>
            <a:off x="2371875" y="357225"/>
            <a:ext cx="57801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300">
              <a:solidFill>
                <a:schemeClr val="dk1"/>
              </a:solidFill>
              <a:latin typeface="ABeeZee"/>
              <a:ea typeface="ABeeZee"/>
              <a:cs typeface="ABeeZee"/>
              <a:sym typeface="ABeeZee"/>
            </a:endParaRPr>
          </a:p>
        </p:txBody>
      </p:sp>
      <p:sp>
        <p:nvSpPr>
          <p:cNvPr id="1038" name="Google Shape;1038;p114"/>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14"/>
          <p:cNvSpPr txBox="1"/>
          <p:nvPr/>
        </p:nvSpPr>
        <p:spPr>
          <a:xfrm flipH="1" rot="-5400000">
            <a:off x="-606175" y="1848300"/>
            <a:ext cx="3972600" cy="144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100">
                <a:solidFill>
                  <a:srgbClr val="FFFFFF"/>
                </a:solidFill>
                <a:latin typeface="Luckiest Guy"/>
                <a:ea typeface="Luckiest Guy"/>
                <a:cs typeface="Luckiest Guy"/>
                <a:sym typeface="Luckiest Guy"/>
              </a:rPr>
              <a:t>2.5 gender &amp; Sexuality</a:t>
            </a:r>
            <a:endParaRPr sz="4000">
              <a:solidFill>
                <a:srgbClr val="FFFFFF"/>
              </a:solidFill>
            </a:endParaRPr>
          </a:p>
        </p:txBody>
      </p:sp>
      <p:sp>
        <p:nvSpPr>
          <p:cNvPr id="1040" name="Google Shape;1040;p114"/>
          <p:cNvSpPr txBox="1"/>
          <p:nvPr/>
        </p:nvSpPr>
        <p:spPr>
          <a:xfrm>
            <a:off x="2484350" y="358875"/>
            <a:ext cx="3088800" cy="369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solidFill>
                  <a:schemeClr val="dk1"/>
                </a:solidFill>
                <a:latin typeface="ABeeZee"/>
                <a:ea typeface="ABeeZee"/>
                <a:cs typeface="ABeeZee"/>
                <a:sym typeface="ABeeZee"/>
              </a:rPr>
              <a:t>Wk. 8</a:t>
            </a:r>
            <a:endParaRPr b="1" sz="1800">
              <a:solidFill>
                <a:schemeClr val="dk1"/>
              </a:solidFill>
              <a:latin typeface="ABeeZee"/>
              <a:ea typeface="ABeeZee"/>
              <a:cs typeface="ABeeZee"/>
              <a:sym typeface="ABeeZee"/>
            </a:endParaRPr>
          </a:p>
          <a:p>
            <a:pPr indent="0" lvl="0" marL="0" rtl="0" algn="l">
              <a:spcBef>
                <a:spcPts val="0"/>
              </a:spcBef>
              <a:spcAft>
                <a:spcPts val="0"/>
              </a:spcAft>
              <a:buNone/>
            </a:pPr>
            <a:r>
              <a:t/>
            </a:r>
            <a:endParaRPr sz="18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	Complete 3-4 tasks for 2.5 assessment</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	Get work checked by Mrs Tamihere once you have completed at least one task</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l">
              <a:spcBef>
                <a:spcPts val="0"/>
              </a:spcBef>
              <a:spcAft>
                <a:spcPts val="0"/>
              </a:spcAft>
              <a:buNone/>
            </a:pPr>
            <a:r>
              <a:rPr lang="en-GB" sz="1600">
                <a:solidFill>
                  <a:schemeClr val="dk1"/>
                </a:solidFill>
                <a:latin typeface="ABeeZee"/>
                <a:ea typeface="ABeeZee"/>
                <a:cs typeface="ABeeZee"/>
                <a:sym typeface="ABeeZee"/>
              </a:rPr>
              <a:t>✅	Check tasks off of our Tracking sheet for this assessment</a:t>
            </a:r>
            <a:endParaRPr sz="1600">
              <a:solidFill>
                <a:schemeClr val="dk1"/>
              </a:solidFill>
              <a:latin typeface="ABeeZee"/>
              <a:ea typeface="ABeeZee"/>
              <a:cs typeface="ABeeZee"/>
              <a:sym typeface="ABeeZee"/>
            </a:endParaRPr>
          </a:p>
          <a:p>
            <a:pPr indent="0" lvl="0" marL="0" rtl="0" algn="l">
              <a:spcBef>
                <a:spcPts val="0"/>
              </a:spcBef>
              <a:spcAft>
                <a:spcPts val="0"/>
              </a:spcAft>
              <a:buNone/>
            </a:pPr>
            <a:r>
              <a:t/>
            </a:r>
            <a:endParaRPr sz="1600">
              <a:solidFill>
                <a:schemeClr val="dk1"/>
              </a:solidFill>
              <a:latin typeface="ABeeZee"/>
              <a:ea typeface="ABeeZee"/>
              <a:cs typeface="ABeeZee"/>
              <a:sym typeface="ABeeZee"/>
            </a:endParaRPr>
          </a:p>
          <a:p>
            <a:pPr indent="0" lvl="0" marL="0" rtl="0" algn="ctr">
              <a:spcBef>
                <a:spcPts val="0"/>
              </a:spcBef>
              <a:spcAft>
                <a:spcPts val="0"/>
              </a:spcAft>
              <a:buNone/>
            </a:pPr>
            <a:r>
              <a:t/>
            </a:r>
            <a:endParaRPr sz="1600" u="sng">
              <a:solidFill>
                <a:schemeClr val="dk1"/>
              </a:solidFill>
              <a:highlight>
                <a:srgbClr val="FFFF00"/>
              </a:highlight>
              <a:latin typeface="ABeeZee"/>
              <a:ea typeface="ABeeZee"/>
              <a:cs typeface="ABeeZee"/>
              <a:sym typeface="ABeeZee"/>
            </a:endParaRPr>
          </a:p>
        </p:txBody>
      </p:sp>
      <p:pic>
        <p:nvPicPr>
          <p:cNvPr id="1041" name="Google Shape;1041;p114" title="L2 Health.jpg"/>
          <p:cNvPicPr preferRelativeResize="0"/>
          <p:nvPr/>
        </p:nvPicPr>
        <p:blipFill>
          <a:blip r:embed="rId4">
            <a:alphaModFix/>
          </a:blip>
          <a:stretch>
            <a:fillRect/>
          </a:stretch>
        </p:blipFill>
        <p:spPr>
          <a:xfrm>
            <a:off x="5496973" y="0"/>
            <a:ext cx="3636454" cy="514350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pic>
        <p:nvPicPr>
          <p:cNvPr descr="AC Slides-01.jpeg" id="1046" name="Google Shape;1046;p115"/>
          <p:cNvPicPr preferRelativeResize="0"/>
          <p:nvPr/>
        </p:nvPicPr>
        <p:blipFill>
          <a:blip r:embed="rId3">
            <a:alphaModFix/>
          </a:blip>
          <a:stretch>
            <a:fillRect/>
          </a:stretch>
        </p:blipFill>
        <p:spPr>
          <a:xfrm>
            <a:off x="0" y="0"/>
            <a:ext cx="9144000" cy="5143500"/>
          </a:xfrm>
          <a:prstGeom prst="rect">
            <a:avLst/>
          </a:prstGeom>
          <a:noFill/>
          <a:ln>
            <a:noFill/>
          </a:ln>
        </p:spPr>
      </p:pic>
      <p:sp>
        <p:nvSpPr>
          <p:cNvPr id="1047" name="Google Shape;1047;p115"/>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115"/>
          <p:cNvSpPr txBox="1"/>
          <p:nvPr/>
        </p:nvSpPr>
        <p:spPr>
          <a:xfrm>
            <a:off x="2371875" y="357225"/>
            <a:ext cx="57801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300">
              <a:solidFill>
                <a:schemeClr val="dk1"/>
              </a:solidFill>
              <a:latin typeface="ABeeZee"/>
              <a:ea typeface="ABeeZee"/>
              <a:cs typeface="ABeeZee"/>
              <a:sym typeface="ABeeZee"/>
            </a:endParaRPr>
          </a:p>
        </p:txBody>
      </p:sp>
      <p:sp>
        <p:nvSpPr>
          <p:cNvPr id="1049" name="Google Shape;1049;p115"/>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115"/>
          <p:cNvSpPr txBox="1"/>
          <p:nvPr/>
        </p:nvSpPr>
        <p:spPr>
          <a:xfrm flipH="1" rot="-5400000">
            <a:off x="-606175" y="1848300"/>
            <a:ext cx="3972600" cy="144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100">
                <a:solidFill>
                  <a:srgbClr val="FFFFFF"/>
                </a:solidFill>
                <a:latin typeface="Luckiest Guy"/>
                <a:ea typeface="Luckiest Guy"/>
                <a:cs typeface="Luckiest Guy"/>
                <a:sym typeface="Luckiest Guy"/>
              </a:rPr>
              <a:t>2.5 gender &amp; Sexuality</a:t>
            </a:r>
            <a:endParaRPr sz="4000">
              <a:solidFill>
                <a:srgbClr val="FFFFFF"/>
              </a:solidFill>
            </a:endParaRPr>
          </a:p>
        </p:txBody>
      </p:sp>
      <p:sp>
        <p:nvSpPr>
          <p:cNvPr id="1051" name="Google Shape;1051;p115"/>
          <p:cNvSpPr txBox="1"/>
          <p:nvPr/>
        </p:nvSpPr>
        <p:spPr>
          <a:xfrm>
            <a:off x="2484350" y="358875"/>
            <a:ext cx="5544000" cy="449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3100">
                <a:solidFill>
                  <a:schemeClr val="dk1"/>
                </a:solidFill>
                <a:latin typeface="Luckiest Guy"/>
                <a:ea typeface="Luckiest Guy"/>
                <a:cs typeface="Luckiest Guy"/>
                <a:sym typeface="Luckiest Guy"/>
              </a:rPr>
              <a:t>Timeline to Due Date - Friday 27 June midnight</a:t>
            </a:r>
            <a:endParaRPr sz="3100">
              <a:solidFill>
                <a:schemeClr val="dk1"/>
              </a:solidFill>
              <a:latin typeface="Luckiest Guy"/>
              <a:ea typeface="Luckiest Guy"/>
              <a:cs typeface="Luckiest Guy"/>
              <a:sym typeface="Luckiest Guy"/>
            </a:endParaRPr>
          </a:p>
          <a:p>
            <a:pPr indent="0" lvl="0" marL="0" rtl="0" algn="l">
              <a:spcBef>
                <a:spcPts val="0"/>
              </a:spcBef>
              <a:spcAft>
                <a:spcPts val="0"/>
              </a:spcAft>
              <a:buNone/>
            </a:pPr>
            <a:r>
              <a:t/>
            </a:r>
            <a:endParaRPr>
              <a:solidFill>
                <a:schemeClr val="dk1"/>
              </a:solidFill>
              <a:latin typeface="ABeeZee"/>
              <a:ea typeface="ABeeZee"/>
              <a:cs typeface="ABeeZee"/>
              <a:sym typeface="ABeeZee"/>
            </a:endParaRPr>
          </a:p>
          <a:p>
            <a:pPr indent="0" lvl="0" marL="0" rtl="0" algn="l">
              <a:spcBef>
                <a:spcPts val="0"/>
              </a:spcBef>
              <a:spcAft>
                <a:spcPts val="0"/>
              </a:spcAft>
              <a:buNone/>
            </a:pPr>
            <a:r>
              <a:rPr lang="en-GB" sz="1700">
                <a:solidFill>
                  <a:schemeClr val="dk1"/>
                </a:solidFill>
                <a:highlight>
                  <a:schemeClr val="accent4"/>
                </a:highlight>
                <a:latin typeface="ABeeZee"/>
                <a:ea typeface="ABeeZee"/>
                <a:cs typeface="ABeeZee"/>
                <a:sym typeface="ABeeZee"/>
              </a:rPr>
              <a:t>Week 8</a:t>
            </a:r>
            <a:endParaRPr sz="1700">
              <a:solidFill>
                <a:schemeClr val="dk1"/>
              </a:solidFill>
              <a:highlight>
                <a:schemeClr val="accent4"/>
              </a:highlight>
              <a:latin typeface="ABeeZee"/>
              <a:ea typeface="ABeeZee"/>
              <a:cs typeface="ABeeZee"/>
              <a:sym typeface="ABeeZee"/>
            </a:endParaRPr>
          </a:p>
          <a:p>
            <a:pPr indent="0" lvl="0" marL="0" rtl="0" algn="l">
              <a:spcBef>
                <a:spcPts val="0"/>
              </a:spcBef>
              <a:spcAft>
                <a:spcPts val="0"/>
              </a:spcAft>
              <a:buNone/>
            </a:pPr>
            <a:r>
              <a:rPr lang="en-GB" sz="1700">
                <a:solidFill>
                  <a:schemeClr val="dk1"/>
                </a:solidFill>
                <a:latin typeface="ABeeZee"/>
                <a:ea typeface="ABeeZee"/>
                <a:cs typeface="ABeeZee"/>
                <a:sym typeface="ABeeZee"/>
              </a:rPr>
              <a:t>Mon - Lesson 1 &amp; 2 - assessment writing</a:t>
            </a:r>
            <a:endParaRPr sz="1700">
              <a:solidFill>
                <a:schemeClr val="dk1"/>
              </a:solidFill>
              <a:latin typeface="ABeeZee"/>
              <a:ea typeface="ABeeZee"/>
              <a:cs typeface="ABeeZee"/>
              <a:sym typeface="ABeeZee"/>
            </a:endParaRPr>
          </a:p>
          <a:p>
            <a:pPr indent="0" lvl="0" marL="0" rtl="0" algn="l">
              <a:spcBef>
                <a:spcPts val="0"/>
              </a:spcBef>
              <a:spcAft>
                <a:spcPts val="0"/>
              </a:spcAft>
              <a:buNone/>
            </a:pPr>
            <a:r>
              <a:rPr lang="en-GB" sz="1700">
                <a:solidFill>
                  <a:schemeClr val="dk1"/>
                </a:solidFill>
                <a:latin typeface="ABeeZee"/>
                <a:ea typeface="ABeeZee"/>
                <a:cs typeface="ABeeZee"/>
                <a:sym typeface="ABeeZee"/>
              </a:rPr>
              <a:t>Tues - Lesson 3 - assessment writing in </a:t>
            </a:r>
            <a:r>
              <a:rPr b="1" lang="en-GB" sz="1700">
                <a:solidFill>
                  <a:schemeClr val="dk1"/>
                </a:solidFill>
                <a:latin typeface="ABeeZee"/>
                <a:ea typeface="ABeeZee"/>
                <a:cs typeface="ABeeZee"/>
                <a:sym typeface="ABeeZee"/>
              </a:rPr>
              <a:t>LIBRARY</a:t>
            </a:r>
            <a:endParaRPr b="1" sz="1700">
              <a:solidFill>
                <a:schemeClr val="dk1"/>
              </a:solidFill>
              <a:latin typeface="ABeeZee"/>
              <a:ea typeface="ABeeZee"/>
              <a:cs typeface="ABeeZee"/>
              <a:sym typeface="ABeeZee"/>
            </a:endParaRPr>
          </a:p>
          <a:p>
            <a:pPr indent="0" lvl="0" marL="0" rtl="0" algn="l">
              <a:spcBef>
                <a:spcPts val="0"/>
              </a:spcBef>
              <a:spcAft>
                <a:spcPts val="0"/>
              </a:spcAft>
              <a:buNone/>
            </a:pPr>
            <a:r>
              <a:rPr lang="en-GB" sz="1700">
                <a:solidFill>
                  <a:schemeClr val="dk1"/>
                </a:solidFill>
                <a:latin typeface="ABeeZee"/>
                <a:ea typeface="ABeeZee"/>
                <a:cs typeface="ABeeZee"/>
                <a:sym typeface="ABeeZee"/>
              </a:rPr>
              <a:t>Thurs - Staff Only Day</a:t>
            </a:r>
            <a:endParaRPr sz="1700">
              <a:solidFill>
                <a:schemeClr val="dk1"/>
              </a:solidFill>
              <a:latin typeface="ABeeZee"/>
              <a:ea typeface="ABeeZee"/>
              <a:cs typeface="ABeeZee"/>
              <a:sym typeface="ABeeZee"/>
            </a:endParaRPr>
          </a:p>
          <a:p>
            <a:pPr indent="0" lvl="0" marL="0" rtl="0" algn="l">
              <a:spcBef>
                <a:spcPts val="0"/>
              </a:spcBef>
              <a:spcAft>
                <a:spcPts val="0"/>
              </a:spcAft>
              <a:buNone/>
            </a:pPr>
            <a:r>
              <a:rPr lang="en-GB" sz="1700">
                <a:solidFill>
                  <a:schemeClr val="dk1"/>
                </a:solidFill>
                <a:latin typeface="ABeeZee"/>
                <a:ea typeface="ABeeZee"/>
                <a:cs typeface="ABeeZee"/>
                <a:sym typeface="ABeeZee"/>
              </a:rPr>
              <a:t>Friday - Matariki</a:t>
            </a:r>
            <a:endParaRPr sz="1700">
              <a:solidFill>
                <a:schemeClr val="dk1"/>
              </a:solidFill>
              <a:latin typeface="ABeeZee"/>
              <a:ea typeface="ABeeZee"/>
              <a:cs typeface="ABeeZee"/>
              <a:sym typeface="ABeeZee"/>
            </a:endParaRPr>
          </a:p>
          <a:p>
            <a:pPr indent="0" lvl="0" marL="0" rtl="0" algn="l">
              <a:spcBef>
                <a:spcPts val="0"/>
              </a:spcBef>
              <a:spcAft>
                <a:spcPts val="0"/>
              </a:spcAft>
              <a:buNone/>
            </a:pPr>
            <a:r>
              <a:t/>
            </a:r>
            <a:endParaRPr sz="1700" u="sng">
              <a:solidFill>
                <a:schemeClr val="dk1"/>
              </a:solidFill>
              <a:highlight>
                <a:srgbClr val="FFFF00"/>
              </a:highlight>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rPr lang="en-GB" sz="1700">
                <a:solidFill>
                  <a:schemeClr val="dk1"/>
                </a:solidFill>
                <a:highlight>
                  <a:schemeClr val="accent4"/>
                </a:highlight>
                <a:latin typeface="ABeeZee"/>
                <a:ea typeface="ABeeZee"/>
                <a:cs typeface="ABeeZee"/>
                <a:sym typeface="ABeeZee"/>
              </a:rPr>
              <a:t>Week 9</a:t>
            </a:r>
            <a:endParaRPr sz="1700">
              <a:solidFill>
                <a:schemeClr val="dk1"/>
              </a:solidFill>
              <a:highlight>
                <a:schemeClr val="accent4"/>
              </a:highlight>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rPr lang="en-GB" sz="1700">
                <a:solidFill>
                  <a:schemeClr val="dk1"/>
                </a:solidFill>
                <a:latin typeface="ABeeZee"/>
                <a:ea typeface="ABeeZee"/>
                <a:cs typeface="ABeeZee"/>
                <a:sym typeface="ABeeZee"/>
              </a:rPr>
              <a:t>Mon - Lesson 1 &amp; 2 - assessment writing</a:t>
            </a:r>
            <a:endParaRPr sz="1700">
              <a:solidFill>
                <a:schemeClr val="dk1"/>
              </a:solidFill>
              <a:latin typeface="ABeeZee"/>
              <a:ea typeface="ABeeZee"/>
              <a:cs typeface="ABeeZee"/>
              <a:sym typeface="ABeeZee"/>
            </a:endParaRPr>
          </a:p>
          <a:p>
            <a:pPr indent="0" lvl="0" marL="0" rtl="0" algn="l">
              <a:spcBef>
                <a:spcPts val="0"/>
              </a:spcBef>
              <a:spcAft>
                <a:spcPts val="0"/>
              </a:spcAft>
              <a:buNone/>
            </a:pPr>
            <a:r>
              <a:rPr lang="en-GB" sz="1700">
                <a:solidFill>
                  <a:schemeClr val="dk1"/>
                </a:solidFill>
                <a:latin typeface="ABeeZee"/>
                <a:ea typeface="ABeeZee"/>
                <a:cs typeface="ABeeZee"/>
                <a:sym typeface="ABeeZee"/>
              </a:rPr>
              <a:t>Tues - Lesson 3 - assessment writing</a:t>
            </a:r>
            <a:endParaRPr sz="1700">
              <a:solidFill>
                <a:schemeClr val="dk1"/>
              </a:solidFill>
              <a:latin typeface="ABeeZee"/>
              <a:ea typeface="ABeeZee"/>
              <a:cs typeface="ABeeZee"/>
              <a:sym typeface="ABeeZee"/>
            </a:endParaRPr>
          </a:p>
          <a:p>
            <a:pPr indent="0" lvl="0" marL="0" rtl="0" algn="l">
              <a:spcBef>
                <a:spcPts val="0"/>
              </a:spcBef>
              <a:spcAft>
                <a:spcPts val="0"/>
              </a:spcAft>
              <a:buNone/>
            </a:pPr>
            <a:r>
              <a:t/>
            </a:r>
            <a:endParaRPr sz="1700">
              <a:solidFill>
                <a:schemeClr val="dk1"/>
              </a:solidFill>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rPr lang="en-GB" sz="1700">
                <a:solidFill>
                  <a:schemeClr val="dk1"/>
                </a:solidFill>
                <a:latin typeface="ABeeZee"/>
                <a:ea typeface="ABeeZee"/>
                <a:cs typeface="ABeeZee"/>
                <a:sym typeface="ABeeZee"/>
              </a:rPr>
              <a:t>If you have course on a Tuesday this will reduce your assessment writing time during school</a:t>
            </a:r>
            <a:endParaRPr sz="1700">
              <a:solidFill>
                <a:schemeClr val="dk1"/>
              </a:solidFill>
              <a:latin typeface="ABeeZee"/>
              <a:ea typeface="ABeeZee"/>
              <a:cs typeface="ABeeZee"/>
              <a:sym typeface="ABeeZee"/>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